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a smart campus facility reservation system with AI-assisted recommendations. In the next fifteen minutes: the problem, the literature, the concept design, what is already implemented, and the Phase 2 plan.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Most of the time goes on the research gap and the design, because that is where the engineering contribution sits. [25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here, because the obvious objection is that this is already solved. It is not. Booking is online; managing the space is not. Walk the four rows, then land the last line. Say the Sunway detail out loud rather than reading it: their booking page sets a minimum group size of three for a pod that seats ten, and to prove you turned up for a booking made online at midnight, a member of staff has to see your face at a counter within fifteen minutes. That is not a criticism of Sunway. It is what happens when the booking is digital and the managing is not. [70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aim, five objectives. Each one names a mechanism, not a feature, because a booking website with settings is something you can already buy. One and two are the guarantees, three and four are the intelligence, five proves it works.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then the goals. The one to stress is fairness: it is not decoration, it is why the rule engine has to treat everyone the same and why the activity log can only be added to, never edited. On the goals, do not read all eight — pick goal 7 and give the energy example. [55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this table. Say: eleven papers in three groups, and the right-hand column is the contribution each made to the design. Then land two. Antony, because the authors themselves list AI availability prediction as work not done, which is evidence from inside the literature that the gap is real. And Roy and Dutta, because that paper decides the main technical choice. [55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columns, one point each. Left: every reviewed system digitised the paperwork and stopped. Middle: Roy and Dutta justifies the main technical decision, since there is no booking history to train on. Right: the principal risk is a confident wrong answer, which is why the assistant only phrases rows the database returned. Then the closing line. [65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hinge of the talk. Three gaps, three answers. Slow down: everything after this delivers against them.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browser dashboards, one application, one database. Two decisions worth defending: PostgreSQL rather than MySQL, because the guarantee on the next slide needs a feature MySQL does not have; and the model behind a wrapper, because a model this project depended on was retired midway through the phase. [55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order is deliberate: the database and the no-overlap rule come first, because everything else rests on them. On testing, note the middle row: the guarantee is tested by issuing real simultaneous requests, not by reading the code. [55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design slide, make it this one. Policy is data, not code. Change a rule on the category and every facility under it follows; override one facility and only that one changes. This is what makes it portable between institutions, and it is the commercial argument as well. [70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guarantees sit in the database rather than in application code. The first means there is no race to lose; most reviewed systems check in application code, which can lose it. The second means a manager cannot read another manager's facilities even by bypassing the interface. [65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roles, one codebase, one database. Do not walk through each screen. Point at the third and make one claim: the administrator sets rules on a category and every facility under it follows. Offer the live demonstration here if the panel looks interested.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evidence in the deck, so slow down. Left: three o'clock was requested and unavailable, and instead of a refusal the system returned ranked alternatives with reasons. Read the two scores and land the point that one o'clock ranks lower because it sits in a peak period. Right: say the sentence out loud — the model never reaches the database; it phrases rows the server retrieved under that student's own authorisation. [55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areas. The one worth dwelling on is the second: the engineering code states that no opinion may be expressed unfounded on fact. Applied to software, the assistant is not permitted to guess; it composes answers only from rows it retrieved. A professional obligation expressed as an architecture. [55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runs from the title proposal to today; Phase 2 runs to the viva. Supervisor meetings fortnightly, recorded in log sheets. The recurring cost is genuinely zero, which is also the commercial argument: marginal cost per institution is near nothing.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the left is finished, and a booking with an AI suggestion can be demonstrated in about thirty seconds if that is useful. The right column is deliberate: three things not yet claimed, stated before anyone asks. The strip along the bottom is Phase 2 — because the build happened during Phase 1, Phase 2 is evaluation. Ethics approval gates everything, which is why the build was front-loaded. [65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not read these. All eleven were verified against Crossref or the publisher directly. [10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the demo — it is the strongest evidence you have and most panels take it. If you do not know an answer: 'I have not investigated that yet, but my instinct is X, and I would verify it by Y.' Never bluff.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9E2A2B"/>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6E1B1C"/>
          </a:solidFill>
          <a:ln/>
        </p:spPr>
      </p:sp>
      <p:sp>
        <p:nvSpPr>
          <p:cNvPr id="3" name="Text 1"/>
          <p:cNvSpPr/>
          <p:nvPr/>
        </p:nvSpPr>
        <p:spPr>
          <a:xfrm>
            <a:off x="914400" y="1371600"/>
            <a:ext cx="10332720" cy="365760"/>
          </a:xfrm>
          <a:prstGeom prst="rect">
            <a:avLst/>
          </a:prstGeom>
          <a:noFill/>
          <a:ln/>
        </p:spPr>
        <p:txBody>
          <a:bodyPr wrap="square" lIns="0" tIns="0" rIns="0" bIns="0" rtlCol="0" anchor="ctr"/>
          <a:lstStyle/>
          <a:p>
            <a:pPr indent="0" marL="0">
              <a:buNone/>
            </a:pPr>
            <a:r>
              <a:rPr lang="en-US" sz="1300" spc="300" kern="0" dirty="0">
                <a:solidFill>
                  <a:srgbClr val="EBBFBF"/>
                </a:solidFill>
                <a:latin typeface="Calibri" pitchFamily="34" charset="0"/>
                <a:ea typeface="Calibri" pitchFamily="34" charset="-122"/>
                <a:cs typeface="Calibri" pitchFamily="34" charset="-120"/>
              </a:rPr>
              <a:t>PROJECT PHASE 1  |  MID-POINT ORAL PRESENTATION  |  EE016-3-3-PP1</a:t>
            </a:r>
            <a:endParaRPr lang="en-US" sz="1300" dirty="0"/>
          </a:p>
        </p:txBody>
      </p:sp>
      <p:sp>
        <p:nvSpPr>
          <p:cNvPr id="4" name="Text 2"/>
          <p:cNvSpPr/>
          <p:nvPr/>
        </p:nvSpPr>
        <p:spPr>
          <a:xfrm>
            <a:off x="914400" y="1828800"/>
            <a:ext cx="10332720" cy="1828800"/>
          </a:xfrm>
          <a:prstGeom prst="rect">
            <a:avLst/>
          </a:prstGeom>
          <a:noFill/>
          <a:ln/>
        </p:spPr>
        <p:txBody>
          <a:bodyPr wrap="square" lIns="0" tIns="0" rIns="0" bIns="0" rtlCol="0" anchor="ctr"/>
          <a:lstStyle/>
          <a:p>
            <a:pPr indent="0" marL="0">
              <a:lnSpc>
                <a:spcPts val="4600"/>
              </a:lnSpc>
              <a:buNone/>
            </a:pPr>
            <a:r>
              <a:rPr lang="en-US" sz="3800" b="1" dirty="0">
                <a:solidFill>
                  <a:srgbClr val="FFFFFF"/>
                </a:solidFill>
                <a:latin typeface="Cambria" pitchFamily="34" charset="0"/>
                <a:ea typeface="Cambria" pitchFamily="34" charset="-122"/>
                <a:cs typeface="Cambria" pitchFamily="34" charset="-120"/>
              </a:rPr>
              <a:t>Smart Campus Facility Reservation System</a:t>
            </a:r>
            <a:endParaRPr lang="en-US" sz="3800" dirty="0"/>
          </a:p>
          <a:p>
            <a:pPr indent="0" marL="0">
              <a:lnSpc>
                <a:spcPts val="4600"/>
              </a:lnSpc>
              <a:buNone/>
            </a:pPr>
            <a:r>
              <a:rPr lang="en-US" sz="3800" b="1" dirty="0">
                <a:solidFill>
                  <a:srgbClr val="FFFFFF"/>
                </a:solidFill>
                <a:latin typeface="Cambria" pitchFamily="34" charset="0"/>
                <a:ea typeface="Cambria" pitchFamily="34" charset="-122"/>
                <a:cs typeface="Cambria" pitchFamily="34" charset="-120"/>
              </a:rPr>
              <a:t>with AI-Assisted Recommendations</a:t>
            </a:r>
            <a:endParaRPr lang="en-US" sz="3800" dirty="0"/>
          </a:p>
        </p:txBody>
      </p:sp>
      <p:sp>
        <p:nvSpPr>
          <p:cNvPr id="5" name="Text 3"/>
          <p:cNvSpPr/>
          <p:nvPr/>
        </p:nvSpPr>
        <p:spPr>
          <a:xfrm>
            <a:off x="914400" y="3977640"/>
            <a:ext cx="10332720" cy="1280160"/>
          </a:xfrm>
          <a:prstGeom prst="rect">
            <a:avLst/>
          </a:prstGeom>
          <a:noFill/>
          <a:ln/>
        </p:spPr>
        <p:txBody>
          <a:bodyPr wrap="square" lIns="0" tIns="0" rIns="0" bIns="0" rtlCol="0" anchor="ctr"/>
          <a:lstStyle/>
          <a:p>
            <a:pPr indent="0" marL="0">
              <a:lnSpc>
                <a:spcPts val="2600"/>
              </a:lnSpc>
              <a:buNone/>
            </a:pPr>
            <a:r>
              <a:rPr lang="en-US" sz="1500" dirty="0">
                <a:solidFill>
                  <a:srgbClr val="F0D4D4"/>
                </a:solidFill>
                <a:latin typeface="Calibri" pitchFamily="34" charset="0"/>
                <a:ea typeface="Calibri" pitchFamily="34" charset="-122"/>
                <a:cs typeface="Calibri" pitchFamily="34" charset="-120"/>
              </a:rPr>
              <a:t>Amaan Rashid   |   TP073098   |   Computer Engineering   |   APU4F2605CE</a:t>
            </a:r>
            <a:endParaRPr lang="en-US" sz="1500" dirty="0"/>
          </a:p>
          <a:p>
            <a:pPr indent="0" marL="0">
              <a:lnSpc>
                <a:spcPts val="2600"/>
              </a:lnSpc>
              <a:buNone/>
            </a:pPr>
            <a:r>
              <a:rPr lang="en-US" sz="1500" dirty="0">
                <a:solidFill>
                  <a:srgbClr val="F0D4D4"/>
                </a:solidFill>
                <a:latin typeface="Calibri" pitchFamily="34" charset="0"/>
                <a:ea typeface="Calibri" pitchFamily="34" charset="-122"/>
                <a:cs typeface="Calibri" pitchFamily="34" charset="-120"/>
              </a:rPr>
              <a:t>Supervisor: Dr Mukil Alagirisamy        Second Marker: Syed Mohd Bahrin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48640" cy="548640"/>
          </a:xfrm>
          <a:prstGeom prst="ellipse">
            <a:avLst/>
          </a:prstGeom>
          <a:solidFill>
            <a:srgbClr val="9E2A2B"/>
          </a:solidFill>
          <a:ln/>
        </p:spPr>
      </p:sp>
      <p:sp>
        <p:nvSpPr>
          <p:cNvPr id="3" name="Text 1"/>
          <p:cNvSpPr/>
          <p:nvPr/>
        </p:nvSpPr>
        <p:spPr>
          <a:xfrm>
            <a:off x="566928" y="384048"/>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4" name="Text 2"/>
          <p:cNvSpPr/>
          <p:nvPr/>
        </p:nvSpPr>
        <p:spPr>
          <a:xfrm>
            <a:off x="1298448" y="365760"/>
            <a:ext cx="10241280" cy="585216"/>
          </a:xfrm>
          <a:prstGeom prst="rect">
            <a:avLst/>
          </a:prstGeom>
          <a:noFill/>
          <a:ln/>
        </p:spPr>
        <p:txBody>
          <a:bodyPr wrap="square" lIns="0" tIns="0" rIns="0" bIns="0" rtlCol="0" anchor="ctr"/>
          <a:lstStyle/>
          <a:p>
            <a:pPr indent="0" marL="0">
              <a:buNone/>
            </a:pPr>
            <a:r>
              <a:rPr lang="en-US" sz="3000" b="1" dirty="0">
                <a:solidFill>
                  <a:srgbClr val="1F2430"/>
                </a:solidFill>
                <a:latin typeface="Cambria" pitchFamily="34" charset="0"/>
                <a:ea typeface="Cambria" pitchFamily="34" charset="-122"/>
                <a:cs typeface="Cambria" pitchFamily="34" charset="-120"/>
              </a:rPr>
              <a:t>Contents</a:t>
            </a:r>
            <a:endParaRPr lang="en-US" sz="3000" dirty="0"/>
          </a:p>
        </p:txBody>
      </p:sp>
      <p:sp>
        <p:nvSpPr>
          <p:cNvPr id="5" name="Shape 3"/>
          <p:cNvSpPr/>
          <p:nvPr/>
        </p:nvSpPr>
        <p:spPr>
          <a:xfrm>
            <a:off x="685800" y="1600200"/>
            <a:ext cx="5257800" cy="1325880"/>
          </a:xfrm>
          <a:prstGeom prst="roundRect">
            <a:avLst>
              <a:gd name="adj" fmla="val 6207"/>
            </a:avLst>
          </a:prstGeom>
          <a:solidFill>
            <a:srgbClr val="F4F5F7"/>
          </a:solidFill>
          <a:ln w="9525">
            <a:solidFill>
              <a:srgbClr val="E2E4E8"/>
            </a:solidFill>
            <a:prstDash val="solid"/>
          </a:ln>
        </p:spPr>
      </p:sp>
      <p:sp>
        <p:nvSpPr>
          <p:cNvPr id="6" name="Shape 4"/>
          <p:cNvSpPr/>
          <p:nvPr/>
        </p:nvSpPr>
        <p:spPr>
          <a:xfrm>
            <a:off x="941832" y="2011680"/>
            <a:ext cx="512064" cy="512064"/>
          </a:xfrm>
          <a:prstGeom prst="ellipse">
            <a:avLst/>
          </a:prstGeom>
          <a:solidFill>
            <a:srgbClr val="F3E4E4"/>
          </a:solidFill>
          <a:ln/>
        </p:spPr>
      </p:sp>
      <p:sp>
        <p:nvSpPr>
          <p:cNvPr id="7" name="Text 5"/>
          <p:cNvSpPr/>
          <p:nvPr/>
        </p:nvSpPr>
        <p:spPr>
          <a:xfrm>
            <a:off x="941832" y="2011680"/>
            <a:ext cx="512064" cy="512064"/>
          </a:xfrm>
          <a:prstGeom prst="rect">
            <a:avLst/>
          </a:prstGeom>
          <a:noFill/>
          <a:ln/>
        </p:spPr>
        <p:txBody>
          <a:bodyPr wrap="square" lIns="0" tIns="0" rIns="0" bIns="0" rtlCol="0" anchor="ctr"/>
          <a:lstStyle/>
          <a:p>
            <a:pPr algn="ctr" indent="0" marL="0">
              <a:buNone/>
            </a:pPr>
            <a:r>
              <a:rPr lang="en-US" sz="1600" b="1" dirty="0">
                <a:solidFill>
                  <a:srgbClr val="9E2A2B"/>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1600200" y="1911096"/>
            <a:ext cx="4160520" cy="329184"/>
          </a:xfrm>
          <a:prstGeom prst="rect">
            <a:avLst/>
          </a:prstGeom>
          <a:noFill/>
          <a:ln/>
        </p:spPr>
        <p:txBody>
          <a:bodyPr wrap="square" lIns="0" tIns="0" rIns="0" bIns="0" rtlCol="0" anchor="ctr"/>
          <a:lstStyle/>
          <a:p>
            <a:pPr indent="0" marL="0">
              <a:buNone/>
            </a:pPr>
            <a:r>
              <a:rPr lang="en-US" sz="1650" b="1" dirty="0">
                <a:solidFill>
                  <a:srgbClr val="1F2430"/>
                </a:solidFill>
                <a:latin typeface="Calibri" pitchFamily="34" charset="0"/>
                <a:ea typeface="Calibri" pitchFamily="34" charset="-122"/>
                <a:cs typeface="Calibri" pitchFamily="34" charset="-120"/>
              </a:rPr>
              <a:t>Problem statement</a:t>
            </a:r>
            <a:endParaRPr lang="en-US" sz="1650" dirty="0"/>
          </a:p>
        </p:txBody>
      </p:sp>
      <p:sp>
        <p:nvSpPr>
          <p:cNvPr id="9" name="Text 7"/>
          <p:cNvSpPr/>
          <p:nvPr/>
        </p:nvSpPr>
        <p:spPr>
          <a:xfrm>
            <a:off x="1600200" y="2276856"/>
            <a:ext cx="4160520" cy="365760"/>
          </a:xfrm>
          <a:prstGeom prst="rect">
            <a:avLst/>
          </a:prstGeom>
          <a:noFill/>
          <a:ln/>
        </p:spPr>
        <p:txBody>
          <a:bodyPr wrap="square" lIns="0" tIns="0" rIns="0" bIns="0" rtlCol="0" anchor="ctr"/>
          <a:lstStyle/>
          <a:p>
            <a:pPr indent="0" marL="0">
              <a:buNone/>
            </a:pPr>
            <a:r>
              <a:rPr lang="en-US" sz="1300" dirty="0">
                <a:solidFill>
                  <a:srgbClr val="6E7079"/>
                </a:solidFill>
                <a:latin typeface="Calibri" pitchFamily="34" charset="0"/>
                <a:ea typeface="Calibri" pitchFamily="34" charset="-122"/>
                <a:cs typeface="Calibri" pitchFamily="34" charset="-120"/>
              </a:rPr>
              <a:t>Booking is digitised. Allocation is not</a:t>
            </a:r>
            <a:endParaRPr lang="en-US" sz="1300" dirty="0"/>
          </a:p>
        </p:txBody>
      </p:sp>
      <p:sp>
        <p:nvSpPr>
          <p:cNvPr id="10" name="Shape 8"/>
          <p:cNvSpPr/>
          <p:nvPr/>
        </p:nvSpPr>
        <p:spPr>
          <a:xfrm>
            <a:off x="6217920" y="1600200"/>
            <a:ext cx="5257800" cy="1325880"/>
          </a:xfrm>
          <a:prstGeom prst="roundRect">
            <a:avLst>
              <a:gd name="adj" fmla="val 6207"/>
            </a:avLst>
          </a:prstGeom>
          <a:solidFill>
            <a:srgbClr val="F4F5F7"/>
          </a:solidFill>
          <a:ln w="9525">
            <a:solidFill>
              <a:srgbClr val="E2E4E8"/>
            </a:solidFill>
            <a:prstDash val="solid"/>
          </a:ln>
        </p:spPr>
      </p:sp>
      <p:sp>
        <p:nvSpPr>
          <p:cNvPr id="11" name="Shape 9"/>
          <p:cNvSpPr/>
          <p:nvPr/>
        </p:nvSpPr>
        <p:spPr>
          <a:xfrm>
            <a:off x="6473952" y="2011680"/>
            <a:ext cx="512064" cy="512064"/>
          </a:xfrm>
          <a:prstGeom prst="ellipse">
            <a:avLst/>
          </a:prstGeom>
          <a:solidFill>
            <a:srgbClr val="F3E4E4"/>
          </a:solidFill>
          <a:ln/>
        </p:spPr>
      </p:sp>
      <p:sp>
        <p:nvSpPr>
          <p:cNvPr id="12" name="Text 10"/>
          <p:cNvSpPr/>
          <p:nvPr/>
        </p:nvSpPr>
        <p:spPr>
          <a:xfrm>
            <a:off x="6473952" y="2011680"/>
            <a:ext cx="512064" cy="512064"/>
          </a:xfrm>
          <a:prstGeom prst="rect">
            <a:avLst/>
          </a:prstGeom>
          <a:noFill/>
          <a:ln/>
        </p:spPr>
        <p:txBody>
          <a:bodyPr wrap="square" lIns="0" tIns="0" rIns="0" bIns="0" rtlCol="0" anchor="ctr"/>
          <a:lstStyle/>
          <a:p>
            <a:pPr algn="ctr" indent="0" marL="0">
              <a:buNone/>
            </a:pPr>
            <a:r>
              <a:rPr lang="en-US" sz="1600" b="1" dirty="0">
                <a:solidFill>
                  <a:srgbClr val="9E2A2B"/>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7132320" y="1911096"/>
            <a:ext cx="4160520" cy="329184"/>
          </a:xfrm>
          <a:prstGeom prst="rect">
            <a:avLst/>
          </a:prstGeom>
          <a:noFill/>
          <a:ln/>
        </p:spPr>
        <p:txBody>
          <a:bodyPr wrap="square" lIns="0" tIns="0" rIns="0" bIns="0" rtlCol="0" anchor="ctr"/>
          <a:lstStyle/>
          <a:p>
            <a:pPr indent="0" marL="0">
              <a:buNone/>
            </a:pPr>
            <a:r>
              <a:rPr lang="en-US" sz="1650" b="1" dirty="0">
                <a:solidFill>
                  <a:srgbClr val="1F2430"/>
                </a:solidFill>
                <a:latin typeface="Calibri" pitchFamily="34" charset="0"/>
                <a:ea typeface="Calibri" pitchFamily="34" charset="-122"/>
                <a:cs typeface="Calibri" pitchFamily="34" charset="-120"/>
              </a:rPr>
              <a:t>Aim and objectives</a:t>
            </a:r>
            <a:endParaRPr lang="en-US" sz="1650" dirty="0"/>
          </a:p>
        </p:txBody>
      </p:sp>
      <p:sp>
        <p:nvSpPr>
          <p:cNvPr id="14" name="Text 12"/>
          <p:cNvSpPr/>
          <p:nvPr/>
        </p:nvSpPr>
        <p:spPr>
          <a:xfrm>
            <a:off x="7132320" y="2276856"/>
            <a:ext cx="4160520" cy="365760"/>
          </a:xfrm>
          <a:prstGeom prst="rect">
            <a:avLst/>
          </a:prstGeom>
          <a:noFill/>
          <a:ln/>
        </p:spPr>
        <p:txBody>
          <a:bodyPr wrap="square" lIns="0" tIns="0" rIns="0" bIns="0" rtlCol="0" anchor="ctr"/>
          <a:lstStyle/>
          <a:p>
            <a:pPr indent="0" marL="0">
              <a:buNone/>
            </a:pPr>
            <a:r>
              <a:rPr lang="en-US" sz="1300" dirty="0">
                <a:solidFill>
                  <a:srgbClr val="6E7079"/>
                </a:solidFill>
                <a:latin typeface="Calibri" pitchFamily="34" charset="0"/>
                <a:ea typeface="Calibri" pitchFamily="34" charset="-122"/>
                <a:cs typeface="Calibri" pitchFamily="34" charset="-120"/>
              </a:rPr>
              <a:t>Five objectives, eight UN-SDGs</a:t>
            </a:r>
            <a:endParaRPr lang="en-US" sz="1300" dirty="0"/>
          </a:p>
        </p:txBody>
      </p:sp>
      <p:sp>
        <p:nvSpPr>
          <p:cNvPr id="15" name="Shape 13"/>
          <p:cNvSpPr/>
          <p:nvPr/>
        </p:nvSpPr>
        <p:spPr>
          <a:xfrm>
            <a:off x="685800" y="3172968"/>
            <a:ext cx="5257800" cy="1325880"/>
          </a:xfrm>
          <a:prstGeom prst="roundRect">
            <a:avLst>
              <a:gd name="adj" fmla="val 6207"/>
            </a:avLst>
          </a:prstGeom>
          <a:solidFill>
            <a:srgbClr val="F4F5F7"/>
          </a:solidFill>
          <a:ln w="9525">
            <a:solidFill>
              <a:srgbClr val="E2E4E8"/>
            </a:solidFill>
            <a:prstDash val="solid"/>
          </a:ln>
        </p:spPr>
      </p:sp>
      <p:sp>
        <p:nvSpPr>
          <p:cNvPr id="16" name="Shape 14"/>
          <p:cNvSpPr/>
          <p:nvPr/>
        </p:nvSpPr>
        <p:spPr>
          <a:xfrm>
            <a:off x="941832" y="3584448"/>
            <a:ext cx="512064" cy="512064"/>
          </a:xfrm>
          <a:prstGeom prst="ellipse">
            <a:avLst/>
          </a:prstGeom>
          <a:solidFill>
            <a:srgbClr val="F3E4E4"/>
          </a:solidFill>
          <a:ln/>
        </p:spPr>
      </p:sp>
      <p:sp>
        <p:nvSpPr>
          <p:cNvPr id="17" name="Text 15"/>
          <p:cNvSpPr/>
          <p:nvPr/>
        </p:nvSpPr>
        <p:spPr>
          <a:xfrm>
            <a:off x="941832" y="3584448"/>
            <a:ext cx="512064" cy="512064"/>
          </a:xfrm>
          <a:prstGeom prst="rect">
            <a:avLst/>
          </a:prstGeom>
          <a:noFill/>
          <a:ln/>
        </p:spPr>
        <p:txBody>
          <a:bodyPr wrap="square" lIns="0" tIns="0" rIns="0" bIns="0" rtlCol="0" anchor="ctr"/>
          <a:lstStyle/>
          <a:p>
            <a:pPr algn="ctr" indent="0" marL="0">
              <a:buNone/>
            </a:pPr>
            <a:r>
              <a:rPr lang="en-US" sz="1600" b="1" dirty="0">
                <a:solidFill>
                  <a:srgbClr val="9E2A2B"/>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1600200" y="3483864"/>
            <a:ext cx="4160520" cy="329184"/>
          </a:xfrm>
          <a:prstGeom prst="rect">
            <a:avLst/>
          </a:prstGeom>
          <a:noFill/>
          <a:ln/>
        </p:spPr>
        <p:txBody>
          <a:bodyPr wrap="square" lIns="0" tIns="0" rIns="0" bIns="0" rtlCol="0" anchor="ctr"/>
          <a:lstStyle/>
          <a:p>
            <a:pPr indent="0" marL="0">
              <a:buNone/>
            </a:pPr>
            <a:r>
              <a:rPr lang="en-US" sz="1650" b="1" dirty="0">
                <a:solidFill>
                  <a:srgbClr val="1F2430"/>
                </a:solidFill>
                <a:latin typeface="Calibri" pitchFamily="34" charset="0"/>
                <a:ea typeface="Calibri" pitchFamily="34" charset="-122"/>
                <a:cs typeface="Calibri" pitchFamily="34" charset="-120"/>
              </a:rPr>
              <a:t>Literature review</a:t>
            </a:r>
            <a:endParaRPr lang="en-US" sz="1650" dirty="0"/>
          </a:p>
        </p:txBody>
      </p:sp>
      <p:sp>
        <p:nvSpPr>
          <p:cNvPr id="19" name="Text 17"/>
          <p:cNvSpPr/>
          <p:nvPr/>
        </p:nvSpPr>
        <p:spPr>
          <a:xfrm>
            <a:off x="1600200" y="3849624"/>
            <a:ext cx="4160520" cy="365760"/>
          </a:xfrm>
          <a:prstGeom prst="rect">
            <a:avLst/>
          </a:prstGeom>
          <a:noFill/>
          <a:ln/>
        </p:spPr>
        <p:txBody>
          <a:bodyPr wrap="square" lIns="0" tIns="0" rIns="0" bIns="0" rtlCol="0" anchor="ctr"/>
          <a:lstStyle/>
          <a:p>
            <a:pPr indent="0" marL="0">
              <a:buNone/>
            </a:pPr>
            <a:r>
              <a:rPr lang="en-US" sz="1300" dirty="0">
                <a:solidFill>
                  <a:srgbClr val="6E7079"/>
                </a:solidFill>
                <a:latin typeface="Calibri" pitchFamily="34" charset="0"/>
                <a:ea typeface="Calibri" pitchFamily="34" charset="-122"/>
                <a:cs typeface="Calibri" pitchFamily="34" charset="-120"/>
              </a:rPr>
              <a:t>Eleven papers and the gap they leave</a:t>
            </a:r>
            <a:endParaRPr lang="en-US" sz="1300" dirty="0"/>
          </a:p>
        </p:txBody>
      </p:sp>
      <p:sp>
        <p:nvSpPr>
          <p:cNvPr id="20" name="Shape 18"/>
          <p:cNvSpPr/>
          <p:nvPr/>
        </p:nvSpPr>
        <p:spPr>
          <a:xfrm>
            <a:off x="6217920" y="3172968"/>
            <a:ext cx="5257800" cy="1325880"/>
          </a:xfrm>
          <a:prstGeom prst="roundRect">
            <a:avLst>
              <a:gd name="adj" fmla="val 6207"/>
            </a:avLst>
          </a:prstGeom>
          <a:solidFill>
            <a:srgbClr val="F4F5F7"/>
          </a:solidFill>
          <a:ln w="9525">
            <a:solidFill>
              <a:srgbClr val="E2E4E8"/>
            </a:solidFill>
            <a:prstDash val="solid"/>
          </a:ln>
        </p:spPr>
      </p:sp>
      <p:sp>
        <p:nvSpPr>
          <p:cNvPr id="21" name="Shape 19"/>
          <p:cNvSpPr/>
          <p:nvPr/>
        </p:nvSpPr>
        <p:spPr>
          <a:xfrm>
            <a:off x="6473952" y="3584448"/>
            <a:ext cx="512064" cy="512064"/>
          </a:xfrm>
          <a:prstGeom prst="ellipse">
            <a:avLst/>
          </a:prstGeom>
          <a:solidFill>
            <a:srgbClr val="F3E4E4"/>
          </a:solidFill>
          <a:ln/>
        </p:spPr>
      </p:sp>
      <p:sp>
        <p:nvSpPr>
          <p:cNvPr id="22" name="Text 20"/>
          <p:cNvSpPr/>
          <p:nvPr/>
        </p:nvSpPr>
        <p:spPr>
          <a:xfrm>
            <a:off x="6473952" y="3584448"/>
            <a:ext cx="512064" cy="512064"/>
          </a:xfrm>
          <a:prstGeom prst="rect">
            <a:avLst/>
          </a:prstGeom>
          <a:noFill/>
          <a:ln/>
        </p:spPr>
        <p:txBody>
          <a:bodyPr wrap="square" lIns="0" tIns="0" rIns="0" bIns="0" rtlCol="0" anchor="ctr"/>
          <a:lstStyle/>
          <a:p>
            <a:pPr algn="ctr" indent="0" marL="0">
              <a:buNone/>
            </a:pPr>
            <a:r>
              <a:rPr lang="en-US" sz="1600" b="1" dirty="0">
                <a:solidFill>
                  <a:srgbClr val="9E2A2B"/>
                </a:solidFill>
                <a:latin typeface="Cambria" pitchFamily="34" charset="0"/>
                <a:ea typeface="Cambria" pitchFamily="34" charset="-122"/>
                <a:cs typeface="Cambria" pitchFamily="34" charset="-120"/>
              </a:rPr>
              <a:t>4</a:t>
            </a:r>
            <a:endParaRPr lang="en-US" sz="1600" dirty="0"/>
          </a:p>
        </p:txBody>
      </p:sp>
      <p:sp>
        <p:nvSpPr>
          <p:cNvPr id="23" name="Text 21"/>
          <p:cNvSpPr/>
          <p:nvPr/>
        </p:nvSpPr>
        <p:spPr>
          <a:xfrm>
            <a:off x="7132320" y="3483864"/>
            <a:ext cx="4160520" cy="329184"/>
          </a:xfrm>
          <a:prstGeom prst="rect">
            <a:avLst/>
          </a:prstGeom>
          <a:noFill/>
          <a:ln/>
        </p:spPr>
        <p:txBody>
          <a:bodyPr wrap="square" lIns="0" tIns="0" rIns="0" bIns="0" rtlCol="0" anchor="ctr"/>
          <a:lstStyle/>
          <a:p>
            <a:pPr indent="0" marL="0">
              <a:buNone/>
            </a:pPr>
            <a:r>
              <a:rPr lang="en-US" sz="1650" b="1" dirty="0">
                <a:solidFill>
                  <a:srgbClr val="1F2430"/>
                </a:solidFill>
                <a:latin typeface="Calibri" pitchFamily="34" charset="0"/>
                <a:ea typeface="Calibri" pitchFamily="34" charset="-122"/>
                <a:cs typeface="Calibri" pitchFamily="34" charset="-120"/>
              </a:rPr>
              <a:t>Concept design</a:t>
            </a:r>
            <a:endParaRPr lang="en-US" sz="1650" dirty="0"/>
          </a:p>
        </p:txBody>
      </p:sp>
      <p:sp>
        <p:nvSpPr>
          <p:cNvPr id="24" name="Text 22"/>
          <p:cNvSpPr/>
          <p:nvPr/>
        </p:nvSpPr>
        <p:spPr>
          <a:xfrm>
            <a:off x="7132320" y="3849624"/>
            <a:ext cx="4160520" cy="365760"/>
          </a:xfrm>
          <a:prstGeom prst="rect">
            <a:avLst/>
          </a:prstGeom>
          <a:noFill/>
          <a:ln/>
        </p:spPr>
        <p:txBody>
          <a:bodyPr wrap="square" lIns="0" tIns="0" rIns="0" bIns="0" rtlCol="0" anchor="ctr"/>
          <a:lstStyle/>
          <a:p>
            <a:pPr indent="0" marL="0">
              <a:buNone/>
            </a:pPr>
            <a:r>
              <a:rPr lang="en-US" sz="1300" dirty="0">
                <a:solidFill>
                  <a:srgbClr val="6E7079"/>
                </a:solidFill>
                <a:latin typeface="Calibri" pitchFamily="34" charset="0"/>
                <a:ea typeface="Calibri" pitchFamily="34" charset="-122"/>
                <a:cs typeface="Calibri" pitchFamily="34" charset="-120"/>
              </a:rPr>
              <a:t>Architecture, database, rule model</a:t>
            </a:r>
            <a:endParaRPr lang="en-US" sz="1300" dirty="0"/>
          </a:p>
        </p:txBody>
      </p:sp>
      <p:sp>
        <p:nvSpPr>
          <p:cNvPr id="25" name="Shape 23"/>
          <p:cNvSpPr/>
          <p:nvPr/>
        </p:nvSpPr>
        <p:spPr>
          <a:xfrm>
            <a:off x="685800" y="4745736"/>
            <a:ext cx="5257800" cy="1325880"/>
          </a:xfrm>
          <a:prstGeom prst="roundRect">
            <a:avLst>
              <a:gd name="adj" fmla="val 6207"/>
            </a:avLst>
          </a:prstGeom>
          <a:solidFill>
            <a:srgbClr val="F4F5F7"/>
          </a:solidFill>
          <a:ln w="9525">
            <a:solidFill>
              <a:srgbClr val="E2E4E8"/>
            </a:solidFill>
            <a:prstDash val="solid"/>
          </a:ln>
        </p:spPr>
      </p:sp>
      <p:sp>
        <p:nvSpPr>
          <p:cNvPr id="26" name="Shape 24"/>
          <p:cNvSpPr/>
          <p:nvPr/>
        </p:nvSpPr>
        <p:spPr>
          <a:xfrm>
            <a:off x="941832" y="5157216"/>
            <a:ext cx="512064" cy="512064"/>
          </a:xfrm>
          <a:prstGeom prst="ellipse">
            <a:avLst/>
          </a:prstGeom>
          <a:solidFill>
            <a:srgbClr val="F3E4E4"/>
          </a:solidFill>
          <a:ln/>
        </p:spPr>
      </p:sp>
      <p:sp>
        <p:nvSpPr>
          <p:cNvPr id="27" name="Text 25"/>
          <p:cNvSpPr/>
          <p:nvPr/>
        </p:nvSpPr>
        <p:spPr>
          <a:xfrm>
            <a:off x="941832" y="5157216"/>
            <a:ext cx="512064" cy="512064"/>
          </a:xfrm>
          <a:prstGeom prst="rect">
            <a:avLst/>
          </a:prstGeom>
          <a:noFill/>
          <a:ln/>
        </p:spPr>
        <p:txBody>
          <a:bodyPr wrap="square" lIns="0" tIns="0" rIns="0" bIns="0" rtlCol="0" anchor="ctr"/>
          <a:lstStyle/>
          <a:p>
            <a:pPr algn="ctr" indent="0" marL="0">
              <a:buNone/>
            </a:pPr>
            <a:r>
              <a:rPr lang="en-US" sz="1600" b="1" dirty="0">
                <a:solidFill>
                  <a:srgbClr val="9E2A2B"/>
                </a:solidFill>
                <a:latin typeface="Cambria" pitchFamily="34" charset="0"/>
                <a:ea typeface="Cambria" pitchFamily="34" charset="-122"/>
                <a:cs typeface="Cambria" pitchFamily="34" charset="-120"/>
              </a:rPr>
              <a:t>5</a:t>
            </a:r>
            <a:endParaRPr lang="en-US" sz="1600" dirty="0"/>
          </a:p>
        </p:txBody>
      </p:sp>
      <p:sp>
        <p:nvSpPr>
          <p:cNvPr id="28" name="Text 26"/>
          <p:cNvSpPr/>
          <p:nvPr/>
        </p:nvSpPr>
        <p:spPr>
          <a:xfrm>
            <a:off x="1600200" y="5056632"/>
            <a:ext cx="4160520" cy="329184"/>
          </a:xfrm>
          <a:prstGeom prst="rect">
            <a:avLst/>
          </a:prstGeom>
          <a:noFill/>
          <a:ln/>
        </p:spPr>
        <p:txBody>
          <a:bodyPr wrap="square" lIns="0" tIns="0" rIns="0" bIns="0" rtlCol="0" anchor="ctr"/>
          <a:lstStyle/>
          <a:p>
            <a:pPr indent="0" marL="0">
              <a:buNone/>
            </a:pPr>
            <a:r>
              <a:rPr lang="en-US" sz="1650" b="1" dirty="0">
                <a:solidFill>
                  <a:srgbClr val="1F2430"/>
                </a:solidFill>
                <a:latin typeface="Calibri" pitchFamily="34" charset="0"/>
                <a:ea typeface="Calibri" pitchFamily="34" charset="-122"/>
                <a:cs typeface="Calibri" pitchFamily="34" charset="-120"/>
              </a:rPr>
              <a:t>Implementation to date</a:t>
            </a:r>
            <a:endParaRPr lang="en-US" sz="1650" dirty="0"/>
          </a:p>
        </p:txBody>
      </p:sp>
      <p:sp>
        <p:nvSpPr>
          <p:cNvPr id="29" name="Text 27"/>
          <p:cNvSpPr/>
          <p:nvPr/>
        </p:nvSpPr>
        <p:spPr>
          <a:xfrm>
            <a:off x="1600200" y="5422392"/>
            <a:ext cx="4160520" cy="365760"/>
          </a:xfrm>
          <a:prstGeom prst="rect">
            <a:avLst/>
          </a:prstGeom>
          <a:noFill/>
          <a:ln/>
        </p:spPr>
        <p:txBody>
          <a:bodyPr wrap="square" lIns="0" tIns="0" rIns="0" bIns="0" rtlCol="0" anchor="ctr"/>
          <a:lstStyle/>
          <a:p>
            <a:pPr indent="0" marL="0">
              <a:buNone/>
            </a:pPr>
            <a:r>
              <a:rPr lang="en-US" sz="1300" dirty="0">
                <a:solidFill>
                  <a:srgbClr val="6E7079"/>
                </a:solidFill>
                <a:latin typeface="Calibri" pitchFamily="34" charset="0"/>
                <a:ea typeface="Calibri" pitchFamily="34" charset="-122"/>
                <a:cs typeface="Calibri" pitchFamily="34" charset="-120"/>
              </a:rPr>
              <a:t>Working system, approximately 30 percent</a:t>
            </a:r>
            <a:endParaRPr lang="en-US" sz="1300" dirty="0"/>
          </a:p>
        </p:txBody>
      </p:sp>
      <p:sp>
        <p:nvSpPr>
          <p:cNvPr id="30" name="Shape 28"/>
          <p:cNvSpPr/>
          <p:nvPr/>
        </p:nvSpPr>
        <p:spPr>
          <a:xfrm>
            <a:off x="6217920" y="4745736"/>
            <a:ext cx="5257800" cy="1325880"/>
          </a:xfrm>
          <a:prstGeom prst="roundRect">
            <a:avLst>
              <a:gd name="adj" fmla="val 6207"/>
            </a:avLst>
          </a:prstGeom>
          <a:solidFill>
            <a:srgbClr val="F4F5F7"/>
          </a:solidFill>
          <a:ln w="9525">
            <a:solidFill>
              <a:srgbClr val="E2E4E8"/>
            </a:solidFill>
            <a:prstDash val="solid"/>
          </a:ln>
        </p:spPr>
      </p:sp>
      <p:sp>
        <p:nvSpPr>
          <p:cNvPr id="31" name="Shape 29"/>
          <p:cNvSpPr/>
          <p:nvPr/>
        </p:nvSpPr>
        <p:spPr>
          <a:xfrm>
            <a:off x="6473952" y="5157216"/>
            <a:ext cx="512064" cy="512064"/>
          </a:xfrm>
          <a:prstGeom prst="ellipse">
            <a:avLst/>
          </a:prstGeom>
          <a:solidFill>
            <a:srgbClr val="F3E4E4"/>
          </a:solidFill>
          <a:ln/>
        </p:spPr>
      </p:sp>
      <p:sp>
        <p:nvSpPr>
          <p:cNvPr id="32" name="Text 30"/>
          <p:cNvSpPr/>
          <p:nvPr/>
        </p:nvSpPr>
        <p:spPr>
          <a:xfrm>
            <a:off x="6473952" y="5157216"/>
            <a:ext cx="512064" cy="512064"/>
          </a:xfrm>
          <a:prstGeom prst="rect">
            <a:avLst/>
          </a:prstGeom>
          <a:noFill/>
          <a:ln/>
        </p:spPr>
        <p:txBody>
          <a:bodyPr wrap="square" lIns="0" tIns="0" rIns="0" bIns="0" rtlCol="0" anchor="ctr"/>
          <a:lstStyle/>
          <a:p>
            <a:pPr algn="ctr" indent="0" marL="0">
              <a:buNone/>
            </a:pPr>
            <a:r>
              <a:rPr lang="en-US" sz="1600" b="1" dirty="0">
                <a:solidFill>
                  <a:srgbClr val="9E2A2B"/>
                </a:solidFill>
                <a:latin typeface="Cambria" pitchFamily="34" charset="0"/>
                <a:ea typeface="Cambria" pitchFamily="34" charset="-122"/>
                <a:cs typeface="Cambria" pitchFamily="34" charset="-120"/>
              </a:rPr>
              <a:t>6</a:t>
            </a:r>
            <a:endParaRPr lang="en-US" sz="1600" dirty="0"/>
          </a:p>
        </p:txBody>
      </p:sp>
      <p:sp>
        <p:nvSpPr>
          <p:cNvPr id="33" name="Text 31"/>
          <p:cNvSpPr/>
          <p:nvPr/>
        </p:nvSpPr>
        <p:spPr>
          <a:xfrm>
            <a:off x="7132320" y="5056632"/>
            <a:ext cx="4160520" cy="329184"/>
          </a:xfrm>
          <a:prstGeom prst="rect">
            <a:avLst/>
          </a:prstGeom>
          <a:noFill/>
          <a:ln/>
        </p:spPr>
        <p:txBody>
          <a:bodyPr wrap="square" lIns="0" tIns="0" rIns="0" bIns="0" rtlCol="0" anchor="ctr"/>
          <a:lstStyle/>
          <a:p>
            <a:pPr indent="0" marL="0">
              <a:buNone/>
            </a:pPr>
            <a:r>
              <a:rPr lang="en-US" sz="1650" b="1" dirty="0">
                <a:solidFill>
                  <a:srgbClr val="1F2430"/>
                </a:solidFill>
                <a:latin typeface="Calibri" pitchFamily="34" charset="0"/>
                <a:ea typeface="Calibri" pitchFamily="34" charset="-122"/>
                <a:cs typeface="Calibri" pitchFamily="34" charset="-120"/>
              </a:rPr>
              <a:t>Phase 2</a:t>
            </a:r>
            <a:endParaRPr lang="en-US" sz="1650" dirty="0"/>
          </a:p>
        </p:txBody>
      </p:sp>
      <p:sp>
        <p:nvSpPr>
          <p:cNvPr id="34" name="Text 32"/>
          <p:cNvSpPr/>
          <p:nvPr/>
        </p:nvSpPr>
        <p:spPr>
          <a:xfrm>
            <a:off x="7132320" y="5422392"/>
            <a:ext cx="4160520" cy="365760"/>
          </a:xfrm>
          <a:prstGeom prst="rect">
            <a:avLst/>
          </a:prstGeom>
          <a:noFill/>
          <a:ln/>
        </p:spPr>
        <p:txBody>
          <a:bodyPr wrap="square" lIns="0" tIns="0" rIns="0" bIns="0" rtlCol="0" anchor="ctr"/>
          <a:lstStyle/>
          <a:p>
            <a:pPr indent="0" marL="0">
              <a:buNone/>
            </a:pPr>
            <a:r>
              <a:rPr lang="en-US" sz="1300" dirty="0">
                <a:solidFill>
                  <a:srgbClr val="6E7079"/>
                </a:solidFill>
                <a:latin typeface="Calibri" pitchFamily="34" charset="0"/>
                <a:ea typeface="Calibri" pitchFamily="34" charset="-122"/>
                <a:cs typeface="Calibri" pitchFamily="34" charset="-120"/>
              </a:rPr>
              <a:t>Evaluation, not implementation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48640" cy="548640"/>
          </a:xfrm>
          <a:prstGeom prst="ellipse">
            <a:avLst/>
          </a:prstGeom>
          <a:solidFill>
            <a:srgbClr val="9E2A2B"/>
          </a:solidFill>
          <a:ln/>
        </p:spPr>
      </p:sp>
      <p:sp>
        <p:nvSpPr>
          <p:cNvPr id="3" name="Text 1"/>
          <p:cNvSpPr/>
          <p:nvPr/>
        </p:nvSpPr>
        <p:spPr>
          <a:xfrm>
            <a:off x="566928" y="384048"/>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4" name="Text 2"/>
          <p:cNvSpPr/>
          <p:nvPr/>
        </p:nvSpPr>
        <p:spPr>
          <a:xfrm>
            <a:off x="1298448" y="329184"/>
            <a:ext cx="10241280" cy="256032"/>
          </a:xfrm>
          <a:prstGeom prst="rect">
            <a:avLst/>
          </a:prstGeom>
          <a:noFill/>
          <a:ln/>
        </p:spPr>
        <p:txBody>
          <a:bodyPr wrap="square" lIns="0" tIns="0" rIns="0" bIns="0" rtlCol="0" anchor="ctr"/>
          <a:lstStyle/>
          <a:p>
            <a:pPr indent="0" marL="0">
              <a:buNone/>
            </a:pPr>
            <a:r>
              <a:rPr lang="en-US" sz="1100" spc="200" kern="0" dirty="0">
                <a:solidFill>
                  <a:srgbClr val="9E2A2B"/>
                </a:solidFill>
                <a:latin typeface="Calibri" pitchFamily="34" charset="0"/>
                <a:ea typeface="Calibri" pitchFamily="34" charset="-122"/>
                <a:cs typeface="Calibri" pitchFamily="34" charset="-120"/>
              </a:rPr>
              <a:t>PROBLEM STATEMENT</a:t>
            </a:r>
            <a:endParaRPr lang="en-US" sz="1100" dirty="0"/>
          </a:p>
        </p:txBody>
      </p:sp>
      <p:sp>
        <p:nvSpPr>
          <p:cNvPr id="5" name="Text 3"/>
          <p:cNvSpPr/>
          <p:nvPr/>
        </p:nvSpPr>
        <p:spPr>
          <a:xfrm>
            <a:off x="1298448" y="566928"/>
            <a:ext cx="10241280" cy="502920"/>
          </a:xfrm>
          <a:prstGeom prst="rect">
            <a:avLst/>
          </a:prstGeom>
          <a:noFill/>
          <a:ln/>
        </p:spPr>
        <p:txBody>
          <a:bodyPr wrap="square" lIns="0" tIns="0" rIns="0" bIns="0" rtlCol="0" anchor="ctr"/>
          <a:lstStyle/>
          <a:p>
            <a:pPr indent="0" marL="0">
              <a:buNone/>
            </a:pPr>
            <a:r>
              <a:rPr lang="en-US" sz="2900" b="1" dirty="0">
                <a:solidFill>
                  <a:srgbClr val="1F2430"/>
                </a:solidFill>
                <a:latin typeface="Cambria" pitchFamily="34" charset="0"/>
                <a:ea typeface="Cambria" pitchFamily="34" charset="-122"/>
                <a:cs typeface="Cambria" pitchFamily="34" charset="-120"/>
              </a:rPr>
              <a:t>Research problem</a:t>
            </a:r>
            <a:endParaRPr lang="en-US" sz="2900" dirty="0"/>
          </a:p>
        </p:txBody>
      </p:sp>
      <p:sp>
        <p:nvSpPr>
          <p:cNvPr id="6" name="Shape 4"/>
          <p:cNvSpPr/>
          <p:nvPr/>
        </p:nvSpPr>
        <p:spPr>
          <a:xfrm>
            <a:off x="685800" y="1298448"/>
            <a:ext cx="10789920" cy="822960"/>
          </a:xfrm>
          <a:prstGeom prst="roundRect">
            <a:avLst>
              <a:gd name="adj" fmla="val 10000"/>
            </a:avLst>
          </a:prstGeom>
          <a:solidFill>
            <a:srgbClr val="F3E4E4"/>
          </a:solidFill>
          <a:ln w="9525">
            <a:solidFill>
              <a:srgbClr val="E2E4E8"/>
            </a:solidFill>
            <a:prstDash val="solid"/>
          </a:ln>
        </p:spPr>
      </p:sp>
      <p:sp>
        <p:nvSpPr>
          <p:cNvPr id="7" name="Text 5"/>
          <p:cNvSpPr/>
          <p:nvPr/>
        </p:nvSpPr>
        <p:spPr>
          <a:xfrm>
            <a:off x="960120" y="1426464"/>
            <a:ext cx="10241280" cy="566928"/>
          </a:xfrm>
          <a:prstGeom prst="rect">
            <a:avLst/>
          </a:prstGeom>
          <a:noFill/>
          <a:ln/>
        </p:spPr>
        <p:txBody>
          <a:bodyPr wrap="square" lIns="0" tIns="0" rIns="0" bIns="0" rtlCol="0" anchor="ctr"/>
          <a:lstStyle/>
          <a:p>
            <a:pPr indent="0" marL="0">
              <a:buNone/>
            </a:pPr>
            <a:r>
              <a:rPr lang="en-US" sz="2100" b="1" dirty="0">
                <a:solidFill>
                  <a:srgbClr val="6E1B1C"/>
                </a:solidFill>
                <a:latin typeface="Cambria" pitchFamily="34" charset="0"/>
                <a:ea typeface="Cambria" pitchFamily="34" charset="-122"/>
                <a:cs typeface="Cambria" pitchFamily="34" charset="-120"/>
              </a:rPr>
              <a:t>Booking systems record who booked. They do not manage the space.</a:t>
            </a:r>
            <a:endParaRPr lang="en-US" sz="2100" dirty="0"/>
          </a:p>
        </p:txBody>
      </p:sp>
      <p:sp>
        <p:nvSpPr>
          <p:cNvPr id="8" name="Text 6"/>
          <p:cNvSpPr/>
          <p:nvPr/>
        </p:nvSpPr>
        <p:spPr>
          <a:xfrm>
            <a:off x="685800" y="2286000"/>
            <a:ext cx="10789920" cy="548640"/>
          </a:xfrm>
          <a:prstGeom prst="rect">
            <a:avLst/>
          </a:prstGeom>
          <a:noFill/>
          <a:ln/>
        </p:spPr>
        <p:txBody>
          <a:bodyPr wrap="square" lIns="0" tIns="0" rIns="0" bIns="0" rtlCol="0" anchor="t"/>
          <a:lstStyle/>
          <a:p>
            <a:pPr indent="0" marL="0">
              <a:lnSpc>
                <a:spcPts val="2030"/>
              </a:lnSpc>
              <a:buNone/>
            </a:pPr>
            <a:r>
              <a:rPr lang="en-US" sz="1400" dirty="0">
                <a:solidFill>
                  <a:srgbClr val="1F2430"/>
                </a:solidFill>
                <a:latin typeface="Calibri" pitchFamily="34" charset="0"/>
                <a:ea typeface="Calibri" pitchFamily="34" charset="-122"/>
                <a:cs typeface="Calibri" pitchFamily="34" charset="-120"/>
              </a:rPr>
              <a:t>Booking is already online everywhere. One library product alone runs at 7,500 institutions in 106 countries. The problem is what the software still does not do.</a:t>
            </a:r>
            <a:endParaRPr lang="en-US" sz="1400" dirty="0"/>
          </a:p>
        </p:txBody>
      </p:sp>
      <p:sp>
        <p:nvSpPr>
          <p:cNvPr id="9" name="Shape 7"/>
          <p:cNvSpPr/>
          <p:nvPr/>
        </p:nvSpPr>
        <p:spPr>
          <a:xfrm>
            <a:off x="685800" y="2999232"/>
            <a:ext cx="10789920" cy="731520"/>
          </a:xfrm>
          <a:prstGeom prst="rect">
            <a:avLst/>
          </a:prstGeom>
          <a:solidFill>
            <a:srgbClr val="F4F5F7"/>
          </a:solidFill>
          <a:ln/>
        </p:spPr>
      </p:sp>
      <p:sp>
        <p:nvSpPr>
          <p:cNvPr id="10" name="Text 8"/>
          <p:cNvSpPr/>
          <p:nvPr/>
        </p:nvSpPr>
        <p:spPr>
          <a:xfrm>
            <a:off x="932688" y="3054096"/>
            <a:ext cx="2743200" cy="621792"/>
          </a:xfrm>
          <a:prstGeom prst="rect">
            <a:avLst/>
          </a:prstGeom>
          <a:noFill/>
          <a:ln/>
        </p:spPr>
        <p:txBody>
          <a:bodyPr wrap="square" lIns="0" tIns="0" rIns="0" bIns="0" rtlCol="0" anchor="ctr"/>
          <a:lstStyle/>
          <a:p>
            <a:pPr indent="0" marL="0">
              <a:buNone/>
            </a:pPr>
            <a:r>
              <a:rPr lang="en-US" sz="1450" b="1" dirty="0">
                <a:solidFill>
                  <a:srgbClr val="9E2A2B"/>
                </a:solidFill>
                <a:latin typeface="Calibri" pitchFamily="34" charset="0"/>
                <a:ea typeface="Calibri" pitchFamily="34" charset="-122"/>
                <a:cs typeface="Calibri" pitchFamily="34" charset="-120"/>
              </a:rPr>
              <a:t>Scope of the rules</a:t>
            </a:r>
            <a:endParaRPr lang="en-US" sz="1450" dirty="0"/>
          </a:p>
        </p:txBody>
      </p:sp>
      <p:sp>
        <p:nvSpPr>
          <p:cNvPr id="11" name="Text 9"/>
          <p:cNvSpPr/>
          <p:nvPr/>
        </p:nvSpPr>
        <p:spPr>
          <a:xfrm>
            <a:off x="3840480" y="3054096"/>
            <a:ext cx="7406640" cy="621792"/>
          </a:xfrm>
          <a:prstGeom prst="rect">
            <a:avLst/>
          </a:prstGeom>
          <a:noFill/>
          <a:ln/>
        </p:spPr>
        <p:txBody>
          <a:bodyPr wrap="square" lIns="0" tIns="0" rIns="0" bIns="0" rtlCol="0" anchor="ctr"/>
          <a:lstStyle/>
          <a:p>
            <a:pPr indent="0" marL="0">
              <a:lnSpc>
                <a:spcPts val="1700"/>
              </a:lnSpc>
              <a:buNone/>
            </a:pPr>
            <a:r>
              <a:rPr lang="en-US" sz="1300" dirty="0">
                <a:solidFill>
                  <a:srgbClr val="1F2430"/>
                </a:solidFill>
                <a:latin typeface="Calibri" pitchFamily="34" charset="0"/>
                <a:ea typeface="Calibri" pitchFamily="34" charset="-122"/>
                <a:cs typeface="Calibri" pitchFamily="34" charset="-120"/>
              </a:rPr>
              <a:t>Rules cover one kind of space only, so a university runs several systems and never sees the whole picture</a:t>
            </a:r>
            <a:endParaRPr lang="en-US" sz="1300" dirty="0"/>
          </a:p>
        </p:txBody>
      </p:sp>
      <p:sp>
        <p:nvSpPr>
          <p:cNvPr id="12" name="Text 10"/>
          <p:cNvSpPr/>
          <p:nvPr/>
        </p:nvSpPr>
        <p:spPr>
          <a:xfrm>
            <a:off x="932688" y="3840480"/>
            <a:ext cx="2743200" cy="621792"/>
          </a:xfrm>
          <a:prstGeom prst="rect">
            <a:avLst/>
          </a:prstGeom>
          <a:noFill/>
          <a:ln/>
        </p:spPr>
        <p:txBody>
          <a:bodyPr wrap="square" lIns="0" tIns="0" rIns="0" bIns="0" rtlCol="0" anchor="ctr"/>
          <a:lstStyle/>
          <a:p>
            <a:pPr indent="0" marL="0">
              <a:buNone/>
            </a:pPr>
            <a:r>
              <a:rPr lang="en-US" sz="1450" b="1" dirty="0">
                <a:solidFill>
                  <a:srgbClr val="9E2A2B"/>
                </a:solidFill>
                <a:latin typeface="Calibri" pitchFamily="34" charset="0"/>
                <a:ea typeface="Calibri" pitchFamily="34" charset="-122"/>
                <a:cs typeface="Calibri" pitchFamily="34" charset="-120"/>
              </a:rPr>
              <a:t>Failed requests</a:t>
            </a:r>
            <a:endParaRPr lang="en-US" sz="1450" dirty="0"/>
          </a:p>
        </p:txBody>
      </p:sp>
      <p:sp>
        <p:nvSpPr>
          <p:cNvPr id="13" name="Text 11"/>
          <p:cNvSpPr/>
          <p:nvPr/>
        </p:nvSpPr>
        <p:spPr>
          <a:xfrm>
            <a:off x="3840480" y="3840480"/>
            <a:ext cx="7406640" cy="621792"/>
          </a:xfrm>
          <a:prstGeom prst="rect">
            <a:avLst/>
          </a:prstGeom>
          <a:noFill/>
          <a:ln/>
        </p:spPr>
        <p:txBody>
          <a:bodyPr wrap="square" lIns="0" tIns="0" rIns="0" bIns="0" rtlCol="0" anchor="ctr"/>
          <a:lstStyle/>
          <a:p>
            <a:pPr indent="0" marL="0">
              <a:lnSpc>
                <a:spcPts val="1700"/>
              </a:lnSpc>
              <a:buNone/>
            </a:pPr>
            <a:r>
              <a:rPr lang="en-US" sz="1300" dirty="0">
                <a:solidFill>
                  <a:srgbClr val="1F2430"/>
                </a:solidFill>
                <a:latin typeface="Calibri" pitchFamily="34" charset="0"/>
                <a:ea typeface="Calibri" pitchFamily="34" charset="-122"/>
                <a:cs typeface="Calibri" pitchFamily="34" charset="-120"/>
              </a:rPr>
              <a:t>A refused booking ends there, so students hold extra slots they do not need as insurance</a:t>
            </a:r>
            <a:endParaRPr lang="en-US" sz="1300" dirty="0"/>
          </a:p>
        </p:txBody>
      </p:sp>
      <p:sp>
        <p:nvSpPr>
          <p:cNvPr id="14" name="Shape 12"/>
          <p:cNvSpPr/>
          <p:nvPr/>
        </p:nvSpPr>
        <p:spPr>
          <a:xfrm>
            <a:off x="685800" y="4572000"/>
            <a:ext cx="10789920" cy="731520"/>
          </a:xfrm>
          <a:prstGeom prst="rect">
            <a:avLst/>
          </a:prstGeom>
          <a:solidFill>
            <a:srgbClr val="F4F5F7"/>
          </a:solidFill>
          <a:ln/>
        </p:spPr>
      </p:sp>
      <p:sp>
        <p:nvSpPr>
          <p:cNvPr id="15" name="Text 13"/>
          <p:cNvSpPr/>
          <p:nvPr/>
        </p:nvSpPr>
        <p:spPr>
          <a:xfrm>
            <a:off x="932688" y="4626864"/>
            <a:ext cx="2743200" cy="621792"/>
          </a:xfrm>
          <a:prstGeom prst="rect">
            <a:avLst/>
          </a:prstGeom>
          <a:noFill/>
          <a:ln/>
        </p:spPr>
        <p:txBody>
          <a:bodyPr wrap="square" lIns="0" tIns="0" rIns="0" bIns="0" rtlCol="0" anchor="ctr"/>
          <a:lstStyle/>
          <a:p>
            <a:pPr indent="0" marL="0">
              <a:buNone/>
            </a:pPr>
            <a:r>
              <a:rPr lang="en-US" sz="1450" b="1" dirty="0">
                <a:solidFill>
                  <a:srgbClr val="9E2A2B"/>
                </a:solidFill>
                <a:latin typeface="Calibri" pitchFamily="34" charset="0"/>
                <a:ea typeface="Calibri" pitchFamily="34" charset="-122"/>
                <a:cs typeface="Calibri" pitchFamily="34" charset="-120"/>
              </a:rPr>
              <a:t>Where the rules live</a:t>
            </a:r>
            <a:endParaRPr lang="en-US" sz="1450" dirty="0"/>
          </a:p>
        </p:txBody>
      </p:sp>
      <p:sp>
        <p:nvSpPr>
          <p:cNvPr id="16" name="Text 14"/>
          <p:cNvSpPr/>
          <p:nvPr/>
        </p:nvSpPr>
        <p:spPr>
          <a:xfrm>
            <a:off x="3840480" y="4626864"/>
            <a:ext cx="7406640" cy="621792"/>
          </a:xfrm>
          <a:prstGeom prst="rect">
            <a:avLst/>
          </a:prstGeom>
          <a:noFill/>
          <a:ln/>
        </p:spPr>
        <p:txBody>
          <a:bodyPr wrap="square" lIns="0" tIns="0" rIns="0" bIns="0" rtlCol="0" anchor="ctr"/>
          <a:lstStyle/>
          <a:p>
            <a:pPr indent="0" marL="0">
              <a:lnSpc>
                <a:spcPts val="1700"/>
              </a:lnSpc>
              <a:buNone/>
            </a:pPr>
            <a:r>
              <a:rPr lang="en-US" sz="1300" dirty="0">
                <a:solidFill>
                  <a:srgbClr val="1F2430"/>
                </a:solidFill>
                <a:latin typeface="Calibri" pitchFamily="34" charset="0"/>
                <a:ea typeface="Calibri" pitchFamily="34" charset="-122"/>
                <a:cs typeface="Calibri" pitchFamily="34" charset="-120"/>
              </a:rPr>
              <a:t>Booking rules are published as text and applied by staff, not enforced by the software</a:t>
            </a:r>
            <a:endParaRPr lang="en-US" sz="1300" dirty="0"/>
          </a:p>
        </p:txBody>
      </p:sp>
      <p:sp>
        <p:nvSpPr>
          <p:cNvPr id="17" name="Text 15"/>
          <p:cNvSpPr/>
          <p:nvPr/>
        </p:nvSpPr>
        <p:spPr>
          <a:xfrm>
            <a:off x="932688" y="5413248"/>
            <a:ext cx="2743200" cy="621792"/>
          </a:xfrm>
          <a:prstGeom prst="rect">
            <a:avLst/>
          </a:prstGeom>
          <a:noFill/>
          <a:ln/>
        </p:spPr>
        <p:txBody>
          <a:bodyPr wrap="square" lIns="0" tIns="0" rIns="0" bIns="0" rtlCol="0" anchor="ctr"/>
          <a:lstStyle/>
          <a:p>
            <a:pPr indent="0" marL="0">
              <a:buNone/>
            </a:pPr>
            <a:r>
              <a:rPr lang="en-US" sz="1450" b="1" dirty="0">
                <a:solidFill>
                  <a:srgbClr val="9E2A2B"/>
                </a:solidFill>
                <a:latin typeface="Calibri" pitchFamily="34" charset="0"/>
                <a:ea typeface="Calibri" pitchFamily="34" charset="-122"/>
                <a:cs typeface="Calibri" pitchFamily="34" charset="-120"/>
              </a:rPr>
              <a:t>Data integrity</a:t>
            </a:r>
            <a:endParaRPr lang="en-US" sz="1450" dirty="0"/>
          </a:p>
        </p:txBody>
      </p:sp>
      <p:sp>
        <p:nvSpPr>
          <p:cNvPr id="18" name="Text 16"/>
          <p:cNvSpPr/>
          <p:nvPr/>
        </p:nvSpPr>
        <p:spPr>
          <a:xfrm>
            <a:off x="3840480" y="5413248"/>
            <a:ext cx="7406640" cy="621792"/>
          </a:xfrm>
          <a:prstGeom prst="rect">
            <a:avLst/>
          </a:prstGeom>
          <a:noFill/>
          <a:ln/>
        </p:spPr>
        <p:txBody>
          <a:bodyPr wrap="square" lIns="0" tIns="0" rIns="0" bIns="0" rtlCol="0" anchor="ctr"/>
          <a:lstStyle/>
          <a:p>
            <a:pPr indent="0" marL="0">
              <a:lnSpc>
                <a:spcPts val="1700"/>
              </a:lnSpc>
              <a:buNone/>
            </a:pPr>
            <a:r>
              <a:rPr lang="en-US" sz="1300" dirty="0">
                <a:solidFill>
                  <a:srgbClr val="1F2430"/>
                </a:solidFill>
                <a:latin typeface="Calibri" pitchFamily="34" charset="0"/>
                <a:ea typeface="Calibri" pitchFamily="34" charset="-122"/>
                <a:cs typeface="Calibri" pitchFamily="34" charset="-120"/>
              </a:rPr>
              <a:t>Two bookings made in the same instant can both succeed, because the check sits in the application, not the database</a:t>
            </a:r>
            <a:endParaRPr lang="en-US" sz="1300" dirty="0"/>
          </a:p>
        </p:txBody>
      </p:sp>
      <p:sp>
        <p:nvSpPr>
          <p:cNvPr id="19" name="Text 17"/>
          <p:cNvSpPr/>
          <p:nvPr/>
        </p:nvSpPr>
        <p:spPr>
          <a:xfrm>
            <a:off x="685800" y="6263640"/>
            <a:ext cx="10789920" cy="402336"/>
          </a:xfrm>
          <a:prstGeom prst="rect">
            <a:avLst/>
          </a:prstGeom>
          <a:noFill/>
          <a:ln/>
        </p:spPr>
        <p:txBody>
          <a:bodyPr wrap="square" lIns="0" tIns="0" rIns="0" bIns="0" rtlCol="0" anchor="t"/>
          <a:lstStyle/>
          <a:p>
            <a:pPr indent="0" marL="0">
              <a:lnSpc>
                <a:spcPts val="1800"/>
              </a:lnSpc>
              <a:buNone/>
            </a:pPr>
            <a:r>
              <a:rPr lang="en-US" sz="1350" dirty="0">
                <a:solidFill>
                  <a:srgbClr val="6E1B1C"/>
                </a:solidFill>
                <a:latin typeface="Calibri" pitchFamily="34" charset="0"/>
                <a:ea typeface="Calibri" pitchFamily="34" charset="-122"/>
                <a:cs typeface="Calibri" pitchFamily="34" charset="-120"/>
              </a:rPr>
              <a:t>Allocation is therefore settled by staff intervention (Sunway University, 2026), and the university holds no reliable record of how its own space is used.</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48640" cy="548640"/>
          </a:xfrm>
          <a:prstGeom prst="ellipse">
            <a:avLst/>
          </a:prstGeom>
          <a:solidFill>
            <a:srgbClr val="9E2A2B"/>
          </a:solidFill>
          <a:ln/>
        </p:spPr>
      </p:sp>
      <p:sp>
        <p:nvSpPr>
          <p:cNvPr id="3" name="Text 1"/>
          <p:cNvSpPr/>
          <p:nvPr/>
        </p:nvSpPr>
        <p:spPr>
          <a:xfrm>
            <a:off x="566928" y="384048"/>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4" name="Text 2"/>
          <p:cNvSpPr/>
          <p:nvPr/>
        </p:nvSpPr>
        <p:spPr>
          <a:xfrm>
            <a:off x="1298448" y="329184"/>
            <a:ext cx="10241280" cy="256032"/>
          </a:xfrm>
          <a:prstGeom prst="rect">
            <a:avLst/>
          </a:prstGeom>
          <a:noFill/>
          <a:ln/>
        </p:spPr>
        <p:txBody>
          <a:bodyPr wrap="square" lIns="0" tIns="0" rIns="0" bIns="0" rtlCol="0" anchor="ctr"/>
          <a:lstStyle/>
          <a:p>
            <a:pPr indent="0" marL="0">
              <a:buNone/>
            </a:pPr>
            <a:r>
              <a:rPr lang="en-US" sz="1100" spc="200" kern="0" dirty="0">
                <a:solidFill>
                  <a:srgbClr val="9E2A2B"/>
                </a:solidFill>
                <a:latin typeface="Calibri" pitchFamily="34" charset="0"/>
                <a:ea typeface="Calibri" pitchFamily="34" charset="-122"/>
                <a:cs typeface="Calibri" pitchFamily="34" charset="-120"/>
              </a:rPr>
              <a:t>AIM AND OBJECTIVES</a:t>
            </a:r>
            <a:endParaRPr lang="en-US" sz="1100" dirty="0"/>
          </a:p>
        </p:txBody>
      </p:sp>
      <p:sp>
        <p:nvSpPr>
          <p:cNvPr id="5" name="Text 3"/>
          <p:cNvSpPr/>
          <p:nvPr/>
        </p:nvSpPr>
        <p:spPr>
          <a:xfrm>
            <a:off x="1298448" y="566928"/>
            <a:ext cx="10241280" cy="502920"/>
          </a:xfrm>
          <a:prstGeom prst="rect">
            <a:avLst/>
          </a:prstGeom>
          <a:noFill/>
          <a:ln/>
        </p:spPr>
        <p:txBody>
          <a:bodyPr wrap="square" lIns="0" tIns="0" rIns="0" bIns="0" rtlCol="0" anchor="ctr"/>
          <a:lstStyle/>
          <a:p>
            <a:pPr indent="0" marL="0">
              <a:buNone/>
            </a:pPr>
            <a:r>
              <a:rPr lang="en-US" sz="2900" b="1" dirty="0">
                <a:solidFill>
                  <a:srgbClr val="1F2430"/>
                </a:solidFill>
                <a:latin typeface="Cambria" pitchFamily="34" charset="0"/>
                <a:ea typeface="Cambria" pitchFamily="34" charset="-122"/>
                <a:cs typeface="Cambria" pitchFamily="34" charset="-120"/>
              </a:rPr>
              <a:t>Aim and objectives</a:t>
            </a:r>
            <a:endParaRPr lang="en-US" sz="2900" dirty="0"/>
          </a:p>
        </p:txBody>
      </p:sp>
      <p:sp>
        <p:nvSpPr>
          <p:cNvPr id="6" name="Shape 4"/>
          <p:cNvSpPr/>
          <p:nvPr/>
        </p:nvSpPr>
        <p:spPr>
          <a:xfrm>
            <a:off x="685800" y="1371600"/>
            <a:ext cx="10789920" cy="1097280"/>
          </a:xfrm>
          <a:prstGeom prst="roundRect">
            <a:avLst>
              <a:gd name="adj" fmla="val 7500"/>
            </a:avLst>
          </a:prstGeom>
          <a:solidFill>
            <a:srgbClr val="F3E4E4"/>
          </a:solidFill>
          <a:ln w="9525">
            <a:solidFill>
              <a:srgbClr val="E2E4E8"/>
            </a:solidFill>
            <a:prstDash val="solid"/>
          </a:ln>
        </p:spPr>
      </p:sp>
      <p:sp>
        <p:nvSpPr>
          <p:cNvPr id="7" name="Text 5"/>
          <p:cNvSpPr/>
          <p:nvPr/>
        </p:nvSpPr>
        <p:spPr>
          <a:xfrm>
            <a:off x="932688" y="1499616"/>
            <a:ext cx="1097280" cy="256032"/>
          </a:xfrm>
          <a:prstGeom prst="rect">
            <a:avLst/>
          </a:prstGeom>
          <a:noFill/>
          <a:ln/>
        </p:spPr>
        <p:txBody>
          <a:bodyPr wrap="square" lIns="0" tIns="0" rIns="0" bIns="0" rtlCol="0" anchor="ctr"/>
          <a:lstStyle/>
          <a:p>
            <a:pPr indent="0" marL="0">
              <a:buNone/>
            </a:pPr>
            <a:r>
              <a:rPr lang="en-US" sz="1100" b="1" spc="200" kern="0" dirty="0">
                <a:solidFill>
                  <a:srgbClr val="9E2A2B"/>
                </a:solidFill>
                <a:latin typeface="Calibri" pitchFamily="34" charset="0"/>
                <a:ea typeface="Calibri" pitchFamily="34" charset="-122"/>
                <a:cs typeface="Calibri" pitchFamily="34" charset="-120"/>
              </a:rPr>
              <a:t>AIM</a:t>
            </a:r>
            <a:endParaRPr lang="en-US" sz="1100" dirty="0"/>
          </a:p>
        </p:txBody>
      </p:sp>
      <p:sp>
        <p:nvSpPr>
          <p:cNvPr id="8" name="Text 6"/>
          <p:cNvSpPr/>
          <p:nvPr/>
        </p:nvSpPr>
        <p:spPr>
          <a:xfrm>
            <a:off x="932688" y="1737360"/>
            <a:ext cx="10332720" cy="658368"/>
          </a:xfrm>
          <a:prstGeom prst="rect">
            <a:avLst/>
          </a:prstGeom>
          <a:noFill/>
          <a:ln/>
        </p:spPr>
        <p:txBody>
          <a:bodyPr wrap="square" lIns="0" tIns="0" rIns="0" bIns="0" rtlCol="0" anchor="t"/>
          <a:lstStyle/>
          <a:p>
            <a:pPr indent="0" marL="0">
              <a:lnSpc>
                <a:spcPts val="1900"/>
              </a:lnSpc>
              <a:buNone/>
            </a:pPr>
            <a:r>
              <a:rPr lang="en-US" sz="1400" dirty="0">
                <a:solidFill>
                  <a:srgbClr val="1F2430"/>
                </a:solidFill>
                <a:latin typeface="Calibri" pitchFamily="34" charset="0"/>
                <a:ea typeface="Calibri" pitchFamily="34" charset="-122"/>
                <a:cs typeface="Calibri" pitchFamily="34" charset="-120"/>
              </a:rPr>
              <a:t>One booking system for every kind of campus space: staff set the rules without a developer, the database refuses to double-book, a refused request returns ranked alternatives, and availability questions are answered in plain English.</a:t>
            </a:r>
            <a:endParaRPr lang="en-US" sz="1400" dirty="0"/>
          </a:p>
        </p:txBody>
      </p:sp>
      <p:sp>
        <p:nvSpPr>
          <p:cNvPr id="9" name="Shape 7"/>
          <p:cNvSpPr/>
          <p:nvPr/>
        </p:nvSpPr>
        <p:spPr>
          <a:xfrm>
            <a:off x="685800" y="2670048"/>
            <a:ext cx="658368" cy="658368"/>
          </a:xfrm>
          <a:prstGeom prst="roundRect">
            <a:avLst>
              <a:gd name="adj" fmla="val 11111"/>
            </a:avLst>
          </a:prstGeom>
          <a:solidFill>
            <a:srgbClr val="9E2A2B"/>
          </a:solidFill>
          <a:ln/>
        </p:spPr>
      </p:sp>
      <p:sp>
        <p:nvSpPr>
          <p:cNvPr id="10" name="Text 8"/>
          <p:cNvSpPr/>
          <p:nvPr/>
        </p:nvSpPr>
        <p:spPr>
          <a:xfrm>
            <a:off x="685800" y="2670048"/>
            <a:ext cx="658368"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01</a:t>
            </a:r>
            <a:endParaRPr lang="en-US" sz="1500" dirty="0"/>
          </a:p>
        </p:txBody>
      </p:sp>
      <p:sp>
        <p:nvSpPr>
          <p:cNvPr id="11" name="Text 9"/>
          <p:cNvSpPr/>
          <p:nvPr/>
        </p:nvSpPr>
        <p:spPr>
          <a:xfrm>
            <a:off x="1481328" y="2688336"/>
            <a:ext cx="9966960" cy="621792"/>
          </a:xfrm>
          <a:prstGeom prst="rect">
            <a:avLst/>
          </a:prstGeom>
          <a:noFill/>
          <a:ln/>
        </p:spPr>
        <p:txBody>
          <a:bodyPr wrap="square" lIns="0" tIns="0" rIns="0" bIns="0" rtlCol="0" anchor="ctr"/>
          <a:lstStyle/>
          <a:p>
            <a:pPr indent="0" marL="0">
              <a:lnSpc>
                <a:spcPts val="1900"/>
              </a:lnSpc>
              <a:buNone/>
            </a:pPr>
            <a:r>
              <a:rPr lang="en-US" sz="1400" b="1" dirty="0">
                <a:solidFill>
                  <a:srgbClr val="6E1B1C"/>
                </a:solidFill>
                <a:latin typeface="Calibri" pitchFamily="34" charset="0"/>
                <a:ea typeface="Calibri" pitchFamily="34" charset="-122"/>
                <a:cs typeface="Calibri" pitchFamily="34" charset="-120"/>
              </a:rPr>
              <a:t>Design  </a:t>
            </a:r>
            <a:pPr indent="0" marL="0">
              <a:lnSpc>
                <a:spcPts val="1900"/>
              </a:lnSpc>
              <a:buNone/>
            </a:pPr>
            <a:r>
              <a:rPr lang="en-US" sz="1400" dirty="0">
                <a:solidFill>
                  <a:srgbClr val="1F2430"/>
                </a:solidFill>
                <a:latin typeface="Calibri" pitchFamily="34" charset="0"/>
                <a:ea typeface="Calibri" pitchFamily="34" charset="-122"/>
                <a:cs typeface="Calibri" pitchFamily="34" charset="-120"/>
              </a:rPr>
              <a:t>a rule model where a facility type holds the rules and its rooms follow, with one room able to override one value</a:t>
            </a:r>
            <a:endParaRPr lang="en-US" sz="1400" dirty="0"/>
          </a:p>
        </p:txBody>
      </p:sp>
      <p:sp>
        <p:nvSpPr>
          <p:cNvPr id="12" name="Shape 10"/>
          <p:cNvSpPr/>
          <p:nvPr/>
        </p:nvSpPr>
        <p:spPr>
          <a:xfrm>
            <a:off x="685800" y="3456432"/>
            <a:ext cx="658368" cy="658368"/>
          </a:xfrm>
          <a:prstGeom prst="roundRect">
            <a:avLst>
              <a:gd name="adj" fmla="val 11111"/>
            </a:avLst>
          </a:prstGeom>
          <a:solidFill>
            <a:srgbClr val="9E2A2B"/>
          </a:solidFill>
          <a:ln/>
        </p:spPr>
      </p:sp>
      <p:sp>
        <p:nvSpPr>
          <p:cNvPr id="13" name="Text 11"/>
          <p:cNvSpPr/>
          <p:nvPr/>
        </p:nvSpPr>
        <p:spPr>
          <a:xfrm>
            <a:off x="685800" y="3456432"/>
            <a:ext cx="658368"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02</a:t>
            </a:r>
            <a:endParaRPr lang="en-US" sz="1500" dirty="0"/>
          </a:p>
        </p:txBody>
      </p:sp>
      <p:sp>
        <p:nvSpPr>
          <p:cNvPr id="14" name="Text 12"/>
          <p:cNvSpPr/>
          <p:nvPr/>
        </p:nvSpPr>
        <p:spPr>
          <a:xfrm>
            <a:off x="1481328" y="3474720"/>
            <a:ext cx="9966960" cy="621792"/>
          </a:xfrm>
          <a:prstGeom prst="rect">
            <a:avLst/>
          </a:prstGeom>
          <a:noFill/>
          <a:ln/>
        </p:spPr>
        <p:txBody>
          <a:bodyPr wrap="square" lIns="0" tIns="0" rIns="0" bIns="0" rtlCol="0" anchor="ctr"/>
          <a:lstStyle/>
          <a:p>
            <a:pPr indent="0" marL="0">
              <a:lnSpc>
                <a:spcPts val="1900"/>
              </a:lnSpc>
              <a:buNone/>
            </a:pPr>
            <a:r>
              <a:rPr lang="en-US" sz="1400" b="1" dirty="0">
                <a:solidFill>
                  <a:srgbClr val="6E1B1C"/>
                </a:solidFill>
                <a:latin typeface="Calibri" pitchFamily="34" charset="0"/>
                <a:ea typeface="Calibri" pitchFamily="34" charset="-122"/>
                <a:cs typeface="Calibri" pitchFamily="34" charset="-120"/>
              </a:rPr>
              <a:t>Build  </a:t>
            </a:r>
            <a:pPr indent="0" marL="0">
              <a:lnSpc>
                <a:spcPts val="1900"/>
              </a:lnSpc>
              <a:buNone/>
            </a:pPr>
            <a:r>
              <a:rPr lang="en-US" sz="1400" dirty="0">
                <a:solidFill>
                  <a:srgbClr val="1F2430"/>
                </a:solidFill>
                <a:latin typeface="Calibri" pitchFamily="34" charset="0"/>
                <a:ea typeface="Calibri" pitchFamily="34" charset="-122"/>
                <a:cs typeface="Calibri" pitchFamily="34" charset="-120"/>
              </a:rPr>
              <a:t>the no-clash rule into the database itself, so it holds no matter what the app does</a:t>
            </a:r>
            <a:endParaRPr lang="en-US" sz="1400" dirty="0"/>
          </a:p>
        </p:txBody>
      </p:sp>
      <p:sp>
        <p:nvSpPr>
          <p:cNvPr id="15" name="Shape 13"/>
          <p:cNvSpPr/>
          <p:nvPr/>
        </p:nvSpPr>
        <p:spPr>
          <a:xfrm>
            <a:off x="685800" y="4242816"/>
            <a:ext cx="658368" cy="658368"/>
          </a:xfrm>
          <a:prstGeom prst="roundRect">
            <a:avLst>
              <a:gd name="adj" fmla="val 11111"/>
            </a:avLst>
          </a:prstGeom>
          <a:solidFill>
            <a:srgbClr val="9E2A2B"/>
          </a:solidFill>
          <a:ln/>
        </p:spPr>
      </p:sp>
      <p:sp>
        <p:nvSpPr>
          <p:cNvPr id="16" name="Text 14"/>
          <p:cNvSpPr/>
          <p:nvPr/>
        </p:nvSpPr>
        <p:spPr>
          <a:xfrm>
            <a:off x="685800" y="4242816"/>
            <a:ext cx="658368"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03</a:t>
            </a:r>
            <a:endParaRPr lang="en-US" sz="1500" dirty="0"/>
          </a:p>
        </p:txBody>
      </p:sp>
      <p:sp>
        <p:nvSpPr>
          <p:cNvPr id="17" name="Text 15"/>
          <p:cNvSpPr/>
          <p:nvPr/>
        </p:nvSpPr>
        <p:spPr>
          <a:xfrm>
            <a:off x="1481328" y="4261104"/>
            <a:ext cx="9966960" cy="621792"/>
          </a:xfrm>
          <a:prstGeom prst="rect">
            <a:avLst/>
          </a:prstGeom>
          <a:noFill/>
          <a:ln/>
        </p:spPr>
        <p:txBody>
          <a:bodyPr wrap="square" lIns="0" tIns="0" rIns="0" bIns="0" rtlCol="0" anchor="ctr"/>
          <a:lstStyle/>
          <a:p>
            <a:pPr indent="0" marL="0">
              <a:lnSpc>
                <a:spcPts val="1900"/>
              </a:lnSpc>
              <a:buNone/>
            </a:pPr>
            <a:r>
              <a:rPr lang="en-US" sz="1400" b="1" dirty="0">
                <a:solidFill>
                  <a:srgbClr val="6E1B1C"/>
                </a:solidFill>
                <a:latin typeface="Calibri" pitchFamily="34" charset="0"/>
                <a:ea typeface="Calibri" pitchFamily="34" charset="-122"/>
                <a:cs typeface="Calibri" pitchFamily="34" charset="-120"/>
              </a:rPr>
              <a:t>Construct  </a:t>
            </a:r>
            <a:pPr indent="0" marL="0">
              <a:lnSpc>
                <a:spcPts val="1900"/>
              </a:lnSpc>
              <a:buNone/>
            </a:pPr>
            <a:r>
              <a:rPr lang="en-US" sz="1400" dirty="0">
                <a:solidFill>
                  <a:srgbClr val="1F2430"/>
                </a:solidFill>
                <a:latin typeface="Calibri" pitchFamily="34" charset="0"/>
                <a:ea typeface="Calibri" pitchFamily="34" charset="-122"/>
                <a:cs typeface="Calibri" pitchFamily="34" charset="-120"/>
              </a:rPr>
              <a:t>an engine that answers a refused booking with ranked alternatives, and adapts to each student</a:t>
            </a:r>
            <a:endParaRPr lang="en-US" sz="1400" dirty="0"/>
          </a:p>
        </p:txBody>
      </p:sp>
      <p:sp>
        <p:nvSpPr>
          <p:cNvPr id="18" name="Shape 16"/>
          <p:cNvSpPr/>
          <p:nvPr/>
        </p:nvSpPr>
        <p:spPr>
          <a:xfrm>
            <a:off x="685800" y="5029200"/>
            <a:ext cx="658368" cy="658368"/>
          </a:xfrm>
          <a:prstGeom prst="roundRect">
            <a:avLst>
              <a:gd name="adj" fmla="val 11111"/>
            </a:avLst>
          </a:prstGeom>
          <a:solidFill>
            <a:srgbClr val="9E2A2B"/>
          </a:solidFill>
          <a:ln/>
        </p:spPr>
      </p:sp>
      <p:sp>
        <p:nvSpPr>
          <p:cNvPr id="19" name="Text 17"/>
          <p:cNvSpPr/>
          <p:nvPr/>
        </p:nvSpPr>
        <p:spPr>
          <a:xfrm>
            <a:off x="685800" y="5029200"/>
            <a:ext cx="658368"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04</a:t>
            </a:r>
            <a:endParaRPr lang="en-US" sz="1500" dirty="0"/>
          </a:p>
        </p:txBody>
      </p:sp>
      <p:sp>
        <p:nvSpPr>
          <p:cNvPr id="20" name="Text 18"/>
          <p:cNvSpPr/>
          <p:nvPr/>
        </p:nvSpPr>
        <p:spPr>
          <a:xfrm>
            <a:off x="1481328" y="5047488"/>
            <a:ext cx="9966960" cy="621792"/>
          </a:xfrm>
          <a:prstGeom prst="rect">
            <a:avLst/>
          </a:prstGeom>
          <a:noFill/>
          <a:ln/>
        </p:spPr>
        <p:txBody>
          <a:bodyPr wrap="square" lIns="0" tIns="0" rIns="0" bIns="0" rtlCol="0" anchor="ctr"/>
          <a:lstStyle/>
          <a:p>
            <a:pPr indent="0" marL="0">
              <a:lnSpc>
                <a:spcPts val="1900"/>
              </a:lnSpc>
              <a:buNone/>
            </a:pPr>
            <a:r>
              <a:rPr lang="en-US" sz="1400" b="1" dirty="0">
                <a:solidFill>
                  <a:srgbClr val="6E1B1C"/>
                </a:solidFill>
                <a:latin typeface="Calibri" pitchFamily="34" charset="0"/>
                <a:ea typeface="Calibri" pitchFamily="34" charset="-122"/>
                <a:cs typeface="Calibri" pitchFamily="34" charset="-120"/>
              </a:rPr>
              <a:t>Develop  </a:t>
            </a:r>
            <a:pPr indent="0" marL="0">
              <a:lnSpc>
                <a:spcPts val="1900"/>
              </a:lnSpc>
              <a:buNone/>
            </a:pPr>
            <a:r>
              <a:rPr lang="en-US" sz="1400" dirty="0">
                <a:solidFill>
                  <a:srgbClr val="1F2430"/>
                </a:solidFill>
                <a:latin typeface="Calibri" pitchFamily="34" charset="0"/>
                <a:ea typeface="Calibri" pitchFamily="34" charset="-122"/>
                <a:cs typeface="Calibri" pitchFamily="34" charset="-120"/>
              </a:rPr>
              <a:t>an assistant that cannot fabricate or leak data, by construction rather than by instruction</a:t>
            </a:r>
            <a:endParaRPr lang="en-US" sz="1400" dirty="0"/>
          </a:p>
        </p:txBody>
      </p:sp>
      <p:sp>
        <p:nvSpPr>
          <p:cNvPr id="21" name="Shape 19"/>
          <p:cNvSpPr/>
          <p:nvPr/>
        </p:nvSpPr>
        <p:spPr>
          <a:xfrm>
            <a:off x="685800" y="5815584"/>
            <a:ext cx="658368" cy="658368"/>
          </a:xfrm>
          <a:prstGeom prst="roundRect">
            <a:avLst>
              <a:gd name="adj" fmla="val 11111"/>
            </a:avLst>
          </a:prstGeom>
          <a:solidFill>
            <a:srgbClr val="9E2A2B"/>
          </a:solidFill>
          <a:ln/>
        </p:spPr>
      </p:sp>
      <p:sp>
        <p:nvSpPr>
          <p:cNvPr id="22" name="Text 20"/>
          <p:cNvSpPr/>
          <p:nvPr/>
        </p:nvSpPr>
        <p:spPr>
          <a:xfrm>
            <a:off x="685800" y="5815584"/>
            <a:ext cx="658368"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05</a:t>
            </a:r>
            <a:endParaRPr lang="en-US" sz="1500" dirty="0"/>
          </a:p>
        </p:txBody>
      </p:sp>
      <p:sp>
        <p:nvSpPr>
          <p:cNvPr id="23" name="Text 21"/>
          <p:cNvSpPr/>
          <p:nvPr/>
        </p:nvSpPr>
        <p:spPr>
          <a:xfrm>
            <a:off x="1481328" y="5833872"/>
            <a:ext cx="9966960" cy="621792"/>
          </a:xfrm>
          <a:prstGeom prst="rect">
            <a:avLst/>
          </a:prstGeom>
          <a:noFill/>
          <a:ln/>
        </p:spPr>
        <p:txBody>
          <a:bodyPr wrap="square" lIns="0" tIns="0" rIns="0" bIns="0" rtlCol="0" anchor="ctr"/>
          <a:lstStyle/>
          <a:p>
            <a:pPr indent="0" marL="0">
              <a:lnSpc>
                <a:spcPts val="1900"/>
              </a:lnSpc>
              <a:buNone/>
            </a:pPr>
            <a:r>
              <a:rPr lang="en-US" sz="1400" b="1" dirty="0">
                <a:solidFill>
                  <a:srgbClr val="6E1B1C"/>
                </a:solidFill>
                <a:latin typeface="Calibri" pitchFamily="34" charset="0"/>
                <a:ea typeface="Calibri" pitchFamily="34" charset="-122"/>
                <a:cs typeface="Calibri" pitchFamily="34" charset="-120"/>
              </a:rPr>
              <a:t>Evaluate  </a:t>
            </a:r>
            <a:pPr indent="0" marL="0">
              <a:lnSpc>
                <a:spcPts val="1900"/>
              </a:lnSpc>
              <a:buNone/>
            </a:pPr>
            <a:r>
              <a:rPr lang="en-US" sz="1400" dirty="0">
                <a:solidFill>
                  <a:srgbClr val="1F2430"/>
                </a:solidFill>
                <a:latin typeface="Calibri" pitchFamily="34" charset="0"/>
                <a:ea typeface="Calibri" pitchFamily="34" charset="-122"/>
                <a:cs typeface="Calibri" pitchFamily="34" charset="-120"/>
              </a:rPr>
              <a:t>against fixed targets: zero clashes, acceptance rate, answer accuracy, no-show rate, usability above 68</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48640" cy="548640"/>
          </a:xfrm>
          <a:prstGeom prst="ellipse">
            <a:avLst/>
          </a:prstGeom>
          <a:solidFill>
            <a:srgbClr val="9E2A2B"/>
          </a:solidFill>
          <a:ln/>
        </p:spPr>
      </p:sp>
      <p:sp>
        <p:nvSpPr>
          <p:cNvPr id="3" name="Text 1"/>
          <p:cNvSpPr/>
          <p:nvPr/>
        </p:nvSpPr>
        <p:spPr>
          <a:xfrm>
            <a:off x="566928" y="384048"/>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4" name="Text 2"/>
          <p:cNvSpPr/>
          <p:nvPr/>
        </p:nvSpPr>
        <p:spPr>
          <a:xfrm>
            <a:off x="1298448" y="329184"/>
            <a:ext cx="10241280" cy="256032"/>
          </a:xfrm>
          <a:prstGeom prst="rect">
            <a:avLst/>
          </a:prstGeom>
          <a:noFill/>
          <a:ln/>
        </p:spPr>
        <p:txBody>
          <a:bodyPr wrap="square" lIns="0" tIns="0" rIns="0" bIns="0" rtlCol="0" anchor="ctr"/>
          <a:lstStyle/>
          <a:p>
            <a:pPr indent="0" marL="0">
              <a:buNone/>
            </a:pPr>
            <a:r>
              <a:rPr lang="en-US" sz="1100" spc="200" kern="0" dirty="0">
                <a:solidFill>
                  <a:srgbClr val="9E2A2B"/>
                </a:solidFill>
                <a:latin typeface="Calibri" pitchFamily="34" charset="0"/>
                <a:ea typeface="Calibri" pitchFamily="34" charset="-122"/>
                <a:cs typeface="Calibri" pitchFamily="34" charset="-120"/>
              </a:rPr>
              <a:t>JUSTIFICATION</a:t>
            </a:r>
            <a:endParaRPr lang="en-US" sz="1100" dirty="0"/>
          </a:p>
        </p:txBody>
      </p:sp>
      <p:sp>
        <p:nvSpPr>
          <p:cNvPr id="5" name="Text 3"/>
          <p:cNvSpPr/>
          <p:nvPr/>
        </p:nvSpPr>
        <p:spPr>
          <a:xfrm>
            <a:off x="1298448" y="566928"/>
            <a:ext cx="10241280" cy="502920"/>
          </a:xfrm>
          <a:prstGeom prst="rect">
            <a:avLst/>
          </a:prstGeom>
          <a:noFill/>
          <a:ln/>
        </p:spPr>
        <p:txBody>
          <a:bodyPr wrap="square" lIns="0" tIns="0" rIns="0" bIns="0" rtlCol="0" anchor="ctr"/>
          <a:lstStyle/>
          <a:p>
            <a:pPr indent="0" marL="0">
              <a:buNone/>
            </a:pPr>
            <a:r>
              <a:rPr lang="en-US" sz="2900" b="1" dirty="0">
                <a:solidFill>
                  <a:srgbClr val="1F2430"/>
                </a:solidFill>
                <a:latin typeface="Cambria" pitchFamily="34" charset="0"/>
                <a:ea typeface="Cambria" pitchFamily="34" charset="-122"/>
                <a:cs typeface="Cambria" pitchFamily="34" charset="-120"/>
              </a:rPr>
              <a:t>Justification</a:t>
            </a:r>
            <a:endParaRPr lang="en-US" sz="2900" dirty="0"/>
          </a:p>
        </p:txBody>
      </p:sp>
      <p:sp>
        <p:nvSpPr>
          <p:cNvPr id="6" name="Shape 4"/>
          <p:cNvSpPr/>
          <p:nvPr/>
        </p:nvSpPr>
        <p:spPr>
          <a:xfrm>
            <a:off x="685800" y="1371600"/>
            <a:ext cx="3493008" cy="1828800"/>
          </a:xfrm>
          <a:prstGeom prst="roundRect">
            <a:avLst>
              <a:gd name="adj" fmla="val 4500"/>
            </a:avLst>
          </a:prstGeom>
          <a:solidFill>
            <a:srgbClr val="F4F5F7"/>
          </a:solidFill>
          <a:ln w="9525">
            <a:solidFill>
              <a:srgbClr val="E2E4E8"/>
            </a:solidFill>
            <a:prstDash val="solid"/>
          </a:ln>
        </p:spPr>
      </p:sp>
      <p:sp>
        <p:nvSpPr>
          <p:cNvPr id="7" name="Text 5"/>
          <p:cNvSpPr/>
          <p:nvPr/>
        </p:nvSpPr>
        <p:spPr>
          <a:xfrm>
            <a:off x="941832" y="1554480"/>
            <a:ext cx="3017520" cy="310896"/>
          </a:xfrm>
          <a:prstGeom prst="rect">
            <a:avLst/>
          </a:prstGeom>
          <a:noFill/>
          <a:ln/>
        </p:spPr>
        <p:txBody>
          <a:bodyPr wrap="square" lIns="0" tIns="0" rIns="0" bIns="0" rtlCol="0" anchor="ctr"/>
          <a:lstStyle/>
          <a:p>
            <a:pPr indent="0" marL="0">
              <a:buNone/>
            </a:pPr>
            <a:r>
              <a:rPr lang="en-US" sz="1500" b="1" dirty="0">
                <a:solidFill>
                  <a:srgbClr val="9E2A2B"/>
                </a:solidFill>
                <a:latin typeface="Calibri" pitchFamily="34" charset="0"/>
                <a:ea typeface="Calibri" pitchFamily="34" charset="-122"/>
                <a:cs typeface="Calibri" pitchFamily="34" charset="-120"/>
              </a:rPr>
              <a:t>Operational</a:t>
            </a:r>
            <a:endParaRPr lang="en-US" sz="1500" dirty="0"/>
          </a:p>
        </p:txBody>
      </p:sp>
      <p:sp>
        <p:nvSpPr>
          <p:cNvPr id="8" name="Text 6"/>
          <p:cNvSpPr/>
          <p:nvPr/>
        </p:nvSpPr>
        <p:spPr>
          <a:xfrm>
            <a:off x="941832" y="1920240"/>
            <a:ext cx="3035808" cy="1463040"/>
          </a:xfrm>
          <a:prstGeom prst="rect">
            <a:avLst/>
          </a:prstGeom>
          <a:noFill/>
          <a:ln/>
        </p:spPr>
        <p:txBody>
          <a:bodyPr wrap="square" lIns="0" tIns="0" rIns="0" bIns="0" rtlCol="0" anchor="t"/>
          <a:lstStyle/>
          <a:p>
            <a:pPr indent="0" marL="0">
              <a:lnSpc>
                <a:spcPts val="1800"/>
              </a:lnSpc>
              <a:buNone/>
            </a:pPr>
            <a:r>
              <a:rPr lang="en-US" sz="1300" dirty="0">
                <a:solidFill>
                  <a:srgbClr val="1F2430"/>
                </a:solidFill>
                <a:latin typeface="Calibri" pitchFamily="34" charset="0"/>
                <a:ea typeface="Calibri" pitchFamily="34" charset="-122"/>
                <a:cs typeface="Calibri" pitchFamily="34" charset="-120"/>
              </a:rPr>
              <a:t>Every rule the software applies is one staff no longer enforce by hand, and every unused booking it surfaces is space the university can reclaim</a:t>
            </a:r>
            <a:endParaRPr lang="en-US" sz="1300" dirty="0"/>
          </a:p>
        </p:txBody>
      </p:sp>
      <p:sp>
        <p:nvSpPr>
          <p:cNvPr id="9" name="Shape 7"/>
          <p:cNvSpPr/>
          <p:nvPr/>
        </p:nvSpPr>
        <p:spPr>
          <a:xfrm>
            <a:off x="4361688" y="1371600"/>
            <a:ext cx="3493008" cy="1828800"/>
          </a:xfrm>
          <a:prstGeom prst="roundRect">
            <a:avLst>
              <a:gd name="adj" fmla="val 4500"/>
            </a:avLst>
          </a:prstGeom>
          <a:solidFill>
            <a:srgbClr val="F4F5F7"/>
          </a:solidFill>
          <a:ln w="9525">
            <a:solidFill>
              <a:srgbClr val="E2E4E8"/>
            </a:solidFill>
            <a:prstDash val="solid"/>
          </a:ln>
        </p:spPr>
      </p:sp>
      <p:sp>
        <p:nvSpPr>
          <p:cNvPr id="10" name="Text 8"/>
          <p:cNvSpPr/>
          <p:nvPr/>
        </p:nvSpPr>
        <p:spPr>
          <a:xfrm>
            <a:off x="4617720" y="1554480"/>
            <a:ext cx="3017520" cy="310896"/>
          </a:xfrm>
          <a:prstGeom prst="rect">
            <a:avLst/>
          </a:prstGeom>
          <a:noFill/>
          <a:ln/>
        </p:spPr>
        <p:txBody>
          <a:bodyPr wrap="square" lIns="0" tIns="0" rIns="0" bIns="0" rtlCol="0" anchor="ctr"/>
          <a:lstStyle/>
          <a:p>
            <a:pPr indent="0" marL="0">
              <a:buNone/>
            </a:pPr>
            <a:r>
              <a:rPr lang="en-US" sz="1500" b="1" dirty="0">
                <a:solidFill>
                  <a:srgbClr val="9E2A2B"/>
                </a:solidFill>
                <a:latin typeface="Calibri" pitchFamily="34" charset="0"/>
                <a:ea typeface="Calibri" pitchFamily="34" charset="-122"/>
                <a:cs typeface="Calibri" pitchFamily="34" charset="-120"/>
              </a:rPr>
              <a:t>Technical</a:t>
            </a:r>
            <a:endParaRPr lang="en-US" sz="1500" dirty="0"/>
          </a:p>
        </p:txBody>
      </p:sp>
      <p:sp>
        <p:nvSpPr>
          <p:cNvPr id="11" name="Text 9"/>
          <p:cNvSpPr/>
          <p:nvPr/>
        </p:nvSpPr>
        <p:spPr>
          <a:xfrm>
            <a:off x="4617720" y="1920240"/>
            <a:ext cx="3035808" cy="1463040"/>
          </a:xfrm>
          <a:prstGeom prst="rect">
            <a:avLst/>
          </a:prstGeom>
          <a:noFill/>
          <a:ln/>
        </p:spPr>
        <p:txBody>
          <a:bodyPr wrap="square" lIns="0" tIns="0" rIns="0" bIns="0" rtlCol="0" anchor="t"/>
          <a:lstStyle/>
          <a:p>
            <a:pPr indent="0" marL="0">
              <a:lnSpc>
                <a:spcPts val="1800"/>
              </a:lnSpc>
              <a:buNone/>
            </a:pPr>
            <a:r>
              <a:rPr lang="en-US" sz="1300" dirty="0">
                <a:solidFill>
                  <a:srgbClr val="1F2430"/>
                </a:solidFill>
                <a:latin typeface="Calibri" pitchFamily="34" charset="0"/>
                <a:ea typeface="Calibri" pitchFamily="34" charset="-122"/>
                <a:cs typeface="Calibri" pitchFamily="34" charset="-120"/>
              </a:rPr>
              <a:t>Recommendation and conversational support are proven in other domains. No reviewed campus booking system has integrated either</a:t>
            </a:r>
            <a:endParaRPr lang="en-US" sz="1300" dirty="0"/>
          </a:p>
        </p:txBody>
      </p:sp>
      <p:sp>
        <p:nvSpPr>
          <p:cNvPr id="12" name="Shape 10"/>
          <p:cNvSpPr/>
          <p:nvPr/>
        </p:nvSpPr>
        <p:spPr>
          <a:xfrm>
            <a:off x="8037576" y="1371600"/>
            <a:ext cx="3493008" cy="1828800"/>
          </a:xfrm>
          <a:prstGeom prst="roundRect">
            <a:avLst>
              <a:gd name="adj" fmla="val 4500"/>
            </a:avLst>
          </a:prstGeom>
          <a:solidFill>
            <a:srgbClr val="F4F5F7"/>
          </a:solidFill>
          <a:ln w="9525">
            <a:solidFill>
              <a:srgbClr val="E2E4E8"/>
            </a:solidFill>
            <a:prstDash val="solid"/>
          </a:ln>
        </p:spPr>
      </p:sp>
      <p:sp>
        <p:nvSpPr>
          <p:cNvPr id="13" name="Text 11"/>
          <p:cNvSpPr/>
          <p:nvPr/>
        </p:nvSpPr>
        <p:spPr>
          <a:xfrm>
            <a:off x="8293608" y="1554480"/>
            <a:ext cx="3017520" cy="310896"/>
          </a:xfrm>
          <a:prstGeom prst="rect">
            <a:avLst/>
          </a:prstGeom>
          <a:noFill/>
          <a:ln/>
        </p:spPr>
        <p:txBody>
          <a:bodyPr wrap="square" lIns="0" tIns="0" rIns="0" bIns="0" rtlCol="0" anchor="ctr"/>
          <a:lstStyle/>
          <a:p>
            <a:pPr indent="0" marL="0">
              <a:buNone/>
            </a:pPr>
            <a:r>
              <a:rPr lang="en-US" sz="1500" b="1" dirty="0">
                <a:solidFill>
                  <a:srgbClr val="9E2A2B"/>
                </a:solidFill>
                <a:latin typeface="Calibri" pitchFamily="34" charset="0"/>
                <a:ea typeface="Calibri" pitchFamily="34" charset="-122"/>
                <a:cs typeface="Calibri" pitchFamily="34" charset="-120"/>
              </a:rPr>
              <a:t>Social</a:t>
            </a:r>
            <a:endParaRPr lang="en-US" sz="1500" dirty="0"/>
          </a:p>
        </p:txBody>
      </p:sp>
      <p:sp>
        <p:nvSpPr>
          <p:cNvPr id="14" name="Text 12"/>
          <p:cNvSpPr/>
          <p:nvPr/>
        </p:nvSpPr>
        <p:spPr>
          <a:xfrm>
            <a:off x="8293608" y="1920240"/>
            <a:ext cx="3035808" cy="1463040"/>
          </a:xfrm>
          <a:prstGeom prst="rect">
            <a:avLst/>
          </a:prstGeom>
          <a:noFill/>
          <a:ln/>
        </p:spPr>
        <p:txBody>
          <a:bodyPr wrap="square" lIns="0" tIns="0" rIns="0" bIns="0" rtlCol="0" anchor="t"/>
          <a:lstStyle/>
          <a:p>
            <a:pPr indent="0" marL="0">
              <a:lnSpc>
                <a:spcPts val="1800"/>
              </a:lnSpc>
              <a:buNone/>
            </a:pPr>
            <a:r>
              <a:rPr lang="en-US" sz="1300" dirty="0">
                <a:solidFill>
                  <a:srgbClr val="1F2430"/>
                </a:solidFill>
                <a:latin typeface="Calibri" pitchFamily="34" charset="0"/>
                <a:ea typeface="Calibri" pitchFamily="34" charset="-122"/>
                <a:cs typeface="Calibri" pitchFamily="34" charset="-120"/>
              </a:rPr>
              <a:t>Allocation that follows no visible rule cannot be shown to be fair. A rule applied uniformly can be, and utilisation data replaces impression with evidence</a:t>
            </a:r>
            <a:endParaRPr lang="en-US" sz="1300" dirty="0"/>
          </a:p>
        </p:txBody>
      </p:sp>
      <p:sp>
        <p:nvSpPr>
          <p:cNvPr id="15" name="Text 13"/>
          <p:cNvSpPr/>
          <p:nvPr/>
        </p:nvSpPr>
        <p:spPr>
          <a:xfrm>
            <a:off x="685800" y="3611880"/>
            <a:ext cx="10789920" cy="329184"/>
          </a:xfrm>
          <a:prstGeom prst="rect">
            <a:avLst/>
          </a:prstGeom>
          <a:noFill/>
          <a:ln/>
        </p:spPr>
        <p:txBody>
          <a:bodyPr wrap="square" lIns="0" tIns="0" rIns="0" bIns="0" rtlCol="0" anchor="ctr"/>
          <a:lstStyle/>
          <a:p>
            <a:pPr indent="0" marL="0">
              <a:buNone/>
            </a:pPr>
            <a:r>
              <a:rPr lang="en-US" sz="1450" b="1" dirty="0">
                <a:solidFill>
                  <a:srgbClr val="1F2430"/>
                </a:solidFill>
                <a:latin typeface="Calibri" pitchFamily="34" charset="0"/>
                <a:ea typeface="Calibri" pitchFamily="34" charset="-122"/>
                <a:cs typeface="Calibri" pitchFamily="34" charset="-120"/>
              </a:rPr>
              <a:t>Eight UN Sustainable Development Goals — two for each of the first four objectives</a:t>
            </a:r>
            <a:endParaRPr lang="en-US" sz="1450" dirty="0"/>
          </a:p>
        </p:txBody>
      </p:sp>
      <p:sp>
        <p:nvSpPr>
          <p:cNvPr id="16" name="Shape 14"/>
          <p:cNvSpPr/>
          <p:nvPr/>
        </p:nvSpPr>
        <p:spPr>
          <a:xfrm>
            <a:off x="685800" y="4041648"/>
            <a:ext cx="1280160" cy="1572768"/>
          </a:xfrm>
          <a:prstGeom prst="roundRect">
            <a:avLst>
              <a:gd name="adj" fmla="val 6429"/>
            </a:avLst>
          </a:prstGeom>
          <a:solidFill>
            <a:srgbClr val="F4F5F7"/>
          </a:solidFill>
          <a:ln w="9525">
            <a:solidFill>
              <a:srgbClr val="E2E4E8"/>
            </a:solidFill>
            <a:prstDash val="solid"/>
          </a:ln>
        </p:spPr>
      </p:sp>
      <p:sp>
        <p:nvSpPr>
          <p:cNvPr id="17" name="Shape 15"/>
          <p:cNvSpPr/>
          <p:nvPr/>
        </p:nvSpPr>
        <p:spPr>
          <a:xfrm>
            <a:off x="1088136" y="4224528"/>
            <a:ext cx="493776" cy="457200"/>
          </a:xfrm>
          <a:prstGeom prst="roundRect">
            <a:avLst>
              <a:gd name="adj" fmla="val 14000"/>
            </a:avLst>
          </a:prstGeom>
          <a:solidFill>
            <a:srgbClr val="9E2A2B"/>
          </a:solidFill>
          <a:ln/>
        </p:spPr>
      </p:sp>
      <p:sp>
        <p:nvSpPr>
          <p:cNvPr id="18" name="Text 16"/>
          <p:cNvSpPr/>
          <p:nvPr/>
        </p:nvSpPr>
        <p:spPr>
          <a:xfrm>
            <a:off x="1088136" y="4224528"/>
            <a:ext cx="493776"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11</a:t>
            </a:r>
            <a:endParaRPr lang="en-US" sz="1500" dirty="0"/>
          </a:p>
        </p:txBody>
      </p:sp>
      <p:sp>
        <p:nvSpPr>
          <p:cNvPr id="19" name="Text 17"/>
          <p:cNvSpPr/>
          <p:nvPr/>
        </p:nvSpPr>
        <p:spPr>
          <a:xfrm>
            <a:off x="740664" y="4791456"/>
            <a:ext cx="1170432" cy="713232"/>
          </a:xfrm>
          <a:prstGeom prst="rect">
            <a:avLst/>
          </a:prstGeom>
          <a:noFill/>
          <a:ln/>
        </p:spPr>
        <p:txBody>
          <a:bodyPr wrap="square" lIns="0" tIns="0" rIns="0" bIns="0" rtlCol="0" anchor="t"/>
          <a:lstStyle/>
          <a:p>
            <a:pPr algn="ctr" indent="0" marL="0">
              <a:lnSpc>
                <a:spcPts val="1400"/>
              </a:lnSpc>
              <a:buNone/>
            </a:pPr>
            <a:r>
              <a:rPr lang="en-US" sz="1100" dirty="0">
                <a:solidFill>
                  <a:srgbClr val="1F2430"/>
                </a:solidFill>
                <a:latin typeface="Calibri" pitchFamily="34" charset="0"/>
                <a:ea typeface="Calibri" pitchFamily="34" charset="-122"/>
                <a:cs typeface="Calibri" pitchFamily="34" charset="-120"/>
              </a:rPr>
              <a:t>Sustainable</a:t>
            </a:r>
            <a:endParaRPr lang="en-US" sz="1100" dirty="0"/>
          </a:p>
          <a:p>
            <a:pPr algn="ctr" indent="0" marL="0">
              <a:lnSpc>
                <a:spcPts val="1400"/>
              </a:lnSpc>
              <a:buNone/>
            </a:pPr>
            <a:r>
              <a:rPr lang="en-US" sz="1100" dirty="0">
                <a:solidFill>
                  <a:srgbClr val="1F2430"/>
                </a:solidFill>
                <a:latin typeface="Calibri" pitchFamily="34" charset="0"/>
                <a:ea typeface="Calibri" pitchFamily="34" charset="-122"/>
                <a:cs typeface="Calibri" pitchFamily="34" charset="-120"/>
              </a:rPr>
              <a:t>cities</a:t>
            </a:r>
            <a:endParaRPr lang="en-US" sz="1100" dirty="0"/>
          </a:p>
        </p:txBody>
      </p:sp>
      <p:sp>
        <p:nvSpPr>
          <p:cNvPr id="20" name="Shape 18"/>
          <p:cNvSpPr/>
          <p:nvPr/>
        </p:nvSpPr>
        <p:spPr>
          <a:xfrm>
            <a:off x="2034540" y="4041648"/>
            <a:ext cx="1280160" cy="1572768"/>
          </a:xfrm>
          <a:prstGeom prst="roundRect">
            <a:avLst>
              <a:gd name="adj" fmla="val 6429"/>
            </a:avLst>
          </a:prstGeom>
          <a:solidFill>
            <a:srgbClr val="F4F5F7"/>
          </a:solidFill>
          <a:ln w="9525">
            <a:solidFill>
              <a:srgbClr val="E2E4E8"/>
            </a:solidFill>
            <a:prstDash val="solid"/>
          </a:ln>
        </p:spPr>
      </p:sp>
      <p:sp>
        <p:nvSpPr>
          <p:cNvPr id="21" name="Shape 19"/>
          <p:cNvSpPr/>
          <p:nvPr/>
        </p:nvSpPr>
        <p:spPr>
          <a:xfrm>
            <a:off x="2436876" y="4224528"/>
            <a:ext cx="493776" cy="457200"/>
          </a:xfrm>
          <a:prstGeom prst="roundRect">
            <a:avLst>
              <a:gd name="adj" fmla="val 14000"/>
            </a:avLst>
          </a:prstGeom>
          <a:solidFill>
            <a:srgbClr val="9E2A2B"/>
          </a:solidFill>
          <a:ln/>
        </p:spPr>
      </p:sp>
      <p:sp>
        <p:nvSpPr>
          <p:cNvPr id="22" name="Text 20"/>
          <p:cNvSpPr/>
          <p:nvPr/>
        </p:nvSpPr>
        <p:spPr>
          <a:xfrm>
            <a:off x="2436876" y="4224528"/>
            <a:ext cx="493776"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12</a:t>
            </a:r>
            <a:endParaRPr lang="en-US" sz="1500" dirty="0"/>
          </a:p>
        </p:txBody>
      </p:sp>
      <p:sp>
        <p:nvSpPr>
          <p:cNvPr id="23" name="Text 21"/>
          <p:cNvSpPr/>
          <p:nvPr/>
        </p:nvSpPr>
        <p:spPr>
          <a:xfrm>
            <a:off x="2089404" y="4791456"/>
            <a:ext cx="1170432" cy="713232"/>
          </a:xfrm>
          <a:prstGeom prst="rect">
            <a:avLst/>
          </a:prstGeom>
          <a:noFill/>
          <a:ln/>
        </p:spPr>
        <p:txBody>
          <a:bodyPr wrap="square" lIns="0" tIns="0" rIns="0" bIns="0" rtlCol="0" anchor="t"/>
          <a:lstStyle/>
          <a:p>
            <a:pPr algn="ctr" indent="0" marL="0">
              <a:lnSpc>
                <a:spcPts val="1400"/>
              </a:lnSpc>
              <a:buNone/>
            </a:pPr>
            <a:r>
              <a:rPr lang="en-US" sz="1100" dirty="0">
                <a:solidFill>
                  <a:srgbClr val="1F2430"/>
                </a:solidFill>
                <a:latin typeface="Calibri" pitchFamily="34" charset="0"/>
                <a:ea typeface="Calibri" pitchFamily="34" charset="-122"/>
                <a:cs typeface="Calibri" pitchFamily="34" charset="-120"/>
              </a:rPr>
              <a:t>Responsible</a:t>
            </a:r>
            <a:endParaRPr lang="en-US" sz="1100" dirty="0"/>
          </a:p>
          <a:p>
            <a:pPr algn="ctr" indent="0" marL="0">
              <a:lnSpc>
                <a:spcPts val="1400"/>
              </a:lnSpc>
              <a:buNone/>
            </a:pPr>
            <a:r>
              <a:rPr lang="en-US" sz="1100" dirty="0">
                <a:solidFill>
                  <a:srgbClr val="1F2430"/>
                </a:solidFill>
                <a:latin typeface="Calibri" pitchFamily="34" charset="0"/>
                <a:ea typeface="Calibri" pitchFamily="34" charset="-122"/>
                <a:cs typeface="Calibri" pitchFamily="34" charset="-120"/>
              </a:rPr>
              <a:t>use</a:t>
            </a:r>
            <a:endParaRPr lang="en-US" sz="1100" dirty="0"/>
          </a:p>
        </p:txBody>
      </p:sp>
      <p:sp>
        <p:nvSpPr>
          <p:cNvPr id="24" name="Shape 22"/>
          <p:cNvSpPr/>
          <p:nvPr/>
        </p:nvSpPr>
        <p:spPr>
          <a:xfrm>
            <a:off x="3383280" y="4041648"/>
            <a:ext cx="1280160" cy="1572768"/>
          </a:xfrm>
          <a:prstGeom prst="roundRect">
            <a:avLst>
              <a:gd name="adj" fmla="val 6429"/>
            </a:avLst>
          </a:prstGeom>
          <a:solidFill>
            <a:srgbClr val="F4F5F7"/>
          </a:solidFill>
          <a:ln w="9525">
            <a:solidFill>
              <a:srgbClr val="E2E4E8"/>
            </a:solidFill>
            <a:prstDash val="solid"/>
          </a:ln>
        </p:spPr>
      </p:sp>
      <p:sp>
        <p:nvSpPr>
          <p:cNvPr id="25" name="Shape 23"/>
          <p:cNvSpPr/>
          <p:nvPr/>
        </p:nvSpPr>
        <p:spPr>
          <a:xfrm>
            <a:off x="3785616" y="4224528"/>
            <a:ext cx="493776" cy="457200"/>
          </a:xfrm>
          <a:prstGeom prst="roundRect">
            <a:avLst>
              <a:gd name="adj" fmla="val 14000"/>
            </a:avLst>
          </a:prstGeom>
          <a:solidFill>
            <a:srgbClr val="9E2A2B"/>
          </a:solidFill>
          <a:ln/>
        </p:spPr>
      </p:sp>
      <p:sp>
        <p:nvSpPr>
          <p:cNvPr id="26" name="Text 24"/>
          <p:cNvSpPr/>
          <p:nvPr/>
        </p:nvSpPr>
        <p:spPr>
          <a:xfrm>
            <a:off x="3785616" y="4224528"/>
            <a:ext cx="493776"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9</a:t>
            </a:r>
            <a:endParaRPr lang="en-US" sz="1500" dirty="0"/>
          </a:p>
        </p:txBody>
      </p:sp>
      <p:sp>
        <p:nvSpPr>
          <p:cNvPr id="27" name="Text 25"/>
          <p:cNvSpPr/>
          <p:nvPr/>
        </p:nvSpPr>
        <p:spPr>
          <a:xfrm>
            <a:off x="3438144" y="4791456"/>
            <a:ext cx="1170432" cy="713232"/>
          </a:xfrm>
          <a:prstGeom prst="rect">
            <a:avLst/>
          </a:prstGeom>
          <a:noFill/>
          <a:ln/>
        </p:spPr>
        <p:txBody>
          <a:bodyPr wrap="square" lIns="0" tIns="0" rIns="0" bIns="0" rtlCol="0" anchor="t"/>
          <a:lstStyle/>
          <a:p>
            <a:pPr algn="ctr" indent="0" marL="0">
              <a:lnSpc>
                <a:spcPts val="1400"/>
              </a:lnSpc>
              <a:buNone/>
            </a:pPr>
            <a:r>
              <a:rPr lang="en-US" sz="1100" dirty="0">
                <a:solidFill>
                  <a:srgbClr val="1F2430"/>
                </a:solidFill>
                <a:latin typeface="Calibri" pitchFamily="34" charset="0"/>
                <a:ea typeface="Calibri" pitchFamily="34" charset="-122"/>
                <a:cs typeface="Calibri" pitchFamily="34" charset="-120"/>
              </a:rPr>
              <a:t>Industry and</a:t>
            </a:r>
            <a:endParaRPr lang="en-US" sz="1100" dirty="0"/>
          </a:p>
          <a:p>
            <a:pPr algn="ctr" indent="0" marL="0">
              <a:lnSpc>
                <a:spcPts val="1400"/>
              </a:lnSpc>
              <a:buNone/>
            </a:pPr>
            <a:r>
              <a:rPr lang="en-US" sz="1100" dirty="0">
                <a:solidFill>
                  <a:srgbClr val="1F2430"/>
                </a:solidFill>
                <a:latin typeface="Calibri" pitchFamily="34" charset="0"/>
                <a:ea typeface="Calibri" pitchFamily="34" charset="-122"/>
                <a:cs typeface="Calibri" pitchFamily="34" charset="-120"/>
              </a:rPr>
              <a:t>infrastructure</a:t>
            </a:r>
            <a:endParaRPr lang="en-US" sz="1100" dirty="0"/>
          </a:p>
        </p:txBody>
      </p:sp>
      <p:sp>
        <p:nvSpPr>
          <p:cNvPr id="28" name="Shape 26"/>
          <p:cNvSpPr/>
          <p:nvPr/>
        </p:nvSpPr>
        <p:spPr>
          <a:xfrm>
            <a:off x="4732020" y="4041648"/>
            <a:ext cx="1280160" cy="1572768"/>
          </a:xfrm>
          <a:prstGeom prst="roundRect">
            <a:avLst>
              <a:gd name="adj" fmla="val 6429"/>
            </a:avLst>
          </a:prstGeom>
          <a:solidFill>
            <a:srgbClr val="F4F5F7"/>
          </a:solidFill>
          <a:ln w="9525">
            <a:solidFill>
              <a:srgbClr val="E2E4E8"/>
            </a:solidFill>
            <a:prstDash val="solid"/>
          </a:ln>
        </p:spPr>
      </p:sp>
      <p:sp>
        <p:nvSpPr>
          <p:cNvPr id="29" name="Shape 27"/>
          <p:cNvSpPr/>
          <p:nvPr/>
        </p:nvSpPr>
        <p:spPr>
          <a:xfrm>
            <a:off x="5134356" y="4224528"/>
            <a:ext cx="493776" cy="457200"/>
          </a:xfrm>
          <a:prstGeom prst="roundRect">
            <a:avLst>
              <a:gd name="adj" fmla="val 14000"/>
            </a:avLst>
          </a:prstGeom>
          <a:solidFill>
            <a:srgbClr val="9E2A2B"/>
          </a:solidFill>
          <a:ln/>
        </p:spPr>
      </p:sp>
      <p:sp>
        <p:nvSpPr>
          <p:cNvPr id="30" name="Text 28"/>
          <p:cNvSpPr/>
          <p:nvPr/>
        </p:nvSpPr>
        <p:spPr>
          <a:xfrm>
            <a:off x="5134356" y="4224528"/>
            <a:ext cx="493776"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10</a:t>
            </a:r>
            <a:endParaRPr lang="en-US" sz="1500" dirty="0"/>
          </a:p>
        </p:txBody>
      </p:sp>
      <p:sp>
        <p:nvSpPr>
          <p:cNvPr id="31" name="Text 29"/>
          <p:cNvSpPr/>
          <p:nvPr/>
        </p:nvSpPr>
        <p:spPr>
          <a:xfrm>
            <a:off x="4786884" y="4791456"/>
            <a:ext cx="1170432" cy="713232"/>
          </a:xfrm>
          <a:prstGeom prst="rect">
            <a:avLst/>
          </a:prstGeom>
          <a:noFill/>
          <a:ln/>
        </p:spPr>
        <p:txBody>
          <a:bodyPr wrap="square" lIns="0" tIns="0" rIns="0" bIns="0" rtlCol="0" anchor="t"/>
          <a:lstStyle/>
          <a:p>
            <a:pPr algn="ctr" indent="0" marL="0">
              <a:lnSpc>
                <a:spcPts val="1400"/>
              </a:lnSpc>
              <a:buNone/>
            </a:pPr>
            <a:r>
              <a:rPr lang="en-US" sz="1100" dirty="0">
                <a:solidFill>
                  <a:srgbClr val="1F2430"/>
                </a:solidFill>
                <a:latin typeface="Calibri" pitchFamily="34" charset="0"/>
                <a:ea typeface="Calibri" pitchFamily="34" charset="-122"/>
                <a:cs typeface="Calibri" pitchFamily="34" charset="-120"/>
              </a:rPr>
              <a:t>Reduced</a:t>
            </a:r>
            <a:endParaRPr lang="en-US" sz="1100" dirty="0"/>
          </a:p>
          <a:p>
            <a:pPr algn="ctr" indent="0" marL="0">
              <a:lnSpc>
                <a:spcPts val="1400"/>
              </a:lnSpc>
              <a:buNone/>
            </a:pPr>
            <a:r>
              <a:rPr lang="en-US" sz="1100" dirty="0">
                <a:solidFill>
                  <a:srgbClr val="1F2430"/>
                </a:solidFill>
                <a:latin typeface="Calibri" pitchFamily="34" charset="0"/>
                <a:ea typeface="Calibri" pitchFamily="34" charset="-122"/>
                <a:cs typeface="Calibri" pitchFamily="34" charset="-120"/>
              </a:rPr>
              <a:t>inequality</a:t>
            </a:r>
            <a:endParaRPr lang="en-US" sz="1100" dirty="0"/>
          </a:p>
        </p:txBody>
      </p:sp>
      <p:sp>
        <p:nvSpPr>
          <p:cNvPr id="32" name="Shape 30"/>
          <p:cNvSpPr/>
          <p:nvPr/>
        </p:nvSpPr>
        <p:spPr>
          <a:xfrm>
            <a:off x="6080760" y="4041648"/>
            <a:ext cx="1280160" cy="1572768"/>
          </a:xfrm>
          <a:prstGeom prst="roundRect">
            <a:avLst>
              <a:gd name="adj" fmla="val 6429"/>
            </a:avLst>
          </a:prstGeom>
          <a:solidFill>
            <a:srgbClr val="F4F5F7"/>
          </a:solidFill>
          <a:ln w="9525">
            <a:solidFill>
              <a:srgbClr val="E2E4E8"/>
            </a:solidFill>
            <a:prstDash val="solid"/>
          </a:ln>
        </p:spPr>
      </p:sp>
      <p:sp>
        <p:nvSpPr>
          <p:cNvPr id="33" name="Shape 31"/>
          <p:cNvSpPr/>
          <p:nvPr/>
        </p:nvSpPr>
        <p:spPr>
          <a:xfrm>
            <a:off x="6483096" y="4224528"/>
            <a:ext cx="493776" cy="457200"/>
          </a:xfrm>
          <a:prstGeom prst="roundRect">
            <a:avLst>
              <a:gd name="adj" fmla="val 14000"/>
            </a:avLst>
          </a:prstGeom>
          <a:solidFill>
            <a:srgbClr val="9E2A2B"/>
          </a:solidFill>
          <a:ln/>
        </p:spPr>
      </p:sp>
      <p:sp>
        <p:nvSpPr>
          <p:cNvPr id="34" name="Text 32"/>
          <p:cNvSpPr/>
          <p:nvPr/>
        </p:nvSpPr>
        <p:spPr>
          <a:xfrm>
            <a:off x="6483096" y="4224528"/>
            <a:ext cx="493776"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7</a:t>
            </a:r>
            <a:endParaRPr lang="en-US" sz="1500" dirty="0"/>
          </a:p>
        </p:txBody>
      </p:sp>
      <p:sp>
        <p:nvSpPr>
          <p:cNvPr id="35" name="Text 33"/>
          <p:cNvSpPr/>
          <p:nvPr/>
        </p:nvSpPr>
        <p:spPr>
          <a:xfrm>
            <a:off x="6135624" y="4791456"/>
            <a:ext cx="1170432" cy="713232"/>
          </a:xfrm>
          <a:prstGeom prst="rect">
            <a:avLst/>
          </a:prstGeom>
          <a:noFill/>
          <a:ln/>
        </p:spPr>
        <p:txBody>
          <a:bodyPr wrap="square" lIns="0" tIns="0" rIns="0" bIns="0" rtlCol="0" anchor="t"/>
          <a:lstStyle/>
          <a:p>
            <a:pPr algn="ctr" indent="0" marL="0">
              <a:lnSpc>
                <a:spcPts val="1400"/>
              </a:lnSpc>
              <a:buNone/>
            </a:pPr>
            <a:r>
              <a:rPr lang="en-US" sz="1100" dirty="0">
                <a:solidFill>
                  <a:srgbClr val="1F2430"/>
                </a:solidFill>
                <a:latin typeface="Calibri" pitchFamily="34" charset="0"/>
                <a:ea typeface="Calibri" pitchFamily="34" charset="-122"/>
                <a:cs typeface="Calibri" pitchFamily="34" charset="-120"/>
              </a:rPr>
              <a:t>Clean</a:t>
            </a:r>
            <a:endParaRPr lang="en-US" sz="1100" dirty="0"/>
          </a:p>
          <a:p>
            <a:pPr algn="ctr" indent="0" marL="0">
              <a:lnSpc>
                <a:spcPts val="1400"/>
              </a:lnSpc>
              <a:buNone/>
            </a:pPr>
            <a:r>
              <a:rPr lang="en-US" sz="1100" dirty="0">
                <a:solidFill>
                  <a:srgbClr val="1F2430"/>
                </a:solidFill>
                <a:latin typeface="Calibri" pitchFamily="34" charset="0"/>
                <a:ea typeface="Calibri" pitchFamily="34" charset="-122"/>
                <a:cs typeface="Calibri" pitchFamily="34" charset="-120"/>
              </a:rPr>
              <a:t>energy</a:t>
            </a:r>
            <a:endParaRPr lang="en-US" sz="1100" dirty="0"/>
          </a:p>
        </p:txBody>
      </p:sp>
      <p:sp>
        <p:nvSpPr>
          <p:cNvPr id="36" name="Shape 34"/>
          <p:cNvSpPr/>
          <p:nvPr/>
        </p:nvSpPr>
        <p:spPr>
          <a:xfrm>
            <a:off x="7429500" y="4041648"/>
            <a:ext cx="1280160" cy="1572768"/>
          </a:xfrm>
          <a:prstGeom prst="roundRect">
            <a:avLst>
              <a:gd name="adj" fmla="val 6429"/>
            </a:avLst>
          </a:prstGeom>
          <a:solidFill>
            <a:srgbClr val="F4F5F7"/>
          </a:solidFill>
          <a:ln w="9525">
            <a:solidFill>
              <a:srgbClr val="E2E4E8"/>
            </a:solidFill>
            <a:prstDash val="solid"/>
          </a:ln>
        </p:spPr>
      </p:sp>
      <p:sp>
        <p:nvSpPr>
          <p:cNvPr id="37" name="Shape 35"/>
          <p:cNvSpPr/>
          <p:nvPr/>
        </p:nvSpPr>
        <p:spPr>
          <a:xfrm>
            <a:off x="7831836" y="4224528"/>
            <a:ext cx="493776" cy="457200"/>
          </a:xfrm>
          <a:prstGeom prst="roundRect">
            <a:avLst>
              <a:gd name="adj" fmla="val 14000"/>
            </a:avLst>
          </a:prstGeom>
          <a:solidFill>
            <a:srgbClr val="9E2A2B"/>
          </a:solidFill>
          <a:ln/>
        </p:spPr>
      </p:sp>
      <p:sp>
        <p:nvSpPr>
          <p:cNvPr id="38" name="Text 36"/>
          <p:cNvSpPr/>
          <p:nvPr/>
        </p:nvSpPr>
        <p:spPr>
          <a:xfrm>
            <a:off x="7831836" y="4224528"/>
            <a:ext cx="493776"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39" name="Text 37"/>
          <p:cNvSpPr/>
          <p:nvPr/>
        </p:nvSpPr>
        <p:spPr>
          <a:xfrm>
            <a:off x="7484364" y="4791456"/>
            <a:ext cx="1170432" cy="713232"/>
          </a:xfrm>
          <a:prstGeom prst="rect">
            <a:avLst/>
          </a:prstGeom>
          <a:noFill/>
          <a:ln/>
        </p:spPr>
        <p:txBody>
          <a:bodyPr wrap="square" lIns="0" tIns="0" rIns="0" bIns="0" rtlCol="0" anchor="t"/>
          <a:lstStyle/>
          <a:p>
            <a:pPr algn="ctr" indent="0" marL="0">
              <a:lnSpc>
                <a:spcPts val="1400"/>
              </a:lnSpc>
              <a:buNone/>
            </a:pPr>
            <a:r>
              <a:rPr lang="en-US" sz="1100" dirty="0">
                <a:solidFill>
                  <a:srgbClr val="1F2430"/>
                </a:solidFill>
                <a:latin typeface="Calibri" pitchFamily="34" charset="0"/>
                <a:ea typeface="Calibri" pitchFamily="34" charset="-122"/>
                <a:cs typeface="Calibri" pitchFamily="34" charset="-120"/>
              </a:rPr>
              <a:t>Health and</a:t>
            </a:r>
            <a:endParaRPr lang="en-US" sz="1100" dirty="0"/>
          </a:p>
          <a:p>
            <a:pPr algn="ctr" indent="0" marL="0">
              <a:lnSpc>
                <a:spcPts val="1400"/>
              </a:lnSpc>
              <a:buNone/>
            </a:pPr>
            <a:r>
              <a:rPr lang="en-US" sz="1100" dirty="0">
                <a:solidFill>
                  <a:srgbClr val="1F2430"/>
                </a:solidFill>
                <a:latin typeface="Calibri" pitchFamily="34" charset="0"/>
                <a:ea typeface="Calibri" pitchFamily="34" charset="-122"/>
                <a:cs typeface="Calibri" pitchFamily="34" charset="-120"/>
              </a:rPr>
              <a:t>wellbeing</a:t>
            </a:r>
            <a:endParaRPr lang="en-US" sz="1100" dirty="0"/>
          </a:p>
        </p:txBody>
      </p:sp>
      <p:sp>
        <p:nvSpPr>
          <p:cNvPr id="40" name="Shape 38"/>
          <p:cNvSpPr/>
          <p:nvPr/>
        </p:nvSpPr>
        <p:spPr>
          <a:xfrm>
            <a:off x="8778240" y="4041648"/>
            <a:ext cx="1280160" cy="1572768"/>
          </a:xfrm>
          <a:prstGeom prst="roundRect">
            <a:avLst>
              <a:gd name="adj" fmla="val 6429"/>
            </a:avLst>
          </a:prstGeom>
          <a:solidFill>
            <a:srgbClr val="F4F5F7"/>
          </a:solidFill>
          <a:ln w="9525">
            <a:solidFill>
              <a:srgbClr val="E2E4E8"/>
            </a:solidFill>
            <a:prstDash val="solid"/>
          </a:ln>
        </p:spPr>
      </p:sp>
      <p:sp>
        <p:nvSpPr>
          <p:cNvPr id="41" name="Shape 39"/>
          <p:cNvSpPr/>
          <p:nvPr/>
        </p:nvSpPr>
        <p:spPr>
          <a:xfrm>
            <a:off x="9180576" y="4224528"/>
            <a:ext cx="493776" cy="457200"/>
          </a:xfrm>
          <a:prstGeom prst="roundRect">
            <a:avLst>
              <a:gd name="adj" fmla="val 14000"/>
            </a:avLst>
          </a:prstGeom>
          <a:solidFill>
            <a:srgbClr val="9E2A2B"/>
          </a:solidFill>
          <a:ln/>
        </p:spPr>
      </p:sp>
      <p:sp>
        <p:nvSpPr>
          <p:cNvPr id="42" name="Text 40"/>
          <p:cNvSpPr/>
          <p:nvPr/>
        </p:nvSpPr>
        <p:spPr>
          <a:xfrm>
            <a:off x="9180576" y="4224528"/>
            <a:ext cx="493776"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43" name="Text 41"/>
          <p:cNvSpPr/>
          <p:nvPr/>
        </p:nvSpPr>
        <p:spPr>
          <a:xfrm>
            <a:off x="8833104" y="4791456"/>
            <a:ext cx="1170432" cy="713232"/>
          </a:xfrm>
          <a:prstGeom prst="rect">
            <a:avLst/>
          </a:prstGeom>
          <a:noFill/>
          <a:ln/>
        </p:spPr>
        <p:txBody>
          <a:bodyPr wrap="square" lIns="0" tIns="0" rIns="0" bIns="0" rtlCol="0" anchor="t"/>
          <a:lstStyle/>
          <a:p>
            <a:pPr algn="ctr" indent="0" marL="0">
              <a:lnSpc>
                <a:spcPts val="1400"/>
              </a:lnSpc>
              <a:buNone/>
            </a:pPr>
            <a:r>
              <a:rPr lang="en-US" sz="1100" dirty="0">
                <a:solidFill>
                  <a:srgbClr val="1F2430"/>
                </a:solidFill>
                <a:latin typeface="Calibri" pitchFamily="34" charset="0"/>
                <a:ea typeface="Calibri" pitchFamily="34" charset="-122"/>
                <a:cs typeface="Calibri" pitchFamily="34" charset="-120"/>
              </a:rPr>
              <a:t>Quality</a:t>
            </a:r>
            <a:endParaRPr lang="en-US" sz="1100" dirty="0"/>
          </a:p>
          <a:p>
            <a:pPr algn="ctr" indent="0" marL="0">
              <a:lnSpc>
                <a:spcPts val="1400"/>
              </a:lnSpc>
              <a:buNone/>
            </a:pPr>
            <a:r>
              <a:rPr lang="en-US" sz="1100" dirty="0">
                <a:solidFill>
                  <a:srgbClr val="1F2430"/>
                </a:solidFill>
                <a:latin typeface="Calibri" pitchFamily="34" charset="0"/>
                <a:ea typeface="Calibri" pitchFamily="34" charset="-122"/>
                <a:cs typeface="Calibri" pitchFamily="34" charset="-120"/>
              </a:rPr>
              <a:t>education</a:t>
            </a:r>
            <a:endParaRPr lang="en-US" sz="1100" dirty="0"/>
          </a:p>
        </p:txBody>
      </p:sp>
      <p:sp>
        <p:nvSpPr>
          <p:cNvPr id="44" name="Shape 42"/>
          <p:cNvSpPr/>
          <p:nvPr/>
        </p:nvSpPr>
        <p:spPr>
          <a:xfrm>
            <a:off x="10126980" y="4041648"/>
            <a:ext cx="1280160" cy="1572768"/>
          </a:xfrm>
          <a:prstGeom prst="roundRect">
            <a:avLst>
              <a:gd name="adj" fmla="val 6429"/>
            </a:avLst>
          </a:prstGeom>
          <a:solidFill>
            <a:srgbClr val="F4F5F7"/>
          </a:solidFill>
          <a:ln w="9525">
            <a:solidFill>
              <a:srgbClr val="E2E4E8"/>
            </a:solidFill>
            <a:prstDash val="solid"/>
          </a:ln>
        </p:spPr>
      </p:sp>
      <p:sp>
        <p:nvSpPr>
          <p:cNvPr id="45" name="Shape 43"/>
          <p:cNvSpPr/>
          <p:nvPr/>
        </p:nvSpPr>
        <p:spPr>
          <a:xfrm>
            <a:off x="10529316" y="4224528"/>
            <a:ext cx="493776" cy="457200"/>
          </a:xfrm>
          <a:prstGeom prst="roundRect">
            <a:avLst>
              <a:gd name="adj" fmla="val 14000"/>
            </a:avLst>
          </a:prstGeom>
          <a:solidFill>
            <a:srgbClr val="9E2A2B"/>
          </a:solidFill>
          <a:ln/>
        </p:spPr>
      </p:sp>
      <p:sp>
        <p:nvSpPr>
          <p:cNvPr id="46" name="Text 44"/>
          <p:cNvSpPr/>
          <p:nvPr/>
        </p:nvSpPr>
        <p:spPr>
          <a:xfrm>
            <a:off x="10529316" y="4224528"/>
            <a:ext cx="493776"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8</a:t>
            </a:r>
            <a:endParaRPr lang="en-US" sz="1500" dirty="0"/>
          </a:p>
        </p:txBody>
      </p:sp>
      <p:sp>
        <p:nvSpPr>
          <p:cNvPr id="47" name="Text 45"/>
          <p:cNvSpPr/>
          <p:nvPr/>
        </p:nvSpPr>
        <p:spPr>
          <a:xfrm>
            <a:off x="10181844" y="4791456"/>
            <a:ext cx="1170432" cy="713232"/>
          </a:xfrm>
          <a:prstGeom prst="rect">
            <a:avLst/>
          </a:prstGeom>
          <a:noFill/>
          <a:ln/>
        </p:spPr>
        <p:txBody>
          <a:bodyPr wrap="square" lIns="0" tIns="0" rIns="0" bIns="0" rtlCol="0" anchor="t"/>
          <a:lstStyle/>
          <a:p>
            <a:pPr algn="ctr" indent="0" marL="0">
              <a:lnSpc>
                <a:spcPts val="1400"/>
              </a:lnSpc>
              <a:buNone/>
            </a:pPr>
            <a:r>
              <a:rPr lang="en-US" sz="1100" dirty="0">
                <a:solidFill>
                  <a:srgbClr val="1F2430"/>
                </a:solidFill>
                <a:latin typeface="Calibri" pitchFamily="34" charset="0"/>
                <a:ea typeface="Calibri" pitchFamily="34" charset="-122"/>
                <a:cs typeface="Calibri" pitchFamily="34" charset="-120"/>
              </a:rPr>
              <a:t>Decent</a:t>
            </a:r>
            <a:endParaRPr lang="en-US" sz="1100" dirty="0"/>
          </a:p>
          <a:p>
            <a:pPr algn="ctr" indent="0" marL="0">
              <a:lnSpc>
                <a:spcPts val="1400"/>
              </a:lnSpc>
              <a:buNone/>
            </a:pPr>
            <a:r>
              <a:rPr lang="en-US" sz="1100" dirty="0">
                <a:solidFill>
                  <a:srgbClr val="1F2430"/>
                </a:solidFill>
                <a:latin typeface="Calibri" pitchFamily="34" charset="0"/>
                <a:ea typeface="Calibri" pitchFamily="34" charset="-122"/>
                <a:cs typeface="Calibri" pitchFamily="34" charset="-120"/>
              </a:rPr>
              <a:t>work</a:t>
            </a:r>
            <a:endParaRPr lang="en-US" sz="1100" dirty="0"/>
          </a:p>
        </p:txBody>
      </p:sp>
      <p:sp>
        <p:nvSpPr>
          <p:cNvPr id="48" name="Text 46"/>
          <p:cNvSpPr/>
          <p:nvPr/>
        </p:nvSpPr>
        <p:spPr>
          <a:xfrm>
            <a:off x="685800" y="5852160"/>
            <a:ext cx="10789920" cy="457200"/>
          </a:xfrm>
          <a:prstGeom prst="rect">
            <a:avLst/>
          </a:prstGeom>
          <a:noFill/>
          <a:ln/>
        </p:spPr>
        <p:txBody>
          <a:bodyPr wrap="square" lIns="0" tIns="0" rIns="0" bIns="0" rtlCol="0" anchor="ctr"/>
          <a:lstStyle/>
          <a:p>
            <a:pPr indent="0" marL="0">
              <a:lnSpc>
                <a:spcPts val="1700"/>
              </a:lnSpc>
              <a:buNone/>
            </a:pPr>
            <a:r>
              <a:rPr lang="en-US" sz="1250" i="1" dirty="0">
                <a:solidFill>
                  <a:srgbClr val="6E7079"/>
                </a:solidFill>
                <a:latin typeface="Calibri" pitchFamily="34" charset="0"/>
                <a:ea typeface="Calibri" pitchFamily="34" charset="-122"/>
                <a:cs typeface="Calibri" pitchFamily="34" charset="-120"/>
              </a:rPr>
              <a:t>Each goal is a mechanism, not a label. Goal 7: matching group size to room size means fewer big rooms lit and cooled for two people. Full mapping in the report.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48640" cy="548640"/>
          </a:xfrm>
          <a:prstGeom prst="ellipse">
            <a:avLst/>
          </a:prstGeom>
          <a:solidFill>
            <a:srgbClr val="9E2A2B"/>
          </a:solidFill>
          <a:ln/>
        </p:spPr>
      </p:sp>
      <p:sp>
        <p:nvSpPr>
          <p:cNvPr id="3" name="Text 1"/>
          <p:cNvSpPr/>
          <p:nvPr/>
        </p:nvSpPr>
        <p:spPr>
          <a:xfrm>
            <a:off x="566928" y="384048"/>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5</a:t>
            </a:r>
            <a:endParaRPr lang="en-US" sz="1900" dirty="0"/>
          </a:p>
        </p:txBody>
      </p:sp>
      <p:sp>
        <p:nvSpPr>
          <p:cNvPr id="4" name="Text 2"/>
          <p:cNvSpPr/>
          <p:nvPr/>
        </p:nvSpPr>
        <p:spPr>
          <a:xfrm>
            <a:off x="1298448" y="329184"/>
            <a:ext cx="10241280" cy="256032"/>
          </a:xfrm>
          <a:prstGeom prst="rect">
            <a:avLst/>
          </a:prstGeom>
          <a:noFill/>
          <a:ln/>
        </p:spPr>
        <p:txBody>
          <a:bodyPr wrap="square" lIns="0" tIns="0" rIns="0" bIns="0" rtlCol="0" anchor="ctr"/>
          <a:lstStyle/>
          <a:p>
            <a:pPr indent="0" marL="0">
              <a:buNone/>
            </a:pPr>
            <a:r>
              <a:rPr lang="en-US" sz="1100" spc="200" kern="0" dirty="0">
                <a:solidFill>
                  <a:srgbClr val="9E2A2B"/>
                </a:solidFill>
                <a:latin typeface="Calibri" pitchFamily="34" charset="0"/>
                <a:ea typeface="Calibri" pitchFamily="34" charset="-122"/>
                <a:cs typeface="Calibri" pitchFamily="34" charset="-120"/>
              </a:rPr>
              <a:t>LITERATURE REVIEW</a:t>
            </a:r>
            <a:endParaRPr lang="en-US" sz="1100" dirty="0"/>
          </a:p>
        </p:txBody>
      </p:sp>
      <p:sp>
        <p:nvSpPr>
          <p:cNvPr id="5" name="Text 3"/>
          <p:cNvSpPr/>
          <p:nvPr/>
        </p:nvSpPr>
        <p:spPr>
          <a:xfrm>
            <a:off x="1298448" y="566928"/>
            <a:ext cx="10241280" cy="502920"/>
          </a:xfrm>
          <a:prstGeom prst="rect">
            <a:avLst/>
          </a:prstGeom>
          <a:noFill/>
          <a:ln/>
        </p:spPr>
        <p:txBody>
          <a:bodyPr wrap="square" lIns="0" tIns="0" rIns="0" bIns="0" rtlCol="0" anchor="ctr"/>
          <a:lstStyle/>
          <a:p>
            <a:pPr indent="0" marL="0">
              <a:buNone/>
            </a:pPr>
            <a:r>
              <a:rPr lang="en-US" sz="2900" b="1" dirty="0">
                <a:solidFill>
                  <a:srgbClr val="1F2430"/>
                </a:solidFill>
                <a:latin typeface="Cambria" pitchFamily="34" charset="0"/>
                <a:ea typeface="Cambria" pitchFamily="34" charset="-122"/>
                <a:cs typeface="Cambria" pitchFamily="34" charset="-120"/>
              </a:rPr>
              <a:t>Literature reviewed</a:t>
            </a:r>
            <a:endParaRPr lang="en-US" sz="2900" dirty="0"/>
          </a:p>
        </p:txBody>
      </p:sp>
      <p:sp>
        <p:nvSpPr>
          <p:cNvPr id="6" name="Text 4"/>
          <p:cNvSpPr/>
          <p:nvPr/>
        </p:nvSpPr>
        <p:spPr>
          <a:xfrm>
            <a:off x="777240" y="1280160"/>
            <a:ext cx="2743200" cy="237744"/>
          </a:xfrm>
          <a:prstGeom prst="rect">
            <a:avLst/>
          </a:prstGeom>
          <a:noFill/>
          <a:ln/>
        </p:spPr>
        <p:txBody>
          <a:bodyPr wrap="square" lIns="0" tIns="0" rIns="0" bIns="0" rtlCol="0" anchor="ctr"/>
          <a:lstStyle/>
          <a:p>
            <a:pPr indent="0" marL="0">
              <a:buNone/>
            </a:pPr>
            <a:r>
              <a:rPr lang="en-US" sz="1000" b="1" spc="150" kern="0" dirty="0">
                <a:solidFill>
                  <a:srgbClr val="9E2A2B"/>
                </a:solidFill>
                <a:latin typeface="Calibri" pitchFamily="34" charset="0"/>
                <a:ea typeface="Calibri" pitchFamily="34" charset="-122"/>
                <a:cs typeface="Calibri" pitchFamily="34" charset="-120"/>
              </a:rPr>
              <a:t>PAPER</a:t>
            </a:r>
            <a:endParaRPr lang="en-US" sz="1000" dirty="0"/>
          </a:p>
        </p:txBody>
      </p:sp>
      <p:sp>
        <p:nvSpPr>
          <p:cNvPr id="7" name="Text 5"/>
          <p:cNvSpPr/>
          <p:nvPr/>
        </p:nvSpPr>
        <p:spPr>
          <a:xfrm>
            <a:off x="3657600" y="1280160"/>
            <a:ext cx="2103120" cy="237744"/>
          </a:xfrm>
          <a:prstGeom prst="rect">
            <a:avLst/>
          </a:prstGeom>
          <a:noFill/>
          <a:ln/>
        </p:spPr>
        <p:txBody>
          <a:bodyPr wrap="square" lIns="0" tIns="0" rIns="0" bIns="0" rtlCol="0" anchor="ctr"/>
          <a:lstStyle/>
          <a:p>
            <a:pPr indent="0" marL="0">
              <a:buNone/>
            </a:pPr>
            <a:r>
              <a:rPr lang="en-US" sz="1000" b="1" spc="150" kern="0" dirty="0">
                <a:solidFill>
                  <a:srgbClr val="9E2A2B"/>
                </a:solidFill>
                <a:latin typeface="Calibri" pitchFamily="34" charset="0"/>
                <a:ea typeface="Calibri" pitchFamily="34" charset="-122"/>
                <a:cs typeface="Calibri" pitchFamily="34" charset="-120"/>
              </a:rPr>
              <a:t>PUBLISHED IN</a:t>
            </a:r>
            <a:endParaRPr lang="en-US" sz="1000" dirty="0"/>
          </a:p>
        </p:txBody>
      </p:sp>
      <p:sp>
        <p:nvSpPr>
          <p:cNvPr id="8" name="Text 6"/>
          <p:cNvSpPr/>
          <p:nvPr/>
        </p:nvSpPr>
        <p:spPr>
          <a:xfrm>
            <a:off x="5897880" y="1280160"/>
            <a:ext cx="5577840" cy="237744"/>
          </a:xfrm>
          <a:prstGeom prst="rect">
            <a:avLst/>
          </a:prstGeom>
          <a:noFill/>
          <a:ln/>
        </p:spPr>
        <p:txBody>
          <a:bodyPr wrap="square" lIns="0" tIns="0" rIns="0" bIns="0" rtlCol="0" anchor="ctr"/>
          <a:lstStyle/>
          <a:p>
            <a:pPr indent="0" marL="0">
              <a:buNone/>
            </a:pPr>
            <a:r>
              <a:rPr lang="en-US" sz="1000" b="1" spc="150" kern="0" dirty="0">
                <a:solidFill>
                  <a:srgbClr val="9E2A2B"/>
                </a:solidFill>
                <a:latin typeface="Calibri" pitchFamily="34" charset="0"/>
                <a:ea typeface="Calibri" pitchFamily="34" charset="-122"/>
                <a:cs typeface="Calibri" pitchFamily="34" charset="-120"/>
              </a:rPr>
              <a:t>CONTRIBUTION TO THIS PROJECT</a:t>
            </a:r>
            <a:endParaRPr lang="en-US" sz="1000" dirty="0"/>
          </a:p>
        </p:txBody>
      </p:sp>
      <p:sp>
        <p:nvSpPr>
          <p:cNvPr id="9" name="Text 7"/>
          <p:cNvSpPr/>
          <p:nvPr/>
        </p:nvSpPr>
        <p:spPr>
          <a:xfrm>
            <a:off x="777240" y="1572768"/>
            <a:ext cx="10698480" cy="201168"/>
          </a:xfrm>
          <a:prstGeom prst="rect">
            <a:avLst/>
          </a:prstGeom>
          <a:noFill/>
          <a:ln/>
        </p:spPr>
        <p:txBody>
          <a:bodyPr wrap="square" lIns="0" tIns="0" rIns="0" bIns="0" rtlCol="0" anchor="ctr"/>
          <a:lstStyle/>
          <a:p>
            <a:pPr indent="0" marL="0">
              <a:buNone/>
            </a:pPr>
            <a:r>
              <a:rPr lang="en-US" sz="950" b="1" spc="150" kern="0" dirty="0">
                <a:solidFill>
                  <a:srgbClr val="6E1B1C"/>
                </a:solidFill>
                <a:latin typeface="Calibri" pitchFamily="34" charset="0"/>
                <a:ea typeface="Calibri" pitchFamily="34" charset="-122"/>
                <a:cs typeface="Calibri" pitchFamily="34" charset="-120"/>
              </a:rPr>
              <a:t>CAMPUS BOOKING SYSTEMS</a:t>
            </a:r>
            <a:endParaRPr lang="en-US" sz="950" dirty="0"/>
          </a:p>
        </p:txBody>
      </p:sp>
      <p:sp>
        <p:nvSpPr>
          <p:cNvPr id="10" name="Shape 8"/>
          <p:cNvSpPr/>
          <p:nvPr/>
        </p:nvSpPr>
        <p:spPr>
          <a:xfrm>
            <a:off x="685800" y="1792224"/>
            <a:ext cx="10789920" cy="347472"/>
          </a:xfrm>
          <a:prstGeom prst="rect">
            <a:avLst/>
          </a:prstGeom>
          <a:solidFill>
            <a:srgbClr val="F4F5F7"/>
          </a:solidFill>
          <a:ln/>
        </p:spPr>
      </p:sp>
      <p:sp>
        <p:nvSpPr>
          <p:cNvPr id="11" name="Text 9"/>
          <p:cNvSpPr/>
          <p:nvPr/>
        </p:nvSpPr>
        <p:spPr>
          <a:xfrm>
            <a:off x="777240" y="1819656"/>
            <a:ext cx="2788920" cy="292608"/>
          </a:xfrm>
          <a:prstGeom prst="rect">
            <a:avLst/>
          </a:prstGeom>
          <a:noFill/>
          <a:ln/>
        </p:spPr>
        <p:txBody>
          <a:bodyPr wrap="square" lIns="0" tIns="0" rIns="0" bIns="0" rtlCol="0" anchor="ctr"/>
          <a:lstStyle/>
          <a:p>
            <a:pPr indent="0" marL="0">
              <a:buNone/>
            </a:pPr>
            <a:r>
              <a:rPr lang="en-US" sz="1150" b="1" dirty="0">
                <a:solidFill>
                  <a:srgbClr val="1F2430"/>
                </a:solidFill>
                <a:latin typeface="Calibri" pitchFamily="34" charset="0"/>
                <a:ea typeface="Calibri" pitchFamily="34" charset="-122"/>
                <a:cs typeface="Calibri" pitchFamily="34" charset="-120"/>
              </a:rPr>
              <a:t>Venkatesh et al. (2026)</a:t>
            </a:r>
            <a:endParaRPr lang="en-US" sz="1150" dirty="0"/>
          </a:p>
        </p:txBody>
      </p:sp>
      <p:sp>
        <p:nvSpPr>
          <p:cNvPr id="12" name="Text 10"/>
          <p:cNvSpPr/>
          <p:nvPr/>
        </p:nvSpPr>
        <p:spPr>
          <a:xfrm>
            <a:off x="3657600" y="1819656"/>
            <a:ext cx="2148840" cy="292608"/>
          </a:xfrm>
          <a:prstGeom prst="rect">
            <a:avLst/>
          </a:prstGeom>
          <a:noFill/>
          <a:ln/>
        </p:spPr>
        <p:txBody>
          <a:bodyPr wrap="square" lIns="0" tIns="0" rIns="0" bIns="0" rtlCol="0" anchor="ctr"/>
          <a:lstStyle/>
          <a:p>
            <a:pPr indent="0" marL="0">
              <a:buNone/>
            </a:pPr>
            <a:r>
              <a:rPr lang="en-US" sz="1050" i="1" dirty="0">
                <a:solidFill>
                  <a:srgbClr val="6E7079"/>
                </a:solidFill>
                <a:latin typeface="Calibri" pitchFamily="34" charset="0"/>
                <a:ea typeface="Calibri" pitchFamily="34" charset="-122"/>
                <a:cs typeface="Calibri" pitchFamily="34" charset="-120"/>
              </a:rPr>
              <a:t>IJERT</a:t>
            </a:r>
            <a:endParaRPr lang="en-US" sz="1050" dirty="0"/>
          </a:p>
        </p:txBody>
      </p:sp>
      <p:sp>
        <p:nvSpPr>
          <p:cNvPr id="13" name="Text 11"/>
          <p:cNvSpPr/>
          <p:nvPr/>
        </p:nvSpPr>
        <p:spPr>
          <a:xfrm>
            <a:off x="5897880" y="1819656"/>
            <a:ext cx="5532120" cy="292608"/>
          </a:xfrm>
          <a:prstGeom prst="rect">
            <a:avLst/>
          </a:prstGeom>
          <a:noFill/>
          <a:ln/>
        </p:spPr>
        <p:txBody>
          <a:bodyPr wrap="square" lIns="0" tIns="0" rIns="0" bIns="0" rtlCol="0" anchor="ctr"/>
          <a:lstStyle/>
          <a:p>
            <a:pPr indent="0" marL="0">
              <a:buNone/>
            </a:pPr>
            <a:r>
              <a:rPr lang="en-US" sz="1150" dirty="0">
                <a:solidFill>
                  <a:srgbClr val="6E1B1C"/>
                </a:solidFill>
                <a:latin typeface="Calibri" pitchFamily="34" charset="0"/>
                <a:ea typeface="Calibri" pitchFamily="34" charset="-122"/>
                <a:cs typeface="Calibri" pitchFamily="34" charset="-120"/>
              </a:rPr>
              <a:t>Baseline workflow: request, approve, record</a:t>
            </a:r>
            <a:endParaRPr lang="en-US" sz="1150" dirty="0"/>
          </a:p>
        </p:txBody>
      </p:sp>
      <p:sp>
        <p:nvSpPr>
          <p:cNvPr id="14" name="Shape 12"/>
          <p:cNvSpPr/>
          <p:nvPr/>
        </p:nvSpPr>
        <p:spPr>
          <a:xfrm>
            <a:off x="685800" y="2157984"/>
            <a:ext cx="10789920" cy="347472"/>
          </a:xfrm>
          <a:prstGeom prst="rect">
            <a:avLst/>
          </a:prstGeom>
          <a:solidFill>
            <a:srgbClr val="F4F5F7"/>
          </a:solidFill>
          <a:ln/>
        </p:spPr>
      </p:sp>
      <p:sp>
        <p:nvSpPr>
          <p:cNvPr id="15" name="Text 13"/>
          <p:cNvSpPr/>
          <p:nvPr/>
        </p:nvSpPr>
        <p:spPr>
          <a:xfrm>
            <a:off x="777240" y="2185416"/>
            <a:ext cx="2788920" cy="292608"/>
          </a:xfrm>
          <a:prstGeom prst="rect">
            <a:avLst/>
          </a:prstGeom>
          <a:noFill/>
          <a:ln/>
        </p:spPr>
        <p:txBody>
          <a:bodyPr wrap="square" lIns="0" tIns="0" rIns="0" bIns="0" rtlCol="0" anchor="ctr"/>
          <a:lstStyle/>
          <a:p>
            <a:pPr indent="0" marL="0">
              <a:buNone/>
            </a:pPr>
            <a:r>
              <a:rPr lang="en-US" sz="1150" b="1" dirty="0">
                <a:solidFill>
                  <a:srgbClr val="1F2430"/>
                </a:solidFill>
                <a:latin typeface="Calibri" pitchFamily="34" charset="0"/>
                <a:ea typeface="Calibri" pitchFamily="34" charset="-122"/>
                <a:cs typeface="Calibri" pitchFamily="34" charset="-120"/>
              </a:rPr>
              <a:t>Antony et al. (2026)</a:t>
            </a:r>
            <a:endParaRPr lang="en-US" sz="1150" dirty="0"/>
          </a:p>
        </p:txBody>
      </p:sp>
      <p:sp>
        <p:nvSpPr>
          <p:cNvPr id="16" name="Text 14"/>
          <p:cNvSpPr/>
          <p:nvPr/>
        </p:nvSpPr>
        <p:spPr>
          <a:xfrm>
            <a:off x="3657600" y="2185416"/>
            <a:ext cx="2148840" cy="292608"/>
          </a:xfrm>
          <a:prstGeom prst="rect">
            <a:avLst/>
          </a:prstGeom>
          <a:noFill/>
          <a:ln/>
        </p:spPr>
        <p:txBody>
          <a:bodyPr wrap="square" lIns="0" tIns="0" rIns="0" bIns="0" rtlCol="0" anchor="ctr"/>
          <a:lstStyle/>
          <a:p>
            <a:pPr indent="0" marL="0">
              <a:buNone/>
            </a:pPr>
            <a:r>
              <a:rPr lang="en-US" sz="1050" i="1" dirty="0">
                <a:solidFill>
                  <a:srgbClr val="6E7079"/>
                </a:solidFill>
                <a:latin typeface="Calibri" pitchFamily="34" charset="0"/>
                <a:ea typeface="Calibri" pitchFamily="34" charset="-122"/>
                <a:cs typeface="Calibri" pitchFamily="34" charset="-120"/>
              </a:rPr>
              <a:t>IJOEST</a:t>
            </a:r>
            <a:endParaRPr lang="en-US" sz="1050" dirty="0"/>
          </a:p>
        </p:txBody>
      </p:sp>
      <p:sp>
        <p:nvSpPr>
          <p:cNvPr id="17" name="Text 15"/>
          <p:cNvSpPr/>
          <p:nvPr/>
        </p:nvSpPr>
        <p:spPr>
          <a:xfrm>
            <a:off x="5897880" y="2185416"/>
            <a:ext cx="5532120" cy="292608"/>
          </a:xfrm>
          <a:prstGeom prst="rect">
            <a:avLst/>
          </a:prstGeom>
          <a:noFill/>
          <a:ln/>
        </p:spPr>
        <p:txBody>
          <a:bodyPr wrap="square" lIns="0" tIns="0" rIns="0" bIns="0" rtlCol="0" anchor="ctr"/>
          <a:lstStyle/>
          <a:p>
            <a:pPr indent="0" marL="0">
              <a:buNone/>
            </a:pPr>
            <a:r>
              <a:rPr lang="en-US" sz="1150" dirty="0">
                <a:solidFill>
                  <a:srgbClr val="6E1B1C"/>
                </a:solidFill>
                <a:latin typeface="Calibri" pitchFamily="34" charset="0"/>
                <a:ea typeface="Calibri" pitchFamily="34" charset="-122"/>
                <a:cs typeface="Calibri" pitchFamily="34" charset="-120"/>
              </a:rPr>
              <a:t>Names AI availability prediction as work not done</a:t>
            </a:r>
            <a:endParaRPr lang="en-US" sz="1150" dirty="0"/>
          </a:p>
        </p:txBody>
      </p:sp>
      <p:sp>
        <p:nvSpPr>
          <p:cNvPr id="18" name="Shape 16"/>
          <p:cNvSpPr/>
          <p:nvPr/>
        </p:nvSpPr>
        <p:spPr>
          <a:xfrm>
            <a:off x="685800" y="2523744"/>
            <a:ext cx="10789920" cy="347472"/>
          </a:xfrm>
          <a:prstGeom prst="rect">
            <a:avLst/>
          </a:prstGeom>
          <a:solidFill>
            <a:srgbClr val="F4F5F7"/>
          </a:solidFill>
          <a:ln/>
        </p:spPr>
      </p:sp>
      <p:sp>
        <p:nvSpPr>
          <p:cNvPr id="19" name="Text 17"/>
          <p:cNvSpPr/>
          <p:nvPr/>
        </p:nvSpPr>
        <p:spPr>
          <a:xfrm>
            <a:off x="777240" y="2551176"/>
            <a:ext cx="2788920" cy="292608"/>
          </a:xfrm>
          <a:prstGeom prst="rect">
            <a:avLst/>
          </a:prstGeom>
          <a:noFill/>
          <a:ln/>
        </p:spPr>
        <p:txBody>
          <a:bodyPr wrap="square" lIns="0" tIns="0" rIns="0" bIns="0" rtlCol="0" anchor="ctr"/>
          <a:lstStyle/>
          <a:p>
            <a:pPr indent="0" marL="0">
              <a:buNone/>
            </a:pPr>
            <a:r>
              <a:rPr lang="en-US" sz="1150" b="1" dirty="0">
                <a:solidFill>
                  <a:srgbClr val="1F2430"/>
                </a:solidFill>
                <a:latin typeface="Calibri" pitchFamily="34" charset="0"/>
                <a:ea typeface="Calibri" pitchFamily="34" charset="-122"/>
                <a:cs typeface="Calibri" pitchFamily="34" charset="-120"/>
              </a:rPr>
              <a:t>Artes et al. (2024)</a:t>
            </a:r>
            <a:endParaRPr lang="en-US" sz="1150" dirty="0"/>
          </a:p>
        </p:txBody>
      </p:sp>
      <p:sp>
        <p:nvSpPr>
          <p:cNvPr id="20" name="Text 18"/>
          <p:cNvSpPr/>
          <p:nvPr/>
        </p:nvSpPr>
        <p:spPr>
          <a:xfrm>
            <a:off x="3657600" y="2551176"/>
            <a:ext cx="2148840" cy="292608"/>
          </a:xfrm>
          <a:prstGeom prst="rect">
            <a:avLst/>
          </a:prstGeom>
          <a:noFill/>
          <a:ln/>
        </p:spPr>
        <p:txBody>
          <a:bodyPr wrap="square" lIns="0" tIns="0" rIns="0" bIns="0" rtlCol="0" anchor="ctr"/>
          <a:lstStyle/>
          <a:p>
            <a:pPr indent="0" marL="0">
              <a:buNone/>
            </a:pPr>
            <a:r>
              <a:rPr lang="en-US" sz="1050" i="1" dirty="0">
                <a:solidFill>
                  <a:srgbClr val="6E7079"/>
                </a:solidFill>
                <a:latin typeface="Calibri" pitchFamily="34" charset="0"/>
                <a:ea typeface="Calibri" pitchFamily="34" charset="-122"/>
                <a:cs typeface="Calibri" pitchFamily="34" charset="-120"/>
              </a:rPr>
              <a:t>ACM MSIE</a:t>
            </a:r>
            <a:endParaRPr lang="en-US" sz="1050" dirty="0"/>
          </a:p>
        </p:txBody>
      </p:sp>
      <p:sp>
        <p:nvSpPr>
          <p:cNvPr id="21" name="Text 19"/>
          <p:cNvSpPr/>
          <p:nvPr/>
        </p:nvSpPr>
        <p:spPr>
          <a:xfrm>
            <a:off x="5897880" y="2551176"/>
            <a:ext cx="5532120" cy="292608"/>
          </a:xfrm>
          <a:prstGeom prst="rect">
            <a:avLst/>
          </a:prstGeom>
          <a:noFill/>
          <a:ln/>
        </p:spPr>
        <p:txBody>
          <a:bodyPr wrap="square" lIns="0" tIns="0" rIns="0" bIns="0" rtlCol="0" anchor="ctr"/>
          <a:lstStyle/>
          <a:p>
            <a:pPr indent="0" marL="0">
              <a:buNone/>
            </a:pPr>
            <a:r>
              <a:rPr lang="en-US" sz="1150" dirty="0">
                <a:solidFill>
                  <a:srgbClr val="6E1B1C"/>
                </a:solidFill>
                <a:latin typeface="Calibri" pitchFamily="34" charset="0"/>
                <a:ea typeface="Calibri" pitchFamily="34" charset="-122"/>
                <a:cs typeface="Calibri" pitchFamily="34" charset="-120"/>
              </a:rPr>
              <a:t>Rigorous method, never implemented</a:t>
            </a:r>
            <a:endParaRPr lang="en-US" sz="1150" dirty="0"/>
          </a:p>
        </p:txBody>
      </p:sp>
      <p:sp>
        <p:nvSpPr>
          <p:cNvPr id="22" name="Shape 20"/>
          <p:cNvSpPr/>
          <p:nvPr/>
        </p:nvSpPr>
        <p:spPr>
          <a:xfrm>
            <a:off x="685800" y="2889504"/>
            <a:ext cx="10789920" cy="347472"/>
          </a:xfrm>
          <a:prstGeom prst="rect">
            <a:avLst/>
          </a:prstGeom>
          <a:solidFill>
            <a:srgbClr val="F4F5F7"/>
          </a:solidFill>
          <a:ln/>
        </p:spPr>
      </p:sp>
      <p:sp>
        <p:nvSpPr>
          <p:cNvPr id="23" name="Text 21"/>
          <p:cNvSpPr/>
          <p:nvPr/>
        </p:nvSpPr>
        <p:spPr>
          <a:xfrm>
            <a:off x="777240" y="2916936"/>
            <a:ext cx="2788920" cy="292608"/>
          </a:xfrm>
          <a:prstGeom prst="rect">
            <a:avLst/>
          </a:prstGeom>
          <a:noFill/>
          <a:ln/>
        </p:spPr>
        <p:txBody>
          <a:bodyPr wrap="square" lIns="0" tIns="0" rIns="0" bIns="0" rtlCol="0" anchor="ctr"/>
          <a:lstStyle/>
          <a:p>
            <a:pPr indent="0" marL="0">
              <a:buNone/>
            </a:pPr>
            <a:r>
              <a:rPr lang="en-US" sz="1150" b="1" dirty="0">
                <a:solidFill>
                  <a:srgbClr val="1F2430"/>
                </a:solidFill>
                <a:latin typeface="Calibri" pitchFamily="34" charset="0"/>
                <a:ea typeface="Calibri" pitchFamily="34" charset="-122"/>
                <a:cs typeface="Calibri" pitchFamily="34" charset="-120"/>
              </a:rPr>
              <a:t>Hwang, Jung &amp; Lee (2022)</a:t>
            </a:r>
            <a:endParaRPr lang="en-US" sz="1150" dirty="0"/>
          </a:p>
        </p:txBody>
      </p:sp>
      <p:sp>
        <p:nvSpPr>
          <p:cNvPr id="24" name="Text 22"/>
          <p:cNvSpPr/>
          <p:nvPr/>
        </p:nvSpPr>
        <p:spPr>
          <a:xfrm>
            <a:off x="3657600" y="2916936"/>
            <a:ext cx="2148840" cy="292608"/>
          </a:xfrm>
          <a:prstGeom prst="rect">
            <a:avLst/>
          </a:prstGeom>
          <a:noFill/>
          <a:ln/>
        </p:spPr>
        <p:txBody>
          <a:bodyPr wrap="square" lIns="0" tIns="0" rIns="0" bIns="0" rtlCol="0" anchor="ctr"/>
          <a:lstStyle/>
          <a:p>
            <a:pPr indent="0" marL="0">
              <a:buNone/>
            </a:pPr>
            <a:r>
              <a:rPr lang="en-US" sz="1050" i="1" dirty="0">
                <a:solidFill>
                  <a:srgbClr val="6E7079"/>
                </a:solidFill>
                <a:latin typeface="Calibri" pitchFamily="34" charset="0"/>
                <a:ea typeface="Calibri" pitchFamily="34" charset="-122"/>
                <a:cs typeface="Calibri" pitchFamily="34" charset="-120"/>
              </a:rPr>
              <a:t>JPSP</a:t>
            </a:r>
            <a:endParaRPr lang="en-US" sz="1050" dirty="0"/>
          </a:p>
        </p:txBody>
      </p:sp>
      <p:sp>
        <p:nvSpPr>
          <p:cNvPr id="25" name="Text 23"/>
          <p:cNvSpPr/>
          <p:nvPr/>
        </p:nvSpPr>
        <p:spPr>
          <a:xfrm>
            <a:off x="5897880" y="2916936"/>
            <a:ext cx="5532120" cy="292608"/>
          </a:xfrm>
          <a:prstGeom prst="rect">
            <a:avLst/>
          </a:prstGeom>
          <a:noFill/>
          <a:ln/>
        </p:spPr>
        <p:txBody>
          <a:bodyPr wrap="square" lIns="0" tIns="0" rIns="0" bIns="0" rtlCol="0" anchor="ctr"/>
          <a:lstStyle/>
          <a:p>
            <a:pPr indent="0" marL="0">
              <a:buNone/>
            </a:pPr>
            <a:r>
              <a:rPr lang="en-US" sz="1150" dirty="0">
                <a:solidFill>
                  <a:srgbClr val="6E1B1C"/>
                </a:solidFill>
                <a:latin typeface="Calibri" pitchFamily="34" charset="0"/>
                <a:ea typeface="Calibri" pitchFamily="34" charset="-122"/>
                <a:cs typeface="Calibri" pitchFamily="34" charset="-120"/>
              </a:rPr>
              <a:t>Conflict prevention belongs in the data layer</a:t>
            </a:r>
            <a:endParaRPr lang="en-US" sz="1150" dirty="0"/>
          </a:p>
        </p:txBody>
      </p:sp>
      <p:sp>
        <p:nvSpPr>
          <p:cNvPr id="26" name="Shape 24"/>
          <p:cNvSpPr/>
          <p:nvPr/>
        </p:nvSpPr>
        <p:spPr>
          <a:xfrm>
            <a:off x="685800" y="3255264"/>
            <a:ext cx="10789920" cy="347472"/>
          </a:xfrm>
          <a:prstGeom prst="rect">
            <a:avLst/>
          </a:prstGeom>
          <a:solidFill>
            <a:srgbClr val="F4F5F7"/>
          </a:solidFill>
          <a:ln/>
        </p:spPr>
      </p:sp>
      <p:sp>
        <p:nvSpPr>
          <p:cNvPr id="27" name="Text 25"/>
          <p:cNvSpPr/>
          <p:nvPr/>
        </p:nvSpPr>
        <p:spPr>
          <a:xfrm>
            <a:off x="777240" y="3282696"/>
            <a:ext cx="2788920" cy="292608"/>
          </a:xfrm>
          <a:prstGeom prst="rect">
            <a:avLst/>
          </a:prstGeom>
          <a:noFill/>
          <a:ln/>
        </p:spPr>
        <p:txBody>
          <a:bodyPr wrap="square" lIns="0" tIns="0" rIns="0" bIns="0" rtlCol="0" anchor="ctr"/>
          <a:lstStyle/>
          <a:p>
            <a:pPr indent="0" marL="0">
              <a:buNone/>
            </a:pPr>
            <a:r>
              <a:rPr lang="en-US" sz="1150" b="1" dirty="0">
                <a:solidFill>
                  <a:srgbClr val="1F2430"/>
                </a:solidFill>
                <a:latin typeface="Calibri" pitchFamily="34" charset="0"/>
                <a:ea typeface="Calibri" pitchFamily="34" charset="-122"/>
                <a:cs typeface="Calibri" pitchFamily="34" charset="-120"/>
              </a:rPr>
              <a:t>Lalitha et al. (2022)</a:t>
            </a:r>
            <a:endParaRPr lang="en-US" sz="1150" dirty="0"/>
          </a:p>
        </p:txBody>
      </p:sp>
      <p:sp>
        <p:nvSpPr>
          <p:cNvPr id="28" name="Text 26"/>
          <p:cNvSpPr/>
          <p:nvPr/>
        </p:nvSpPr>
        <p:spPr>
          <a:xfrm>
            <a:off x="3657600" y="3282696"/>
            <a:ext cx="2148840" cy="292608"/>
          </a:xfrm>
          <a:prstGeom prst="rect">
            <a:avLst/>
          </a:prstGeom>
          <a:noFill/>
          <a:ln/>
        </p:spPr>
        <p:txBody>
          <a:bodyPr wrap="square" lIns="0" tIns="0" rIns="0" bIns="0" rtlCol="0" anchor="ctr"/>
          <a:lstStyle/>
          <a:p>
            <a:pPr indent="0" marL="0">
              <a:buNone/>
            </a:pPr>
            <a:r>
              <a:rPr lang="en-US" sz="1050" i="1" dirty="0">
                <a:solidFill>
                  <a:srgbClr val="6E7079"/>
                </a:solidFill>
                <a:latin typeface="Calibri" pitchFamily="34" charset="0"/>
                <a:ea typeface="Calibri" pitchFamily="34" charset="-122"/>
                <a:cs typeface="Calibri" pitchFamily="34" charset="-120"/>
              </a:rPr>
              <a:t>IEEE ICCST</a:t>
            </a:r>
            <a:endParaRPr lang="en-US" sz="1050" dirty="0"/>
          </a:p>
        </p:txBody>
      </p:sp>
      <p:sp>
        <p:nvSpPr>
          <p:cNvPr id="29" name="Text 27"/>
          <p:cNvSpPr/>
          <p:nvPr/>
        </p:nvSpPr>
        <p:spPr>
          <a:xfrm>
            <a:off x="5897880" y="3282696"/>
            <a:ext cx="5532120" cy="292608"/>
          </a:xfrm>
          <a:prstGeom prst="rect">
            <a:avLst/>
          </a:prstGeom>
          <a:noFill/>
          <a:ln/>
        </p:spPr>
        <p:txBody>
          <a:bodyPr wrap="square" lIns="0" tIns="0" rIns="0" bIns="0" rtlCol="0" anchor="ctr"/>
          <a:lstStyle/>
          <a:p>
            <a:pPr indent="0" marL="0">
              <a:buNone/>
            </a:pPr>
            <a:r>
              <a:rPr lang="en-US" sz="1150" dirty="0">
                <a:solidFill>
                  <a:srgbClr val="6E1B1C"/>
                </a:solidFill>
                <a:latin typeface="Calibri" pitchFamily="34" charset="0"/>
                <a:ea typeface="Calibri" pitchFamily="34" charset="-122"/>
                <a:cs typeface="Calibri" pitchFamily="34" charset="-120"/>
              </a:rPr>
              <a:t>One facility type, one fixed rule set</a:t>
            </a:r>
            <a:endParaRPr lang="en-US" sz="1150" dirty="0"/>
          </a:p>
        </p:txBody>
      </p:sp>
      <p:sp>
        <p:nvSpPr>
          <p:cNvPr id="30" name="Text 28"/>
          <p:cNvSpPr/>
          <p:nvPr/>
        </p:nvSpPr>
        <p:spPr>
          <a:xfrm>
            <a:off x="777240" y="3648456"/>
            <a:ext cx="10698480" cy="201168"/>
          </a:xfrm>
          <a:prstGeom prst="rect">
            <a:avLst/>
          </a:prstGeom>
          <a:noFill/>
          <a:ln/>
        </p:spPr>
        <p:txBody>
          <a:bodyPr wrap="square" lIns="0" tIns="0" rIns="0" bIns="0" rtlCol="0" anchor="ctr"/>
          <a:lstStyle/>
          <a:p>
            <a:pPr indent="0" marL="0">
              <a:buNone/>
            </a:pPr>
            <a:r>
              <a:rPr lang="en-US" sz="950" b="1" spc="150" kern="0" dirty="0">
                <a:solidFill>
                  <a:srgbClr val="6E1B1C"/>
                </a:solidFill>
                <a:latin typeface="Calibri" pitchFamily="34" charset="0"/>
                <a:ea typeface="Calibri" pitchFamily="34" charset="-122"/>
                <a:cs typeface="Calibri" pitchFamily="34" charset="-120"/>
              </a:rPr>
              <a:t>RECOMMENDATION</a:t>
            </a:r>
            <a:endParaRPr lang="en-US" sz="950" dirty="0"/>
          </a:p>
        </p:txBody>
      </p:sp>
      <p:sp>
        <p:nvSpPr>
          <p:cNvPr id="31" name="Shape 29"/>
          <p:cNvSpPr/>
          <p:nvPr/>
        </p:nvSpPr>
        <p:spPr>
          <a:xfrm>
            <a:off x="685800" y="3867912"/>
            <a:ext cx="10789920" cy="347472"/>
          </a:xfrm>
          <a:prstGeom prst="rect">
            <a:avLst/>
          </a:prstGeom>
          <a:solidFill>
            <a:srgbClr val="F4F5F7"/>
          </a:solidFill>
          <a:ln/>
        </p:spPr>
      </p:sp>
      <p:sp>
        <p:nvSpPr>
          <p:cNvPr id="32" name="Text 30"/>
          <p:cNvSpPr/>
          <p:nvPr/>
        </p:nvSpPr>
        <p:spPr>
          <a:xfrm>
            <a:off x="777240" y="3895344"/>
            <a:ext cx="2788920" cy="292608"/>
          </a:xfrm>
          <a:prstGeom prst="rect">
            <a:avLst/>
          </a:prstGeom>
          <a:noFill/>
          <a:ln/>
        </p:spPr>
        <p:txBody>
          <a:bodyPr wrap="square" lIns="0" tIns="0" rIns="0" bIns="0" rtlCol="0" anchor="ctr"/>
          <a:lstStyle/>
          <a:p>
            <a:pPr indent="0" marL="0">
              <a:buNone/>
            </a:pPr>
            <a:r>
              <a:rPr lang="en-US" sz="1150" b="1" dirty="0">
                <a:solidFill>
                  <a:srgbClr val="1F2430"/>
                </a:solidFill>
                <a:latin typeface="Calibri" pitchFamily="34" charset="0"/>
                <a:ea typeface="Calibri" pitchFamily="34" charset="-122"/>
                <a:cs typeface="Calibri" pitchFamily="34" charset="-120"/>
              </a:rPr>
              <a:t>Roy &amp; Dutta (2022)</a:t>
            </a:r>
            <a:endParaRPr lang="en-US" sz="1150" dirty="0"/>
          </a:p>
        </p:txBody>
      </p:sp>
      <p:sp>
        <p:nvSpPr>
          <p:cNvPr id="33" name="Text 31"/>
          <p:cNvSpPr/>
          <p:nvPr/>
        </p:nvSpPr>
        <p:spPr>
          <a:xfrm>
            <a:off x="3657600" y="3895344"/>
            <a:ext cx="2148840" cy="292608"/>
          </a:xfrm>
          <a:prstGeom prst="rect">
            <a:avLst/>
          </a:prstGeom>
          <a:noFill/>
          <a:ln/>
        </p:spPr>
        <p:txBody>
          <a:bodyPr wrap="square" lIns="0" tIns="0" rIns="0" bIns="0" rtlCol="0" anchor="ctr"/>
          <a:lstStyle/>
          <a:p>
            <a:pPr indent="0" marL="0">
              <a:buNone/>
            </a:pPr>
            <a:r>
              <a:rPr lang="en-US" sz="1050" i="1" dirty="0">
                <a:solidFill>
                  <a:srgbClr val="6E7079"/>
                </a:solidFill>
                <a:latin typeface="Calibri" pitchFamily="34" charset="0"/>
                <a:ea typeface="Calibri" pitchFamily="34" charset="-122"/>
                <a:cs typeface="Calibri" pitchFamily="34" charset="-120"/>
              </a:rPr>
              <a:t>J. Big Data</a:t>
            </a:r>
            <a:endParaRPr lang="en-US" sz="1050" dirty="0"/>
          </a:p>
        </p:txBody>
      </p:sp>
      <p:sp>
        <p:nvSpPr>
          <p:cNvPr id="34" name="Text 32"/>
          <p:cNvSpPr/>
          <p:nvPr/>
        </p:nvSpPr>
        <p:spPr>
          <a:xfrm>
            <a:off x="5897880" y="3895344"/>
            <a:ext cx="5532120" cy="292608"/>
          </a:xfrm>
          <a:prstGeom prst="rect">
            <a:avLst/>
          </a:prstGeom>
          <a:noFill/>
          <a:ln/>
        </p:spPr>
        <p:txBody>
          <a:bodyPr wrap="square" lIns="0" tIns="0" rIns="0" bIns="0" rtlCol="0" anchor="ctr"/>
          <a:lstStyle/>
          <a:p>
            <a:pPr indent="0" marL="0">
              <a:buNone/>
            </a:pPr>
            <a:r>
              <a:rPr lang="en-US" sz="1150" dirty="0">
                <a:solidFill>
                  <a:srgbClr val="6E1B1C"/>
                </a:solidFill>
                <a:latin typeface="Calibri" pitchFamily="34" charset="0"/>
                <a:ea typeface="Calibri" pitchFamily="34" charset="-122"/>
                <a:cs typeface="Calibri" pitchFamily="34" charset="-120"/>
              </a:rPr>
              <a:t>Cold start and sparsity: scoring over training</a:t>
            </a:r>
            <a:endParaRPr lang="en-US" sz="1150" dirty="0"/>
          </a:p>
        </p:txBody>
      </p:sp>
      <p:sp>
        <p:nvSpPr>
          <p:cNvPr id="35" name="Shape 33"/>
          <p:cNvSpPr/>
          <p:nvPr/>
        </p:nvSpPr>
        <p:spPr>
          <a:xfrm>
            <a:off x="685800" y="4233672"/>
            <a:ext cx="10789920" cy="347472"/>
          </a:xfrm>
          <a:prstGeom prst="rect">
            <a:avLst/>
          </a:prstGeom>
          <a:solidFill>
            <a:srgbClr val="F4F5F7"/>
          </a:solidFill>
          <a:ln/>
        </p:spPr>
      </p:sp>
      <p:sp>
        <p:nvSpPr>
          <p:cNvPr id="36" name="Text 34"/>
          <p:cNvSpPr/>
          <p:nvPr/>
        </p:nvSpPr>
        <p:spPr>
          <a:xfrm>
            <a:off x="777240" y="4261104"/>
            <a:ext cx="2788920" cy="292608"/>
          </a:xfrm>
          <a:prstGeom prst="rect">
            <a:avLst/>
          </a:prstGeom>
          <a:noFill/>
          <a:ln/>
        </p:spPr>
        <p:txBody>
          <a:bodyPr wrap="square" lIns="0" tIns="0" rIns="0" bIns="0" rtlCol="0" anchor="ctr"/>
          <a:lstStyle/>
          <a:p>
            <a:pPr indent="0" marL="0">
              <a:buNone/>
            </a:pPr>
            <a:r>
              <a:rPr lang="en-US" sz="1150" b="1" dirty="0">
                <a:solidFill>
                  <a:srgbClr val="1F2430"/>
                </a:solidFill>
                <a:latin typeface="Calibri" pitchFamily="34" charset="0"/>
                <a:ea typeface="Calibri" pitchFamily="34" charset="-122"/>
                <a:cs typeface="Calibri" pitchFamily="34" charset="-120"/>
              </a:rPr>
              <a:t>Valencia-Arias et al. (2024)</a:t>
            </a:r>
            <a:endParaRPr lang="en-US" sz="1150" dirty="0"/>
          </a:p>
        </p:txBody>
      </p:sp>
      <p:sp>
        <p:nvSpPr>
          <p:cNvPr id="37" name="Text 35"/>
          <p:cNvSpPr/>
          <p:nvPr/>
        </p:nvSpPr>
        <p:spPr>
          <a:xfrm>
            <a:off x="3657600" y="4261104"/>
            <a:ext cx="2148840" cy="292608"/>
          </a:xfrm>
          <a:prstGeom prst="rect">
            <a:avLst/>
          </a:prstGeom>
          <a:noFill/>
          <a:ln/>
        </p:spPr>
        <p:txBody>
          <a:bodyPr wrap="square" lIns="0" tIns="0" rIns="0" bIns="0" rtlCol="0" anchor="ctr"/>
          <a:lstStyle/>
          <a:p>
            <a:pPr indent="0" marL="0">
              <a:buNone/>
            </a:pPr>
            <a:r>
              <a:rPr lang="en-US" sz="1050" i="1" dirty="0">
                <a:solidFill>
                  <a:srgbClr val="6E7079"/>
                </a:solidFill>
                <a:latin typeface="Calibri" pitchFamily="34" charset="0"/>
                <a:ea typeface="Calibri" pitchFamily="34" charset="-122"/>
                <a:cs typeface="Calibri" pitchFamily="34" charset="-120"/>
              </a:rPr>
              <a:t>ISWA</a:t>
            </a:r>
            <a:endParaRPr lang="en-US" sz="1050" dirty="0"/>
          </a:p>
        </p:txBody>
      </p:sp>
      <p:sp>
        <p:nvSpPr>
          <p:cNvPr id="38" name="Text 36"/>
          <p:cNvSpPr/>
          <p:nvPr/>
        </p:nvSpPr>
        <p:spPr>
          <a:xfrm>
            <a:off x="5897880" y="4261104"/>
            <a:ext cx="5532120" cy="292608"/>
          </a:xfrm>
          <a:prstGeom prst="rect">
            <a:avLst/>
          </a:prstGeom>
          <a:noFill/>
          <a:ln/>
        </p:spPr>
        <p:txBody>
          <a:bodyPr wrap="square" lIns="0" tIns="0" rIns="0" bIns="0" rtlCol="0" anchor="ctr"/>
          <a:lstStyle/>
          <a:p>
            <a:pPr indent="0" marL="0">
              <a:buNone/>
            </a:pPr>
            <a:r>
              <a:rPr lang="en-US" sz="1150" dirty="0">
                <a:solidFill>
                  <a:srgbClr val="6E1B1C"/>
                </a:solidFill>
                <a:latin typeface="Calibri" pitchFamily="34" charset="0"/>
                <a:ea typeface="Calibri" pitchFamily="34" charset="-122"/>
                <a:cs typeface="Calibri" pitchFamily="34" charset="-120"/>
              </a:rPr>
              <a:t>Context-awareness and explainability</a:t>
            </a:r>
            <a:endParaRPr lang="en-US" sz="1150" dirty="0"/>
          </a:p>
        </p:txBody>
      </p:sp>
      <p:sp>
        <p:nvSpPr>
          <p:cNvPr id="39" name="Text 37"/>
          <p:cNvSpPr/>
          <p:nvPr/>
        </p:nvSpPr>
        <p:spPr>
          <a:xfrm>
            <a:off x="777240" y="4626864"/>
            <a:ext cx="10698480" cy="201168"/>
          </a:xfrm>
          <a:prstGeom prst="rect">
            <a:avLst/>
          </a:prstGeom>
          <a:noFill/>
          <a:ln/>
        </p:spPr>
        <p:txBody>
          <a:bodyPr wrap="square" lIns="0" tIns="0" rIns="0" bIns="0" rtlCol="0" anchor="ctr"/>
          <a:lstStyle/>
          <a:p>
            <a:pPr indent="0" marL="0">
              <a:buNone/>
            </a:pPr>
            <a:r>
              <a:rPr lang="en-US" sz="950" b="1" spc="150" kern="0" dirty="0">
                <a:solidFill>
                  <a:srgbClr val="6E1B1C"/>
                </a:solidFill>
                <a:latin typeface="Calibri" pitchFamily="34" charset="0"/>
                <a:ea typeface="Calibri" pitchFamily="34" charset="-122"/>
                <a:cs typeface="Calibri" pitchFamily="34" charset="-120"/>
              </a:rPr>
              <a:t>CONVERSATIONAL ASSISTANTS IN HIGHER EDUCATION</a:t>
            </a:r>
            <a:endParaRPr lang="en-US" sz="950" dirty="0"/>
          </a:p>
        </p:txBody>
      </p:sp>
      <p:sp>
        <p:nvSpPr>
          <p:cNvPr id="40" name="Shape 38"/>
          <p:cNvSpPr/>
          <p:nvPr/>
        </p:nvSpPr>
        <p:spPr>
          <a:xfrm>
            <a:off x="685800" y="4846320"/>
            <a:ext cx="10789920" cy="347472"/>
          </a:xfrm>
          <a:prstGeom prst="rect">
            <a:avLst/>
          </a:prstGeom>
          <a:solidFill>
            <a:srgbClr val="F4F5F7"/>
          </a:solidFill>
          <a:ln/>
        </p:spPr>
      </p:sp>
      <p:sp>
        <p:nvSpPr>
          <p:cNvPr id="41" name="Text 39"/>
          <p:cNvSpPr/>
          <p:nvPr/>
        </p:nvSpPr>
        <p:spPr>
          <a:xfrm>
            <a:off x="777240" y="4873752"/>
            <a:ext cx="2788920" cy="292608"/>
          </a:xfrm>
          <a:prstGeom prst="rect">
            <a:avLst/>
          </a:prstGeom>
          <a:noFill/>
          <a:ln/>
        </p:spPr>
        <p:txBody>
          <a:bodyPr wrap="square" lIns="0" tIns="0" rIns="0" bIns="0" rtlCol="0" anchor="ctr"/>
          <a:lstStyle/>
          <a:p>
            <a:pPr indent="0" marL="0">
              <a:buNone/>
            </a:pPr>
            <a:r>
              <a:rPr lang="en-US" sz="1150" b="1" dirty="0">
                <a:solidFill>
                  <a:srgbClr val="1F2430"/>
                </a:solidFill>
                <a:latin typeface="Calibri" pitchFamily="34" charset="0"/>
                <a:ea typeface="Calibri" pitchFamily="34" charset="-122"/>
                <a:cs typeface="Calibri" pitchFamily="34" charset="-120"/>
              </a:rPr>
              <a:t>Okonkwo &amp; Ade-Ibijola (2021)</a:t>
            </a:r>
            <a:endParaRPr lang="en-US" sz="1150" dirty="0"/>
          </a:p>
        </p:txBody>
      </p:sp>
      <p:sp>
        <p:nvSpPr>
          <p:cNvPr id="42" name="Text 40"/>
          <p:cNvSpPr/>
          <p:nvPr/>
        </p:nvSpPr>
        <p:spPr>
          <a:xfrm>
            <a:off x="3657600" y="4873752"/>
            <a:ext cx="2148840" cy="292608"/>
          </a:xfrm>
          <a:prstGeom prst="rect">
            <a:avLst/>
          </a:prstGeom>
          <a:noFill/>
          <a:ln/>
        </p:spPr>
        <p:txBody>
          <a:bodyPr wrap="square" lIns="0" tIns="0" rIns="0" bIns="0" rtlCol="0" anchor="ctr"/>
          <a:lstStyle/>
          <a:p>
            <a:pPr indent="0" marL="0">
              <a:buNone/>
            </a:pPr>
            <a:r>
              <a:rPr lang="en-US" sz="1050" i="1" dirty="0">
                <a:solidFill>
                  <a:srgbClr val="6E7079"/>
                </a:solidFill>
                <a:latin typeface="Calibri" pitchFamily="34" charset="0"/>
                <a:ea typeface="Calibri" pitchFamily="34" charset="-122"/>
                <a:cs typeface="Calibri" pitchFamily="34" charset="-120"/>
              </a:rPr>
              <a:t>Computers &amp; Ed: AI</a:t>
            </a:r>
            <a:endParaRPr lang="en-US" sz="1050" dirty="0"/>
          </a:p>
        </p:txBody>
      </p:sp>
      <p:sp>
        <p:nvSpPr>
          <p:cNvPr id="43" name="Text 41"/>
          <p:cNvSpPr/>
          <p:nvPr/>
        </p:nvSpPr>
        <p:spPr>
          <a:xfrm>
            <a:off x="5897880" y="4873752"/>
            <a:ext cx="5532120" cy="292608"/>
          </a:xfrm>
          <a:prstGeom prst="rect">
            <a:avLst/>
          </a:prstGeom>
          <a:noFill/>
          <a:ln/>
        </p:spPr>
        <p:txBody>
          <a:bodyPr wrap="square" lIns="0" tIns="0" rIns="0" bIns="0" rtlCol="0" anchor="ctr"/>
          <a:lstStyle/>
          <a:p>
            <a:pPr indent="0" marL="0">
              <a:buNone/>
            </a:pPr>
            <a:r>
              <a:rPr lang="en-US" sz="1150" dirty="0">
                <a:solidFill>
                  <a:srgbClr val="6E1B1C"/>
                </a:solidFill>
                <a:latin typeface="Calibri" pitchFamily="34" charset="0"/>
                <a:ea typeface="Calibri" pitchFamily="34" charset="-122"/>
                <a:cs typeface="Calibri" pitchFamily="34" charset="-120"/>
              </a:rPr>
              <a:t>Administrative queries as the use case; error as the risk</a:t>
            </a:r>
            <a:endParaRPr lang="en-US" sz="1150" dirty="0"/>
          </a:p>
        </p:txBody>
      </p:sp>
      <p:sp>
        <p:nvSpPr>
          <p:cNvPr id="44" name="Shape 42"/>
          <p:cNvSpPr/>
          <p:nvPr/>
        </p:nvSpPr>
        <p:spPr>
          <a:xfrm>
            <a:off x="685800" y="5212080"/>
            <a:ext cx="10789920" cy="347472"/>
          </a:xfrm>
          <a:prstGeom prst="rect">
            <a:avLst/>
          </a:prstGeom>
          <a:solidFill>
            <a:srgbClr val="F4F5F7"/>
          </a:solidFill>
          <a:ln/>
        </p:spPr>
      </p:sp>
      <p:sp>
        <p:nvSpPr>
          <p:cNvPr id="45" name="Text 43"/>
          <p:cNvSpPr/>
          <p:nvPr/>
        </p:nvSpPr>
        <p:spPr>
          <a:xfrm>
            <a:off x="777240" y="5239512"/>
            <a:ext cx="2788920" cy="292608"/>
          </a:xfrm>
          <a:prstGeom prst="rect">
            <a:avLst/>
          </a:prstGeom>
          <a:noFill/>
          <a:ln/>
        </p:spPr>
        <p:txBody>
          <a:bodyPr wrap="square" lIns="0" tIns="0" rIns="0" bIns="0" rtlCol="0" anchor="ctr"/>
          <a:lstStyle/>
          <a:p>
            <a:pPr indent="0" marL="0">
              <a:buNone/>
            </a:pPr>
            <a:r>
              <a:rPr lang="en-US" sz="1150" b="1" dirty="0">
                <a:solidFill>
                  <a:srgbClr val="1F2430"/>
                </a:solidFill>
                <a:latin typeface="Calibri" pitchFamily="34" charset="0"/>
                <a:ea typeface="Calibri" pitchFamily="34" charset="-122"/>
                <a:cs typeface="Calibri" pitchFamily="34" charset="-120"/>
              </a:rPr>
              <a:t>Rahim et al. (2022)</a:t>
            </a:r>
            <a:endParaRPr lang="en-US" sz="1150" dirty="0"/>
          </a:p>
        </p:txBody>
      </p:sp>
      <p:sp>
        <p:nvSpPr>
          <p:cNvPr id="46" name="Text 44"/>
          <p:cNvSpPr/>
          <p:nvPr/>
        </p:nvSpPr>
        <p:spPr>
          <a:xfrm>
            <a:off x="3657600" y="5239512"/>
            <a:ext cx="2148840" cy="292608"/>
          </a:xfrm>
          <a:prstGeom prst="rect">
            <a:avLst/>
          </a:prstGeom>
          <a:noFill/>
          <a:ln/>
        </p:spPr>
        <p:txBody>
          <a:bodyPr wrap="square" lIns="0" tIns="0" rIns="0" bIns="0" rtlCol="0" anchor="ctr"/>
          <a:lstStyle/>
          <a:p>
            <a:pPr indent="0" marL="0">
              <a:buNone/>
            </a:pPr>
            <a:r>
              <a:rPr lang="en-US" sz="1050" i="1" dirty="0">
                <a:solidFill>
                  <a:srgbClr val="6E7079"/>
                </a:solidFill>
                <a:latin typeface="Calibri" pitchFamily="34" charset="0"/>
                <a:ea typeface="Calibri" pitchFamily="34" charset="-122"/>
                <a:cs typeface="Calibri" pitchFamily="34" charset="-120"/>
              </a:rPr>
              <a:t>Sustainability</a:t>
            </a:r>
            <a:endParaRPr lang="en-US" sz="1050" dirty="0"/>
          </a:p>
        </p:txBody>
      </p:sp>
      <p:sp>
        <p:nvSpPr>
          <p:cNvPr id="47" name="Text 45"/>
          <p:cNvSpPr/>
          <p:nvPr/>
        </p:nvSpPr>
        <p:spPr>
          <a:xfrm>
            <a:off x="5897880" y="5239512"/>
            <a:ext cx="5532120" cy="292608"/>
          </a:xfrm>
          <a:prstGeom prst="rect">
            <a:avLst/>
          </a:prstGeom>
          <a:noFill/>
          <a:ln/>
        </p:spPr>
        <p:txBody>
          <a:bodyPr wrap="square" lIns="0" tIns="0" rIns="0" bIns="0" rtlCol="0" anchor="ctr"/>
          <a:lstStyle/>
          <a:p>
            <a:pPr indent="0" marL="0">
              <a:buNone/>
            </a:pPr>
            <a:r>
              <a:rPr lang="en-US" sz="1150" dirty="0">
                <a:solidFill>
                  <a:srgbClr val="6E1B1C"/>
                </a:solidFill>
                <a:latin typeface="Calibri" pitchFamily="34" charset="0"/>
                <a:ea typeface="Calibri" pitchFamily="34" charset="-122"/>
                <a:cs typeface="Calibri" pitchFamily="34" charset="-120"/>
              </a:rPr>
              <a:t>302 Malaysian students: trust governs adoption</a:t>
            </a:r>
            <a:endParaRPr lang="en-US" sz="1150" dirty="0"/>
          </a:p>
        </p:txBody>
      </p:sp>
      <p:sp>
        <p:nvSpPr>
          <p:cNvPr id="48" name="Shape 46"/>
          <p:cNvSpPr/>
          <p:nvPr/>
        </p:nvSpPr>
        <p:spPr>
          <a:xfrm>
            <a:off x="685800" y="5577840"/>
            <a:ext cx="10789920" cy="347472"/>
          </a:xfrm>
          <a:prstGeom prst="rect">
            <a:avLst/>
          </a:prstGeom>
          <a:solidFill>
            <a:srgbClr val="F4F5F7"/>
          </a:solidFill>
          <a:ln/>
        </p:spPr>
      </p:sp>
      <p:sp>
        <p:nvSpPr>
          <p:cNvPr id="49" name="Text 47"/>
          <p:cNvSpPr/>
          <p:nvPr/>
        </p:nvSpPr>
        <p:spPr>
          <a:xfrm>
            <a:off x="777240" y="5605272"/>
            <a:ext cx="2788920" cy="292608"/>
          </a:xfrm>
          <a:prstGeom prst="rect">
            <a:avLst/>
          </a:prstGeom>
          <a:noFill/>
          <a:ln/>
        </p:spPr>
        <p:txBody>
          <a:bodyPr wrap="square" lIns="0" tIns="0" rIns="0" bIns="0" rtlCol="0" anchor="ctr"/>
          <a:lstStyle/>
          <a:p>
            <a:pPr indent="0" marL="0">
              <a:buNone/>
            </a:pPr>
            <a:r>
              <a:rPr lang="en-US" sz="1150" b="1" dirty="0">
                <a:solidFill>
                  <a:srgbClr val="1F2430"/>
                </a:solidFill>
                <a:latin typeface="Calibri" pitchFamily="34" charset="0"/>
                <a:ea typeface="Calibri" pitchFamily="34" charset="-122"/>
                <a:cs typeface="Calibri" pitchFamily="34" charset="-120"/>
              </a:rPr>
              <a:t>Essel et al. (2022)</a:t>
            </a:r>
            <a:endParaRPr lang="en-US" sz="1150" dirty="0"/>
          </a:p>
        </p:txBody>
      </p:sp>
      <p:sp>
        <p:nvSpPr>
          <p:cNvPr id="50" name="Text 48"/>
          <p:cNvSpPr/>
          <p:nvPr/>
        </p:nvSpPr>
        <p:spPr>
          <a:xfrm>
            <a:off x="3657600" y="5605272"/>
            <a:ext cx="2148840" cy="292608"/>
          </a:xfrm>
          <a:prstGeom prst="rect">
            <a:avLst/>
          </a:prstGeom>
          <a:noFill/>
          <a:ln/>
        </p:spPr>
        <p:txBody>
          <a:bodyPr wrap="square" lIns="0" tIns="0" rIns="0" bIns="0" rtlCol="0" anchor="ctr"/>
          <a:lstStyle/>
          <a:p>
            <a:pPr indent="0" marL="0">
              <a:buNone/>
            </a:pPr>
            <a:r>
              <a:rPr lang="en-US" sz="1050" i="1" dirty="0">
                <a:solidFill>
                  <a:srgbClr val="6E7079"/>
                </a:solidFill>
                <a:latin typeface="Calibri" pitchFamily="34" charset="0"/>
                <a:ea typeface="Calibri" pitchFamily="34" charset="-122"/>
                <a:cs typeface="Calibri" pitchFamily="34" charset="-120"/>
              </a:rPr>
              <a:t>IJETHE</a:t>
            </a:r>
            <a:endParaRPr lang="en-US" sz="1050" dirty="0"/>
          </a:p>
        </p:txBody>
      </p:sp>
      <p:sp>
        <p:nvSpPr>
          <p:cNvPr id="51" name="Text 49"/>
          <p:cNvSpPr/>
          <p:nvPr/>
        </p:nvSpPr>
        <p:spPr>
          <a:xfrm>
            <a:off x="5897880" y="5605272"/>
            <a:ext cx="5532120" cy="292608"/>
          </a:xfrm>
          <a:prstGeom prst="rect">
            <a:avLst/>
          </a:prstGeom>
          <a:noFill/>
          <a:ln/>
        </p:spPr>
        <p:txBody>
          <a:bodyPr wrap="square" lIns="0" tIns="0" rIns="0" bIns="0" rtlCol="0" anchor="ctr"/>
          <a:lstStyle/>
          <a:p>
            <a:pPr indent="0" marL="0">
              <a:buNone/>
            </a:pPr>
            <a:r>
              <a:rPr lang="en-US" sz="1150" dirty="0">
                <a:solidFill>
                  <a:srgbClr val="6E1B1C"/>
                </a:solidFill>
                <a:latin typeface="Calibri" pitchFamily="34" charset="0"/>
                <a:ea typeface="Calibri" pitchFamily="34" charset="-122"/>
                <a:cs typeface="Calibri" pitchFamily="34" charset="-120"/>
              </a:rPr>
              <a:t>68 students, measured gain: the Phase 2 template</a:t>
            </a:r>
            <a:endParaRPr lang="en-US" sz="1150" dirty="0"/>
          </a:p>
        </p:txBody>
      </p:sp>
      <p:sp>
        <p:nvSpPr>
          <p:cNvPr id="52" name="Shape 50"/>
          <p:cNvSpPr/>
          <p:nvPr/>
        </p:nvSpPr>
        <p:spPr>
          <a:xfrm>
            <a:off x="685800" y="5943600"/>
            <a:ext cx="10789920" cy="347472"/>
          </a:xfrm>
          <a:prstGeom prst="rect">
            <a:avLst/>
          </a:prstGeom>
          <a:solidFill>
            <a:srgbClr val="F4F5F7"/>
          </a:solidFill>
          <a:ln/>
        </p:spPr>
      </p:sp>
      <p:sp>
        <p:nvSpPr>
          <p:cNvPr id="53" name="Text 51"/>
          <p:cNvSpPr/>
          <p:nvPr/>
        </p:nvSpPr>
        <p:spPr>
          <a:xfrm>
            <a:off x="777240" y="5971032"/>
            <a:ext cx="2788920" cy="292608"/>
          </a:xfrm>
          <a:prstGeom prst="rect">
            <a:avLst/>
          </a:prstGeom>
          <a:noFill/>
          <a:ln/>
        </p:spPr>
        <p:txBody>
          <a:bodyPr wrap="square" lIns="0" tIns="0" rIns="0" bIns="0" rtlCol="0" anchor="ctr"/>
          <a:lstStyle/>
          <a:p>
            <a:pPr indent="0" marL="0">
              <a:buNone/>
            </a:pPr>
            <a:r>
              <a:rPr lang="en-US" sz="1150" b="1" dirty="0">
                <a:solidFill>
                  <a:srgbClr val="1F2430"/>
                </a:solidFill>
                <a:latin typeface="Calibri" pitchFamily="34" charset="0"/>
                <a:ea typeface="Calibri" pitchFamily="34" charset="-122"/>
                <a:cs typeface="Calibri" pitchFamily="34" charset="-120"/>
              </a:rPr>
              <a:t>Dempere et al. (2023)</a:t>
            </a:r>
            <a:endParaRPr lang="en-US" sz="1150" dirty="0"/>
          </a:p>
        </p:txBody>
      </p:sp>
      <p:sp>
        <p:nvSpPr>
          <p:cNvPr id="54" name="Text 52"/>
          <p:cNvSpPr/>
          <p:nvPr/>
        </p:nvSpPr>
        <p:spPr>
          <a:xfrm>
            <a:off x="3657600" y="5971032"/>
            <a:ext cx="2148840" cy="292608"/>
          </a:xfrm>
          <a:prstGeom prst="rect">
            <a:avLst/>
          </a:prstGeom>
          <a:noFill/>
          <a:ln/>
        </p:spPr>
        <p:txBody>
          <a:bodyPr wrap="square" lIns="0" tIns="0" rIns="0" bIns="0" rtlCol="0" anchor="ctr"/>
          <a:lstStyle/>
          <a:p>
            <a:pPr indent="0" marL="0">
              <a:buNone/>
            </a:pPr>
            <a:r>
              <a:rPr lang="en-US" sz="1050" i="1" dirty="0">
                <a:solidFill>
                  <a:srgbClr val="6E7079"/>
                </a:solidFill>
                <a:latin typeface="Calibri" pitchFamily="34" charset="0"/>
                <a:ea typeface="Calibri" pitchFamily="34" charset="-122"/>
                <a:cs typeface="Calibri" pitchFamily="34" charset="-120"/>
              </a:rPr>
              <a:t>Front. Educ.</a:t>
            </a:r>
            <a:endParaRPr lang="en-US" sz="1050" dirty="0"/>
          </a:p>
        </p:txBody>
      </p:sp>
      <p:sp>
        <p:nvSpPr>
          <p:cNvPr id="55" name="Text 53"/>
          <p:cNvSpPr/>
          <p:nvPr/>
        </p:nvSpPr>
        <p:spPr>
          <a:xfrm>
            <a:off x="5897880" y="5971032"/>
            <a:ext cx="5532120" cy="292608"/>
          </a:xfrm>
          <a:prstGeom prst="rect">
            <a:avLst/>
          </a:prstGeom>
          <a:noFill/>
          <a:ln/>
        </p:spPr>
        <p:txBody>
          <a:bodyPr wrap="square" lIns="0" tIns="0" rIns="0" bIns="0" rtlCol="0" anchor="ctr"/>
          <a:lstStyle/>
          <a:p>
            <a:pPr indent="0" marL="0">
              <a:buNone/>
            </a:pPr>
            <a:r>
              <a:rPr lang="en-US" sz="1150" dirty="0">
                <a:solidFill>
                  <a:srgbClr val="6E1B1C"/>
                </a:solidFill>
                <a:latin typeface="Calibri" pitchFamily="34" charset="0"/>
                <a:ea typeface="Calibri" pitchFamily="34" charset="-122"/>
                <a:cs typeface="Calibri" pitchFamily="34" charset="-120"/>
              </a:rPr>
              <a:t>Accuracy and privacy risk: grounds a narrow scope</a:t>
            </a:r>
            <a:endParaRPr lang="en-US" sz="1150" dirty="0"/>
          </a:p>
        </p:txBody>
      </p:sp>
      <p:sp>
        <p:nvSpPr>
          <p:cNvPr id="56" name="Text 54"/>
          <p:cNvSpPr/>
          <p:nvPr/>
        </p:nvSpPr>
        <p:spPr>
          <a:xfrm>
            <a:off x="685800" y="6400800"/>
            <a:ext cx="10789920" cy="292608"/>
          </a:xfrm>
          <a:prstGeom prst="rect">
            <a:avLst/>
          </a:prstGeom>
          <a:noFill/>
          <a:ln/>
        </p:spPr>
        <p:txBody>
          <a:bodyPr wrap="square" lIns="0" tIns="0" rIns="0" bIns="0" rtlCol="0" anchor="ctr"/>
          <a:lstStyle/>
          <a:p>
            <a:pPr indent="0" marL="0">
              <a:buNone/>
            </a:pPr>
            <a:r>
              <a:rPr lang="en-US" sz="1200" i="1" dirty="0">
                <a:solidFill>
                  <a:srgbClr val="6E7079"/>
                </a:solidFill>
                <a:latin typeface="Calibri" pitchFamily="34" charset="0"/>
                <a:ea typeface="Calibri" pitchFamily="34" charset="-122"/>
                <a:cs typeface="Calibri" pitchFamily="34" charset="-120"/>
              </a:rPr>
              <a:t>All eleven published between 2021 and 2026, and all eleven verified against Crossref or the publisher's own record.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48640" cy="548640"/>
          </a:xfrm>
          <a:prstGeom prst="ellipse">
            <a:avLst/>
          </a:prstGeom>
          <a:solidFill>
            <a:srgbClr val="9E2A2B"/>
          </a:solidFill>
          <a:ln/>
        </p:spPr>
      </p:sp>
      <p:sp>
        <p:nvSpPr>
          <p:cNvPr id="3" name="Text 1"/>
          <p:cNvSpPr/>
          <p:nvPr/>
        </p:nvSpPr>
        <p:spPr>
          <a:xfrm>
            <a:off x="566928" y="384048"/>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6</a:t>
            </a:r>
            <a:endParaRPr lang="en-US" sz="1900" dirty="0"/>
          </a:p>
        </p:txBody>
      </p:sp>
      <p:sp>
        <p:nvSpPr>
          <p:cNvPr id="4" name="Text 2"/>
          <p:cNvSpPr/>
          <p:nvPr/>
        </p:nvSpPr>
        <p:spPr>
          <a:xfrm>
            <a:off x="1298448" y="329184"/>
            <a:ext cx="10241280" cy="256032"/>
          </a:xfrm>
          <a:prstGeom prst="rect">
            <a:avLst/>
          </a:prstGeom>
          <a:noFill/>
          <a:ln/>
        </p:spPr>
        <p:txBody>
          <a:bodyPr wrap="square" lIns="0" tIns="0" rIns="0" bIns="0" rtlCol="0" anchor="ctr"/>
          <a:lstStyle/>
          <a:p>
            <a:pPr indent="0" marL="0">
              <a:buNone/>
            </a:pPr>
            <a:r>
              <a:rPr lang="en-US" sz="1100" spc="200" kern="0" dirty="0">
                <a:solidFill>
                  <a:srgbClr val="9E2A2B"/>
                </a:solidFill>
                <a:latin typeface="Calibri" pitchFamily="34" charset="0"/>
                <a:ea typeface="Calibri" pitchFamily="34" charset="-122"/>
                <a:cs typeface="Calibri" pitchFamily="34" charset="-120"/>
              </a:rPr>
              <a:t>LITERATURE REVIEW</a:t>
            </a:r>
            <a:endParaRPr lang="en-US" sz="1100" dirty="0"/>
          </a:p>
        </p:txBody>
      </p:sp>
      <p:sp>
        <p:nvSpPr>
          <p:cNvPr id="5" name="Text 3"/>
          <p:cNvSpPr/>
          <p:nvPr/>
        </p:nvSpPr>
        <p:spPr>
          <a:xfrm>
            <a:off x="1298448" y="566928"/>
            <a:ext cx="10241280" cy="502920"/>
          </a:xfrm>
          <a:prstGeom prst="rect">
            <a:avLst/>
          </a:prstGeom>
          <a:noFill/>
          <a:ln/>
        </p:spPr>
        <p:txBody>
          <a:bodyPr wrap="square" lIns="0" tIns="0" rIns="0" bIns="0" rtlCol="0" anchor="ctr"/>
          <a:lstStyle/>
          <a:p>
            <a:pPr indent="0" marL="0">
              <a:buNone/>
            </a:pPr>
            <a:r>
              <a:rPr lang="en-US" sz="2900" b="1" dirty="0">
                <a:solidFill>
                  <a:srgbClr val="1F2430"/>
                </a:solidFill>
                <a:latin typeface="Cambria" pitchFamily="34" charset="0"/>
                <a:ea typeface="Cambria" pitchFamily="34" charset="-122"/>
                <a:cs typeface="Cambria" pitchFamily="34" charset="-120"/>
              </a:rPr>
              <a:t>Findings from the literature</a:t>
            </a:r>
            <a:endParaRPr lang="en-US" sz="2900" dirty="0"/>
          </a:p>
        </p:txBody>
      </p:sp>
      <p:sp>
        <p:nvSpPr>
          <p:cNvPr id="6" name="Shape 4"/>
          <p:cNvSpPr/>
          <p:nvPr/>
        </p:nvSpPr>
        <p:spPr>
          <a:xfrm>
            <a:off x="685800" y="1371600"/>
            <a:ext cx="3493008" cy="3337560"/>
          </a:xfrm>
          <a:prstGeom prst="roundRect">
            <a:avLst>
              <a:gd name="adj" fmla="val 2466"/>
            </a:avLst>
          </a:prstGeom>
          <a:solidFill>
            <a:srgbClr val="F4F5F7"/>
          </a:solidFill>
          <a:ln w="9525">
            <a:solidFill>
              <a:srgbClr val="E2E4E8"/>
            </a:solidFill>
            <a:prstDash val="solid"/>
          </a:ln>
        </p:spPr>
      </p:sp>
      <p:sp>
        <p:nvSpPr>
          <p:cNvPr id="7" name="Text 5"/>
          <p:cNvSpPr/>
          <p:nvPr/>
        </p:nvSpPr>
        <p:spPr>
          <a:xfrm>
            <a:off x="941832" y="1572768"/>
            <a:ext cx="3017520" cy="384048"/>
          </a:xfrm>
          <a:prstGeom prst="rect">
            <a:avLst/>
          </a:prstGeom>
          <a:noFill/>
          <a:ln/>
        </p:spPr>
        <p:txBody>
          <a:bodyPr wrap="square" lIns="0" tIns="0" rIns="0" bIns="0" rtlCol="0" anchor="ctr"/>
          <a:lstStyle/>
          <a:p>
            <a:pPr indent="0" marL="0">
              <a:buNone/>
            </a:pPr>
            <a:r>
              <a:rPr lang="en-US" sz="1700" b="1" dirty="0">
                <a:solidFill>
                  <a:srgbClr val="9E2A2B"/>
                </a:solidFill>
                <a:latin typeface="Cambria" pitchFamily="34" charset="0"/>
                <a:ea typeface="Cambria" pitchFamily="34" charset="-122"/>
                <a:cs typeface="Cambria" pitchFamily="34" charset="-120"/>
              </a:rPr>
              <a:t>Campus booking systems</a:t>
            </a:r>
            <a:endParaRPr lang="en-US" sz="1700" dirty="0"/>
          </a:p>
        </p:txBody>
      </p:sp>
      <p:sp>
        <p:nvSpPr>
          <p:cNvPr id="8" name="Text 6"/>
          <p:cNvSpPr/>
          <p:nvPr/>
        </p:nvSpPr>
        <p:spPr>
          <a:xfrm>
            <a:off x="941832" y="2066544"/>
            <a:ext cx="3017520" cy="1636776"/>
          </a:xfrm>
          <a:prstGeom prst="rect">
            <a:avLst/>
          </a:prstGeom>
          <a:noFill/>
          <a:ln/>
        </p:spPr>
        <p:txBody>
          <a:bodyPr wrap="square" lIns="0" tIns="0" rIns="0" bIns="0" rtlCol="0" anchor="t"/>
          <a:lstStyle/>
          <a:p>
            <a:pPr marL="342900" indent="-342900">
              <a:spcAft>
                <a:spcPts val="1100"/>
              </a:spcAft>
              <a:buSzPct val="100000"/>
              <a:buChar char="•"/>
            </a:pPr>
            <a:r>
              <a:rPr lang="en-US" sz="1250" dirty="0">
                <a:solidFill>
                  <a:srgbClr val="1F2430"/>
                </a:solidFill>
                <a:latin typeface="Calibri" pitchFamily="34" charset="0"/>
                <a:ea typeface="Calibri" pitchFamily="34" charset="-122"/>
                <a:cs typeface="Calibri" pitchFamily="34" charset="-120"/>
              </a:rPr>
              <a:t>All five digitise the paperwork and stop there</a:t>
            </a:r>
            <a:endParaRPr lang="en-US" sz="1250" dirty="0"/>
          </a:p>
          <a:p>
            <a:pPr marL="342900" indent="-342900">
              <a:spcAft>
                <a:spcPts val="1100"/>
              </a:spcAft>
              <a:buSzPct val="100000"/>
              <a:buChar char="•"/>
            </a:pPr>
            <a:r>
              <a:rPr lang="en-US" sz="1250" dirty="0">
                <a:solidFill>
                  <a:srgbClr val="1F2430"/>
                </a:solidFill>
                <a:latin typeface="Calibri" pitchFamily="34" charset="0"/>
                <a:ea typeface="Calibri" pitchFamily="34" charset="-122"/>
                <a:cs typeface="Calibri" pitchFamily="34" charset="-120"/>
              </a:rPr>
              <a:t>Rules are fixed in code, so a policy change is a software change</a:t>
            </a:r>
            <a:endParaRPr lang="en-US" sz="1250" dirty="0"/>
          </a:p>
          <a:p>
            <a:pPr marL="342900" indent="-342900">
              <a:spcAft>
                <a:spcPts val="1100"/>
              </a:spcAft>
              <a:buSzPct val="100000"/>
              <a:buChar char="•"/>
            </a:pPr>
            <a:r>
              <a:rPr lang="en-US" sz="1250" dirty="0">
                <a:solidFill>
                  <a:srgbClr val="1F2430"/>
                </a:solidFill>
                <a:latin typeface="Calibri" pitchFamily="34" charset="0"/>
                <a:ea typeface="Calibri" pitchFamily="34" charset="-122"/>
                <a:cs typeface="Calibri" pitchFamily="34" charset="-120"/>
              </a:rPr>
              <a:t>Commercial products (LibCal, Skedda, MIDAS) are configurable, but within one facility segment</a:t>
            </a:r>
            <a:endParaRPr lang="en-US" sz="1250" dirty="0"/>
          </a:p>
        </p:txBody>
      </p:sp>
      <p:sp>
        <p:nvSpPr>
          <p:cNvPr id="9" name="Shape 7"/>
          <p:cNvSpPr/>
          <p:nvPr/>
        </p:nvSpPr>
        <p:spPr>
          <a:xfrm>
            <a:off x="4361688" y="1371600"/>
            <a:ext cx="3493008" cy="3337560"/>
          </a:xfrm>
          <a:prstGeom prst="roundRect">
            <a:avLst>
              <a:gd name="adj" fmla="val 2466"/>
            </a:avLst>
          </a:prstGeom>
          <a:solidFill>
            <a:srgbClr val="F4F5F7"/>
          </a:solidFill>
          <a:ln w="9525">
            <a:solidFill>
              <a:srgbClr val="E2E4E8"/>
            </a:solidFill>
            <a:prstDash val="solid"/>
          </a:ln>
        </p:spPr>
      </p:sp>
      <p:sp>
        <p:nvSpPr>
          <p:cNvPr id="10" name="Text 8"/>
          <p:cNvSpPr/>
          <p:nvPr/>
        </p:nvSpPr>
        <p:spPr>
          <a:xfrm>
            <a:off x="4617720" y="1572768"/>
            <a:ext cx="3017520" cy="384048"/>
          </a:xfrm>
          <a:prstGeom prst="rect">
            <a:avLst/>
          </a:prstGeom>
          <a:noFill/>
          <a:ln/>
        </p:spPr>
        <p:txBody>
          <a:bodyPr wrap="square" lIns="0" tIns="0" rIns="0" bIns="0" rtlCol="0" anchor="ctr"/>
          <a:lstStyle/>
          <a:p>
            <a:pPr indent="0" marL="0">
              <a:buNone/>
            </a:pPr>
            <a:r>
              <a:rPr lang="en-US" sz="1700" b="1" dirty="0">
                <a:solidFill>
                  <a:srgbClr val="9E2A2B"/>
                </a:solidFill>
                <a:latin typeface="Cambria" pitchFamily="34" charset="0"/>
                <a:ea typeface="Cambria" pitchFamily="34" charset="-122"/>
                <a:cs typeface="Cambria" pitchFamily="34" charset="-120"/>
              </a:rPr>
              <a:t>Recommendation</a:t>
            </a:r>
            <a:endParaRPr lang="en-US" sz="1700" dirty="0"/>
          </a:p>
        </p:txBody>
      </p:sp>
      <p:sp>
        <p:nvSpPr>
          <p:cNvPr id="11" name="Text 9"/>
          <p:cNvSpPr/>
          <p:nvPr/>
        </p:nvSpPr>
        <p:spPr>
          <a:xfrm>
            <a:off x="4617720" y="2066544"/>
            <a:ext cx="3017520" cy="1636776"/>
          </a:xfrm>
          <a:prstGeom prst="rect">
            <a:avLst/>
          </a:prstGeom>
          <a:noFill/>
          <a:ln/>
        </p:spPr>
        <p:txBody>
          <a:bodyPr wrap="square" lIns="0" tIns="0" rIns="0" bIns="0" rtlCol="0" anchor="t"/>
          <a:lstStyle/>
          <a:p>
            <a:pPr marL="342900" indent="-342900">
              <a:spcAft>
                <a:spcPts val="1100"/>
              </a:spcAft>
              <a:buSzPct val="100000"/>
              <a:buChar char="•"/>
            </a:pPr>
            <a:r>
              <a:rPr lang="en-US" sz="1250" dirty="0">
                <a:solidFill>
                  <a:srgbClr val="1F2430"/>
                </a:solidFill>
                <a:latin typeface="Calibri" pitchFamily="34" charset="0"/>
                <a:ea typeface="Calibri" pitchFamily="34" charset="-122"/>
                <a:cs typeface="Calibri" pitchFamily="34" charset="-120"/>
              </a:rPr>
              <a:t>Roy and Dutta: the standard method depends on history, and this system launches with none</a:t>
            </a:r>
            <a:endParaRPr lang="en-US" sz="1250" dirty="0"/>
          </a:p>
          <a:p>
            <a:pPr marL="342900" indent="-342900">
              <a:spcAft>
                <a:spcPts val="1100"/>
              </a:spcAft>
              <a:buSzPct val="100000"/>
              <a:buChar char="•"/>
            </a:pPr>
            <a:r>
              <a:rPr lang="en-US" sz="1250" dirty="0">
                <a:solidFill>
                  <a:srgbClr val="1F2430"/>
                </a:solidFill>
                <a:latin typeface="Calibri" pitchFamily="34" charset="0"/>
                <a:ea typeface="Calibri" pitchFamily="34" charset="-122"/>
                <a:cs typeface="Calibri" pitchFamily="34" charset="-120"/>
              </a:rPr>
              <a:t>Hence rule-based scoring with weights that adapt per student</a:t>
            </a:r>
            <a:endParaRPr lang="en-US" sz="1250" dirty="0"/>
          </a:p>
          <a:p>
            <a:pPr marL="342900" indent="-342900">
              <a:spcAft>
                <a:spcPts val="1100"/>
              </a:spcAft>
              <a:buSzPct val="100000"/>
              <a:buChar char="•"/>
            </a:pPr>
            <a:r>
              <a:rPr lang="en-US" sz="1250" dirty="0">
                <a:solidFill>
                  <a:srgbClr val="1F2430"/>
                </a:solidFill>
                <a:latin typeface="Calibri" pitchFamily="34" charset="0"/>
                <a:ea typeface="Calibri" pitchFamily="34" charset="-122"/>
                <a:cs typeface="Calibri" pitchFamily="34" charset="-120"/>
              </a:rPr>
              <a:t>Valencia-Arias: every suggestion should carry its reason</a:t>
            </a:r>
            <a:endParaRPr lang="en-US" sz="1250" dirty="0"/>
          </a:p>
        </p:txBody>
      </p:sp>
      <p:sp>
        <p:nvSpPr>
          <p:cNvPr id="12" name="Shape 10"/>
          <p:cNvSpPr/>
          <p:nvPr/>
        </p:nvSpPr>
        <p:spPr>
          <a:xfrm>
            <a:off x="8037576" y="1371600"/>
            <a:ext cx="3493008" cy="3337560"/>
          </a:xfrm>
          <a:prstGeom prst="roundRect">
            <a:avLst>
              <a:gd name="adj" fmla="val 2466"/>
            </a:avLst>
          </a:prstGeom>
          <a:solidFill>
            <a:srgbClr val="F4F5F7"/>
          </a:solidFill>
          <a:ln w="9525">
            <a:solidFill>
              <a:srgbClr val="E2E4E8"/>
            </a:solidFill>
            <a:prstDash val="solid"/>
          </a:ln>
        </p:spPr>
      </p:sp>
      <p:sp>
        <p:nvSpPr>
          <p:cNvPr id="13" name="Text 11"/>
          <p:cNvSpPr/>
          <p:nvPr/>
        </p:nvSpPr>
        <p:spPr>
          <a:xfrm>
            <a:off x="8293608" y="1572768"/>
            <a:ext cx="3017520" cy="384048"/>
          </a:xfrm>
          <a:prstGeom prst="rect">
            <a:avLst/>
          </a:prstGeom>
          <a:noFill/>
          <a:ln/>
        </p:spPr>
        <p:txBody>
          <a:bodyPr wrap="square" lIns="0" tIns="0" rIns="0" bIns="0" rtlCol="0" anchor="ctr"/>
          <a:lstStyle/>
          <a:p>
            <a:pPr indent="0" marL="0">
              <a:buNone/>
            </a:pPr>
            <a:r>
              <a:rPr lang="en-US" sz="1700" b="1" dirty="0">
                <a:solidFill>
                  <a:srgbClr val="9E2A2B"/>
                </a:solidFill>
                <a:latin typeface="Cambria" pitchFamily="34" charset="0"/>
                <a:ea typeface="Cambria" pitchFamily="34" charset="-122"/>
                <a:cs typeface="Cambria" pitchFamily="34" charset="-120"/>
              </a:rPr>
              <a:t>Conversational assistants</a:t>
            </a:r>
            <a:endParaRPr lang="en-US" sz="1700" dirty="0"/>
          </a:p>
        </p:txBody>
      </p:sp>
      <p:sp>
        <p:nvSpPr>
          <p:cNvPr id="14" name="Text 12"/>
          <p:cNvSpPr/>
          <p:nvPr/>
        </p:nvSpPr>
        <p:spPr>
          <a:xfrm>
            <a:off x="8293608" y="2066544"/>
            <a:ext cx="3017520" cy="1636776"/>
          </a:xfrm>
          <a:prstGeom prst="rect">
            <a:avLst/>
          </a:prstGeom>
          <a:noFill/>
          <a:ln/>
        </p:spPr>
        <p:txBody>
          <a:bodyPr wrap="square" lIns="0" tIns="0" rIns="0" bIns="0" rtlCol="0" anchor="t"/>
          <a:lstStyle/>
          <a:p>
            <a:pPr marL="342900" indent="-342900">
              <a:spcAft>
                <a:spcPts val="1100"/>
              </a:spcAft>
              <a:buSzPct val="100000"/>
              <a:buChar char="•"/>
            </a:pPr>
            <a:r>
              <a:rPr lang="en-US" sz="1250" dirty="0">
                <a:solidFill>
                  <a:srgbClr val="1F2430"/>
                </a:solidFill>
                <a:latin typeface="Calibri" pitchFamily="34" charset="0"/>
                <a:ea typeface="Calibri" pitchFamily="34" charset="-122"/>
                <a:cs typeface="Calibri" pitchFamily="34" charset="-120"/>
              </a:rPr>
              <a:t>Okonkwo: administrative queries are the strongest use case; incorrect answers the principal risk</a:t>
            </a:r>
            <a:endParaRPr lang="en-US" sz="1250" dirty="0"/>
          </a:p>
          <a:p>
            <a:pPr marL="342900" indent="-342900">
              <a:spcAft>
                <a:spcPts val="1100"/>
              </a:spcAft>
              <a:buSzPct val="100000"/>
              <a:buChar char="•"/>
            </a:pPr>
            <a:r>
              <a:rPr lang="en-US" sz="1250" dirty="0">
                <a:solidFill>
                  <a:srgbClr val="1F2430"/>
                </a:solidFill>
                <a:latin typeface="Calibri" pitchFamily="34" charset="0"/>
                <a:ea typeface="Calibri" pitchFamily="34" charset="-122"/>
                <a:cs typeface="Calibri" pitchFamily="34" charset="-120"/>
              </a:rPr>
              <a:t>Rahim, 302 Malaysian students: trust governs adoption</a:t>
            </a:r>
            <a:endParaRPr lang="en-US" sz="1250" dirty="0"/>
          </a:p>
          <a:p>
            <a:pPr marL="342900" indent="-342900">
              <a:spcAft>
                <a:spcPts val="1100"/>
              </a:spcAft>
              <a:buSzPct val="100000"/>
              <a:buChar char="•"/>
            </a:pPr>
            <a:r>
              <a:rPr lang="en-US" sz="1250" dirty="0">
                <a:solidFill>
                  <a:srgbClr val="1F2430"/>
                </a:solidFill>
                <a:latin typeface="Calibri" pitchFamily="34" charset="0"/>
                <a:ea typeface="Calibri" pitchFamily="34" charset="-122"/>
                <a:cs typeface="Calibri" pitchFamily="34" charset="-120"/>
              </a:rPr>
              <a:t>Dempere: hence an assistant restricted to phrasing retrieved rows</a:t>
            </a:r>
            <a:endParaRPr lang="en-US" sz="1250" dirty="0"/>
          </a:p>
        </p:txBody>
      </p:sp>
      <p:sp>
        <p:nvSpPr>
          <p:cNvPr id="15" name="Shape 13"/>
          <p:cNvSpPr/>
          <p:nvPr/>
        </p:nvSpPr>
        <p:spPr>
          <a:xfrm>
            <a:off x="685800" y="5029200"/>
            <a:ext cx="10789920" cy="822960"/>
          </a:xfrm>
          <a:prstGeom prst="roundRect">
            <a:avLst>
              <a:gd name="adj" fmla="val 10000"/>
            </a:avLst>
          </a:prstGeom>
          <a:solidFill>
            <a:srgbClr val="F3E4E4"/>
          </a:solidFill>
          <a:ln w="9525">
            <a:solidFill>
              <a:srgbClr val="E2E4E8"/>
            </a:solidFill>
            <a:prstDash val="solid"/>
          </a:ln>
        </p:spPr>
      </p:sp>
      <p:sp>
        <p:nvSpPr>
          <p:cNvPr id="16" name="Text 14"/>
          <p:cNvSpPr/>
          <p:nvPr/>
        </p:nvSpPr>
        <p:spPr>
          <a:xfrm>
            <a:off x="932688" y="5175504"/>
            <a:ext cx="10332720" cy="530352"/>
          </a:xfrm>
          <a:prstGeom prst="rect">
            <a:avLst/>
          </a:prstGeom>
          <a:noFill/>
          <a:ln/>
        </p:spPr>
        <p:txBody>
          <a:bodyPr wrap="square" lIns="0" tIns="0" rIns="0" bIns="0" rtlCol="0" anchor="ctr"/>
          <a:lstStyle/>
          <a:p>
            <a:pPr indent="0" marL="0">
              <a:buNone/>
            </a:pPr>
            <a:r>
              <a:rPr lang="en-US" sz="1400" b="1" dirty="0">
                <a:solidFill>
                  <a:srgbClr val="6E1B1C"/>
                </a:solidFill>
                <a:latin typeface="Calibri" pitchFamily="34" charset="0"/>
                <a:ea typeface="Calibri" pitchFamily="34" charset="-122"/>
                <a:cs typeface="Calibri" pitchFamily="34" charset="-120"/>
              </a:rPr>
              <a:t>None of the four assistant papers identifies facility or resource management as an application area.</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48640" cy="548640"/>
          </a:xfrm>
          <a:prstGeom prst="ellipse">
            <a:avLst/>
          </a:prstGeom>
          <a:solidFill>
            <a:srgbClr val="9E2A2B"/>
          </a:solidFill>
          <a:ln/>
        </p:spPr>
      </p:sp>
      <p:sp>
        <p:nvSpPr>
          <p:cNvPr id="3" name="Text 1"/>
          <p:cNvSpPr/>
          <p:nvPr/>
        </p:nvSpPr>
        <p:spPr>
          <a:xfrm>
            <a:off x="566928" y="384048"/>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7</a:t>
            </a:r>
            <a:endParaRPr lang="en-US" sz="1900" dirty="0"/>
          </a:p>
        </p:txBody>
      </p:sp>
      <p:sp>
        <p:nvSpPr>
          <p:cNvPr id="4" name="Text 2"/>
          <p:cNvSpPr/>
          <p:nvPr/>
        </p:nvSpPr>
        <p:spPr>
          <a:xfrm>
            <a:off x="1298448" y="329184"/>
            <a:ext cx="10241280" cy="256032"/>
          </a:xfrm>
          <a:prstGeom prst="rect">
            <a:avLst/>
          </a:prstGeom>
          <a:noFill/>
          <a:ln/>
        </p:spPr>
        <p:txBody>
          <a:bodyPr wrap="square" lIns="0" tIns="0" rIns="0" bIns="0" rtlCol="0" anchor="ctr"/>
          <a:lstStyle/>
          <a:p>
            <a:pPr indent="0" marL="0">
              <a:buNone/>
            </a:pPr>
            <a:r>
              <a:rPr lang="en-US" sz="1100" spc="200" kern="0" dirty="0">
                <a:solidFill>
                  <a:srgbClr val="9E2A2B"/>
                </a:solidFill>
                <a:latin typeface="Calibri" pitchFamily="34" charset="0"/>
                <a:ea typeface="Calibri" pitchFamily="34" charset="-122"/>
                <a:cs typeface="Calibri" pitchFamily="34" charset="-120"/>
              </a:rPr>
              <a:t>LITERATURE REVIEW</a:t>
            </a:r>
            <a:endParaRPr lang="en-US" sz="1100" dirty="0"/>
          </a:p>
        </p:txBody>
      </p:sp>
      <p:sp>
        <p:nvSpPr>
          <p:cNvPr id="5" name="Text 3"/>
          <p:cNvSpPr/>
          <p:nvPr/>
        </p:nvSpPr>
        <p:spPr>
          <a:xfrm>
            <a:off x="1298448" y="566928"/>
            <a:ext cx="10241280" cy="502920"/>
          </a:xfrm>
          <a:prstGeom prst="rect">
            <a:avLst/>
          </a:prstGeom>
          <a:noFill/>
          <a:ln/>
        </p:spPr>
        <p:txBody>
          <a:bodyPr wrap="square" lIns="0" tIns="0" rIns="0" bIns="0" rtlCol="0" anchor="ctr"/>
          <a:lstStyle/>
          <a:p>
            <a:pPr indent="0" marL="0">
              <a:buNone/>
            </a:pPr>
            <a:r>
              <a:rPr lang="en-US" sz="2900" b="1" dirty="0">
                <a:solidFill>
                  <a:srgbClr val="1F2430"/>
                </a:solidFill>
                <a:latin typeface="Cambria" pitchFamily="34" charset="0"/>
                <a:ea typeface="Cambria" pitchFamily="34" charset="-122"/>
                <a:cs typeface="Cambria" pitchFamily="34" charset="-120"/>
              </a:rPr>
              <a:t>The research gap</a:t>
            </a:r>
            <a:endParaRPr lang="en-US" sz="2900" dirty="0"/>
          </a:p>
        </p:txBody>
      </p:sp>
      <p:sp>
        <p:nvSpPr>
          <p:cNvPr id="6" name="Shape 4"/>
          <p:cNvSpPr/>
          <p:nvPr/>
        </p:nvSpPr>
        <p:spPr>
          <a:xfrm>
            <a:off x="685800" y="1371600"/>
            <a:ext cx="3493008" cy="2697480"/>
          </a:xfrm>
          <a:prstGeom prst="roundRect">
            <a:avLst>
              <a:gd name="adj" fmla="val 3051"/>
            </a:avLst>
          </a:prstGeom>
          <a:solidFill>
            <a:srgbClr val="F4F5F7"/>
          </a:solidFill>
          <a:ln w="9525">
            <a:solidFill>
              <a:srgbClr val="E2E4E8"/>
            </a:solidFill>
            <a:prstDash val="solid"/>
          </a:ln>
        </p:spPr>
      </p:sp>
      <p:sp>
        <p:nvSpPr>
          <p:cNvPr id="7" name="Text 5"/>
          <p:cNvSpPr/>
          <p:nvPr/>
        </p:nvSpPr>
        <p:spPr>
          <a:xfrm>
            <a:off x="941832" y="1499616"/>
            <a:ext cx="548640" cy="457200"/>
          </a:xfrm>
          <a:prstGeom prst="rect">
            <a:avLst/>
          </a:prstGeom>
          <a:noFill/>
          <a:ln/>
        </p:spPr>
        <p:txBody>
          <a:bodyPr wrap="square" lIns="0" tIns="0" rIns="0" bIns="0" rtlCol="0" anchor="ctr"/>
          <a:lstStyle/>
          <a:p>
            <a:pPr indent="0" marL="0">
              <a:buNone/>
            </a:pPr>
            <a:r>
              <a:rPr lang="en-US" sz="2800" b="1" dirty="0">
                <a:solidFill>
                  <a:srgbClr val="F3E4E4"/>
                </a:solidFill>
                <a:latin typeface="Cambria" pitchFamily="34" charset="0"/>
                <a:ea typeface="Cambria" pitchFamily="34" charset="-122"/>
                <a:cs typeface="Cambria" pitchFamily="34" charset="-120"/>
              </a:rPr>
              <a:t>1</a:t>
            </a:r>
            <a:endParaRPr lang="en-US" sz="2800" dirty="0"/>
          </a:p>
        </p:txBody>
      </p:sp>
      <p:sp>
        <p:nvSpPr>
          <p:cNvPr id="8" name="Text 6"/>
          <p:cNvSpPr/>
          <p:nvPr/>
        </p:nvSpPr>
        <p:spPr>
          <a:xfrm>
            <a:off x="941832" y="1956816"/>
            <a:ext cx="3017520" cy="585216"/>
          </a:xfrm>
          <a:prstGeom prst="rect">
            <a:avLst/>
          </a:prstGeom>
          <a:noFill/>
          <a:ln/>
        </p:spPr>
        <p:txBody>
          <a:bodyPr wrap="square" lIns="0" tIns="0" rIns="0" bIns="0" rtlCol="0" anchor="t"/>
          <a:lstStyle/>
          <a:p>
            <a:pPr indent="0" marL="0">
              <a:lnSpc>
                <a:spcPts val="2000"/>
              </a:lnSpc>
              <a:buNone/>
            </a:pPr>
            <a:r>
              <a:rPr lang="en-US" sz="1600" b="1" dirty="0">
                <a:solidFill>
                  <a:srgbClr val="9E2A2B"/>
                </a:solidFill>
                <a:latin typeface="Calibri" pitchFamily="34" charset="0"/>
                <a:ea typeface="Calibri" pitchFamily="34" charset="-122"/>
                <a:cs typeface="Calibri" pitchFamily="34" charset="-120"/>
              </a:rPr>
              <a:t>Policy stops at the segment boundary</a:t>
            </a:r>
            <a:endParaRPr lang="en-US" sz="1600" dirty="0"/>
          </a:p>
        </p:txBody>
      </p:sp>
      <p:sp>
        <p:nvSpPr>
          <p:cNvPr id="9" name="Text 7"/>
          <p:cNvSpPr/>
          <p:nvPr/>
        </p:nvSpPr>
        <p:spPr>
          <a:xfrm>
            <a:off x="941832" y="2615184"/>
            <a:ext cx="3017520" cy="1828800"/>
          </a:xfrm>
          <a:prstGeom prst="rect">
            <a:avLst/>
          </a:prstGeom>
          <a:noFill/>
          <a:ln/>
        </p:spPr>
        <p:txBody>
          <a:bodyPr wrap="square" lIns="0" tIns="0" rIns="0" bIns="0" rtlCol="0" anchor="t"/>
          <a:lstStyle/>
          <a:p>
            <a:pPr indent="0" marL="0">
              <a:lnSpc>
                <a:spcPts val="1800"/>
              </a:lnSpc>
              <a:buNone/>
            </a:pPr>
            <a:r>
              <a:rPr lang="en-US" sz="1300" dirty="0">
                <a:solidFill>
                  <a:srgbClr val="1F2430"/>
                </a:solidFill>
                <a:latin typeface="Calibri" pitchFamily="34" charset="0"/>
                <a:ea typeface="Calibri" pitchFamily="34" charset="-122"/>
                <a:cs typeface="Calibri" pitchFamily="34" charset="-120"/>
              </a:rPr>
              <a:t>Configurable rules exist commercially, but only within one segment. The library buys one product, the sports centre another. Nothing spans them.</a:t>
            </a:r>
            <a:endParaRPr lang="en-US" sz="1300" dirty="0"/>
          </a:p>
        </p:txBody>
      </p:sp>
      <p:sp>
        <p:nvSpPr>
          <p:cNvPr id="10" name="Shape 8"/>
          <p:cNvSpPr/>
          <p:nvPr/>
        </p:nvSpPr>
        <p:spPr>
          <a:xfrm>
            <a:off x="685800" y="4224528"/>
            <a:ext cx="3493008" cy="1280160"/>
          </a:xfrm>
          <a:prstGeom prst="roundRect">
            <a:avLst>
              <a:gd name="adj" fmla="val 6429"/>
            </a:avLst>
          </a:prstGeom>
          <a:solidFill>
            <a:srgbClr val="F3E4E4"/>
          </a:solidFill>
          <a:ln w="9525">
            <a:solidFill>
              <a:srgbClr val="E2E4E8"/>
            </a:solidFill>
            <a:prstDash val="solid"/>
          </a:ln>
        </p:spPr>
      </p:sp>
      <p:sp>
        <p:nvSpPr>
          <p:cNvPr id="11" name="Text 9"/>
          <p:cNvSpPr/>
          <p:nvPr/>
        </p:nvSpPr>
        <p:spPr>
          <a:xfrm>
            <a:off x="941832" y="4352544"/>
            <a:ext cx="3017520" cy="228600"/>
          </a:xfrm>
          <a:prstGeom prst="rect">
            <a:avLst/>
          </a:prstGeom>
          <a:noFill/>
          <a:ln/>
        </p:spPr>
        <p:txBody>
          <a:bodyPr wrap="square" lIns="0" tIns="0" rIns="0" bIns="0" rtlCol="0" anchor="ctr"/>
          <a:lstStyle/>
          <a:p>
            <a:pPr indent="0" marL="0">
              <a:buNone/>
            </a:pPr>
            <a:r>
              <a:rPr lang="en-US" sz="950" b="1" spc="150" kern="0" dirty="0">
                <a:solidFill>
                  <a:srgbClr val="9E2A2B"/>
                </a:solidFill>
                <a:latin typeface="Calibri" pitchFamily="34" charset="0"/>
                <a:ea typeface="Calibri" pitchFamily="34" charset="-122"/>
                <a:cs typeface="Calibri" pitchFamily="34" charset="-120"/>
              </a:rPr>
              <a:t>ADDRESSED BY</a:t>
            </a:r>
            <a:endParaRPr lang="en-US" sz="950" dirty="0"/>
          </a:p>
        </p:txBody>
      </p:sp>
      <p:sp>
        <p:nvSpPr>
          <p:cNvPr id="12" name="Text 10"/>
          <p:cNvSpPr/>
          <p:nvPr/>
        </p:nvSpPr>
        <p:spPr>
          <a:xfrm>
            <a:off x="941832" y="4608576"/>
            <a:ext cx="3017520" cy="822960"/>
          </a:xfrm>
          <a:prstGeom prst="rect">
            <a:avLst/>
          </a:prstGeom>
          <a:noFill/>
          <a:ln/>
        </p:spPr>
        <p:txBody>
          <a:bodyPr wrap="square" lIns="0" tIns="0" rIns="0" bIns="0" rtlCol="0" anchor="t"/>
          <a:lstStyle/>
          <a:p>
            <a:pPr indent="0" marL="0">
              <a:lnSpc>
                <a:spcPts val="1700"/>
              </a:lnSpc>
              <a:buNone/>
            </a:pPr>
            <a:r>
              <a:rPr lang="en-US" sz="1250" dirty="0">
                <a:solidFill>
                  <a:srgbClr val="6E1B1C"/>
                </a:solidFill>
                <a:latin typeface="Calibri" pitchFamily="34" charset="0"/>
                <a:ea typeface="Calibri" pitchFamily="34" charset="-122"/>
                <a:cs typeface="Calibri" pitchFamily="34" charset="-120"/>
              </a:rPr>
              <a:t>Rooms, courts and halls under one rule model</a:t>
            </a:r>
            <a:endParaRPr lang="en-US" sz="1250" dirty="0"/>
          </a:p>
        </p:txBody>
      </p:sp>
      <p:sp>
        <p:nvSpPr>
          <p:cNvPr id="13" name="Shape 11"/>
          <p:cNvSpPr/>
          <p:nvPr/>
        </p:nvSpPr>
        <p:spPr>
          <a:xfrm>
            <a:off x="4361688" y="1371600"/>
            <a:ext cx="3493008" cy="2697480"/>
          </a:xfrm>
          <a:prstGeom prst="roundRect">
            <a:avLst>
              <a:gd name="adj" fmla="val 3051"/>
            </a:avLst>
          </a:prstGeom>
          <a:solidFill>
            <a:srgbClr val="F4F5F7"/>
          </a:solidFill>
          <a:ln w="9525">
            <a:solidFill>
              <a:srgbClr val="E2E4E8"/>
            </a:solidFill>
            <a:prstDash val="solid"/>
          </a:ln>
        </p:spPr>
      </p:sp>
      <p:sp>
        <p:nvSpPr>
          <p:cNvPr id="14" name="Text 12"/>
          <p:cNvSpPr/>
          <p:nvPr/>
        </p:nvSpPr>
        <p:spPr>
          <a:xfrm>
            <a:off x="4617720" y="1499616"/>
            <a:ext cx="548640" cy="457200"/>
          </a:xfrm>
          <a:prstGeom prst="rect">
            <a:avLst/>
          </a:prstGeom>
          <a:noFill/>
          <a:ln/>
        </p:spPr>
        <p:txBody>
          <a:bodyPr wrap="square" lIns="0" tIns="0" rIns="0" bIns="0" rtlCol="0" anchor="ctr"/>
          <a:lstStyle/>
          <a:p>
            <a:pPr indent="0" marL="0">
              <a:buNone/>
            </a:pPr>
            <a:r>
              <a:rPr lang="en-US" sz="2800" b="1" dirty="0">
                <a:solidFill>
                  <a:srgbClr val="F3E4E4"/>
                </a:solidFill>
                <a:latin typeface="Cambria" pitchFamily="34" charset="0"/>
                <a:ea typeface="Cambria" pitchFamily="34" charset="-122"/>
                <a:cs typeface="Cambria" pitchFamily="34" charset="-120"/>
              </a:rPr>
              <a:t>2</a:t>
            </a:r>
            <a:endParaRPr lang="en-US" sz="2800" dirty="0"/>
          </a:p>
        </p:txBody>
      </p:sp>
      <p:sp>
        <p:nvSpPr>
          <p:cNvPr id="15" name="Text 13"/>
          <p:cNvSpPr/>
          <p:nvPr/>
        </p:nvSpPr>
        <p:spPr>
          <a:xfrm>
            <a:off x="4617720" y="1956816"/>
            <a:ext cx="3017520" cy="585216"/>
          </a:xfrm>
          <a:prstGeom prst="rect">
            <a:avLst/>
          </a:prstGeom>
          <a:noFill/>
          <a:ln/>
        </p:spPr>
        <p:txBody>
          <a:bodyPr wrap="square" lIns="0" tIns="0" rIns="0" bIns="0" rtlCol="0" anchor="t"/>
          <a:lstStyle/>
          <a:p>
            <a:pPr indent="0" marL="0">
              <a:lnSpc>
                <a:spcPts val="2000"/>
              </a:lnSpc>
              <a:buNone/>
            </a:pPr>
            <a:r>
              <a:rPr lang="en-US" sz="1600" b="1" dirty="0">
                <a:solidFill>
                  <a:srgbClr val="9E2A2B"/>
                </a:solidFill>
                <a:latin typeface="Calibri" pitchFamily="34" charset="0"/>
                <a:ea typeface="Calibri" pitchFamily="34" charset="-122"/>
                <a:cs typeface="Calibri" pitchFamily="34" charset="-120"/>
              </a:rPr>
              <a:t>Alternatives are never ranked</a:t>
            </a:r>
            <a:endParaRPr lang="en-US" sz="1600" dirty="0"/>
          </a:p>
        </p:txBody>
      </p:sp>
      <p:sp>
        <p:nvSpPr>
          <p:cNvPr id="16" name="Text 14"/>
          <p:cNvSpPr/>
          <p:nvPr/>
        </p:nvSpPr>
        <p:spPr>
          <a:xfrm>
            <a:off x="4617720" y="2615184"/>
            <a:ext cx="3017520" cy="1828800"/>
          </a:xfrm>
          <a:prstGeom prst="rect">
            <a:avLst/>
          </a:prstGeom>
          <a:noFill/>
          <a:ln/>
        </p:spPr>
        <p:txBody>
          <a:bodyPr wrap="square" lIns="0" tIns="0" rIns="0" bIns="0" rtlCol="0" anchor="t"/>
          <a:lstStyle/>
          <a:p>
            <a:pPr indent="0" marL="0">
              <a:lnSpc>
                <a:spcPts val="1800"/>
              </a:lnSpc>
              <a:buNone/>
            </a:pPr>
            <a:r>
              <a:rPr lang="en-US" sz="1300" dirty="0">
                <a:solidFill>
                  <a:srgbClr val="1F2430"/>
                </a:solidFill>
                <a:latin typeface="Calibri" pitchFamily="34" charset="0"/>
                <a:ea typeface="Calibri" pitchFamily="34" charset="-122"/>
                <a:cs typeface="Calibri" pitchFamily="34" charset="-120"/>
              </a:rPr>
              <a:t>The papers offer nothing when a request fails. The one product that does reads a substitution list maintained by hand.</a:t>
            </a:r>
            <a:endParaRPr lang="en-US" sz="1300" dirty="0"/>
          </a:p>
        </p:txBody>
      </p:sp>
      <p:sp>
        <p:nvSpPr>
          <p:cNvPr id="17" name="Shape 15"/>
          <p:cNvSpPr/>
          <p:nvPr/>
        </p:nvSpPr>
        <p:spPr>
          <a:xfrm>
            <a:off x="4361688" y="4224528"/>
            <a:ext cx="3493008" cy="1280160"/>
          </a:xfrm>
          <a:prstGeom prst="roundRect">
            <a:avLst>
              <a:gd name="adj" fmla="val 6429"/>
            </a:avLst>
          </a:prstGeom>
          <a:solidFill>
            <a:srgbClr val="F3E4E4"/>
          </a:solidFill>
          <a:ln w="9525">
            <a:solidFill>
              <a:srgbClr val="E2E4E8"/>
            </a:solidFill>
            <a:prstDash val="solid"/>
          </a:ln>
        </p:spPr>
      </p:sp>
      <p:sp>
        <p:nvSpPr>
          <p:cNvPr id="18" name="Text 16"/>
          <p:cNvSpPr/>
          <p:nvPr/>
        </p:nvSpPr>
        <p:spPr>
          <a:xfrm>
            <a:off x="4617720" y="4352544"/>
            <a:ext cx="3017520" cy="228600"/>
          </a:xfrm>
          <a:prstGeom prst="rect">
            <a:avLst/>
          </a:prstGeom>
          <a:noFill/>
          <a:ln/>
        </p:spPr>
        <p:txBody>
          <a:bodyPr wrap="square" lIns="0" tIns="0" rIns="0" bIns="0" rtlCol="0" anchor="ctr"/>
          <a:lstStyle/>
          <a:p>
            <a:pPr indent="0" marL="0">
              <a:buNone/>
            </a:pPr>
            <a:r>
              <a:rPr lang="en-US" sz="950" b="1" spc="150" kern="0" dirty="0">
                <a:solidFill>
                  <a:srgbClr val="9E2A2B"/>
                </a:solidFill>
                <a:latin typeface="Calibri" pitchFamily="34" charset="0"/>
                <a:ea typeface="Calibri" pitchFamily="34" charset="-122"/>
                <a:cs typeface="Calibri" pitchFamily="34" charset="-120"/>
              </a:rPr>
              <a:t>ADDRESSED BY</a:t>
            </a:r>
            <a:endParaRPr lang="en-US" sz="950" dirty="0"/>
          </a:p>
        </p:txBody>
      </p:sp>
      <p:sp>
        <p:nvSpPr>
          <p:cNvPr id="19" name="Text 17"/>
          <p:cNvSpPr/>
          <p:nvPr/>
        </p:nvSpPr>
        <p:spPr>
          <a:xfrm>
            <a:off x="4617720" y="4608576"/>
            <a:ext cx="3017520" cy="822960"/>
          </a:xfrm>
          <a:prstGeom prst="rect">
            <a:avLst/>
          </a:prstGeom>
          <a:noFill/>
          <a:ln/>
        </p:spPr>
        <p:txBody>
          <a:bodyPr wrap="square" lIns="0" tIns="0" rIns="0" bIns="0" rtlCol="0" anchor="t"/>
          <a:lstStyle/>
          <a:p>
            <a:pPr indent="0" marL="0">
              <a:lnSpc>
                <a:spcPts val="1700"/>
              </a:lnSpc>
              <a:buNone/>
            </a:pPr>
            <a:r>
              <a:rPr lang="en-US" sz="1250" dirty="0">
                <a:solidFill>
                  <a:srgbClr val="6E1B1C"/>
                </a:solidFill>
                <a:latin typeface="Calibri" pitchFamily="34" charset="0"/>
                <a:ea typeface="Calibri" pitchFamily="34" charset="-122"/>
                <a:cs typeface="Calibri" pitchFamily="34" charset="-120"/>
              </a:rPr>
              <a:t>Ranked on time, capacity fit and load, and adapted per student</a:t>
            </a:r>
            <a:endParaRPr lang="en-US" sz="1250" dirty="0"/>
          </a:p>
        </p:txBody>
      </p:sp>
      <p:sp>
        <p:nvSpPr>
          <p:cNvPr id="20" name="Shape 18"/>
          <p:cNvSpPr/>
          <p:nvPr/>
        </p:nvSpPr>
        <p:spPr>
          <a:xfrm>
            <a:off x="8037576" y="1371600"/>
            <a:ext cx="3493008" cy="2697480"/>
          </a:xfrm>
          <a:prstGeom prst="roundRect">
            <a:avLst>
              <a:gd name="adj" fmla="val 3051"/>
            </a:avLst>
          </a:prstGeom>
          <a:solidFill>
            <a:srgbClr val="F4F5F7"/>
          </a:solidFill>
          <a:ln w="9525">
            <a:solidFill>
              <a:srgbClr val="E2E4E8"/>
            </a:solidFill>
            <a:prstDash val="solid"/>
          </a:ln>
        </p:spPr>
      </p:sp>
      <p:sp>
        <p:nvSpPr>
          <p:cNvPr id="21" name="Text 19"/>
          <p:cNvSpPr/>
          <p:nvPr/>
        </p:nvSpPr>
        <p:spPr>
          <a:xfrm>
            <a:off x="8293608" y="1499616"/>
            <a:ext cx="548640" cy="457200"/>
          </a:xfrm>
          <a:prstGeom prst="rect">
            <a:avLst/>
          </a:prstGeom>
          <a:noFill/>
          <a:ln/>
        </p:spPr>
        <p:txBody>
          <a:bodyPr wrap="square" lIns="0" tIns="0" rIns="0" bIns="0" rtlCol="0" anchor="ctr"/>
          <a:lstStyle/>
          <a:p>
            <a:pPr indent="0" marL="0">
              <a:buNone/>
            </a:pPr>
            <a:r>
              <a:rPr lang="en-US" sz="2800" b="1" dirty="0">
                <a:solidFill>
                  <a:srgbClr val="F3E4E4"/>
                </a:solidFill>
                <a:latin typeface="Cambria" pitchFamily="34" charset="0"/>
                <a:ea typeface="Cambria" pitchFamily="34" charset="-122"/>
                <a:cs typeface="Cambria" pitchFamily="34" charset="-120"/>
              </a:rPr>
              <a:t>3</a:t>
            </a:r>
            <a:endParaRPr lang="en-US" sz="2800" dirty="0"/>
          </a:p>
        </p:txBody>
      </p:sp>
      <p:sp>
        <p:nvSpPr>
          <p:cNvPr id="22" name="Text 20"/>
          <p:cNvSpPr/>
          <p:nvPr/>
        </p:nvSpPr>
        <p:spPr>
          <a:xfrm>
            <a:off x="8293608" y="1956816"/>
            <a:ext cx="3017520" cy="585216"/>
          </a:xfrm>
          <a:prstGeom prst="rect">
            <a:avLst/>
          </a:prstGeom>
          <a:noFill/>
          <a:ln/>
        </p:spPr>
        <p:txBody>
          <a:bodyPr wrap="square" lIns="0" tIns="0" rIns="0" bIns="0" rtlCol="0" anchor="t"/>
          <a:lstStyle/>
          <a:p>
            <a:pPr indent="0" marL="0">
              <a:lnSpc>
                <a:spcPts val="2000"/>
              </a:lnSpc>
              <a:buNone/>
            </a:pPr>
            <a:r>
              <a:rPr lang="en-US" sz="1600" b="1" dirty="0">
                <a:solidFill>
                  <a:srgbClr val="9E2A2B"/>
                </a:solidFill>
                <a:latin typeface="Calibri" pitchFamily="34" charset="0"/>
                <a:ea typeface="Calibri" pitchFamily="34" charset="-122"/>
                <a:cs typeface="Calibri" pitchFamily="34" charset="-120"/>
              </a:rPr>
              <a:t>No conversational access for students</a:t>
            </a:r>
            <a:endParaRPr lang="en-US" sz="1600" dirty="0"/>
          </a:p>
        </p:txBody>
      </p:sp>
      <p:sp>
        <p:nvSpPr>
          <p:cNvPr id="23" name="Text 21"/>
          <p:cNvSpPr/>
          <p:nvPr/>
        </p:nvSpPr>
        <p:spPr>
          <a:xfrm>
            <a:off x="8293608" y="2615184"/>
            <a:ext cx="3017520" cy="1828800"/>
          </a:xfrm>
          <a:prstGeom prst="rect">
            <a:avLst/>
          </a:prstGeom>
          <a:noFill/>
          <a:ln/>
        </p:spPr>
        <p:txBody>
          <a:bodyPr wrap="square" lIns="0" tIns="0" rIns="0" bIns="0" rtlCol="0" anchor="t"/>
          <a:lstStyle/>
          <a:p>
            <a:pPr indent="0" marL="0">
              <a:lnSpc>
                <a:spcPts val="1800"/>
              </a:lnSpc>
              <a:buNone/>
            </a:pPr>
            <a:r>
              <a:rPr lang="en-US" sz="1300" dirty="0">
                <a:solidFill>
                  <a:srgbClr val="1F2430"/>
                </a:solidFill>
                <a:latin typeface="Calibri" pitchFamily="34" charset="0"/>
                <a:ea typeface="Calibri" pitchFamily="34" charset="-122"/>
                <a:cs typeface="Calibri" pitchFamily="34" charset="-120"/>
              </a:rPr>
              <a:t>Library assistants follow fixed scripts. Conversational booking exists as a staff add-on on one shared account.</a:t>
            </a:r>
            <a:endParaRPr lang="en-US" sz="1300" dirty="0"/>
          </a:p>
        </p:txBody>
      </p:sp>
      <p:sp>
        <p:nvSpPr>
          <p:cNvPr id="24" name="Shape 22"/>
          <p:cNvSpPr/>
          <p:nvPr/>
        </p:nvSpPr>
        <p:spPr>
          <a:xfrm>
            <a:off x="8037576" y="4224528"/>
            <a:ext cx="3493008" cy="1280160"/>
          </a:xfrm>
          <a:prstGeom prst="roundRect">
            <a:avLst>
              <a:gd name="adj" fmla="val 6429"/>
            </a:avLst>
          </a:prstGeom>
          <a:solidFill>
            <a:srgbClr val="F3E4E4"/>
          </a:solidFill>
          <a:ln w="9525">
            <a:solidFill>
              <a:srgbClr val="E2E4E8"/>
            </a:solidFill>
            <a:prstDash val="solid"/>
          </a:ln>
        </p:spPr>
      </p:sp>
      <p:sp>
        <p:nvSpPr>
          <p:cNvPr id="25" name="Text 23"/>
          <p:cNvSpPr/>
          <p:nvPr/>
        </p:nvSpPr>
        <p:spPr>
          <a:xfrm>
            <a:off x="8293608" y="4352544"/>
            <a:ext cx="3017520" cy="228600"/>
          </a:xfrm>
          <a:prstGeom prst="rect">
            <a:avLst/>
          </a:prstGeom>
          <a:noFill/>
          <a:ln/>
        </p:spPr>
        <p:txBody>
          <a:bodyPr wrap="square" lIns="0" tIns="0" rIns="0" bIns="0" rtlCol="0" anchor="ctr"/>
          <a:lstStyle/>
          <a:p>
            <a:pPr indent="0" marL="0">
              <a:buNone/>
            </a:pPr>
            <a:r>
              <a:rPr lang="en-US" sz="950" b="1" spc="150" kern="0" dirty="0">
                <a:solidFill>
                  <a:srgbClr val="9E2A2B"/>
                </a:solidFill>
                <a:latin typeface="Calibri" pitchFamily="34" charset="0"/>
                <a:ea typeface="Calibri" pitchFamily="34" charset="-122"/>
                <a:cs typeface="Calibri" pitchFamily="34" charset="-120"/>
              </a:rPr>
              <a:t>ADDRESSED BY</a:t>
            </a:r>
            <a:endParaRPr lang="en-US" sz="950" dirty="0"/>
          </a:p>
        </p:txBody>
      </p:sp>
      <p:sp>
        <p:nvSpPr>
          <p:cNvPr id="26" name="Text 24"/>
          <p:cNvSpPr/>
          <p:nvPr/>
        </p:nvSpPr>
        <p:spPr>
          <a:xfrm>
            <a:off x="8293608" y="4608576"/>
            <a:ext cx="3017520" cy="822960"/>
          </a:xfrm>
          <a:prstGeom prst="rect">
            <a:avLst/>
          </a:prstGeom>
          <a:noFill/>
          <a:ln/>
        </p:spPr>
        <p:txBody>
          <a:bodyPr wrap="square" lIns="0" tIns="0" rIns="0" bIns="0" rtlCol="0" anchor="t"/>
          <a:lstStyle/>
          <a:p>
            <a:pPr indent="0" marL="0">
              <a:lnSpc>
                <a:spcPts val="1700"/>
              </a:lnSpc>
              <a:buNone/>
            </a:pPr>
            <a:r>
              <a:rPr lang="en-US" sz="1250" dirty="0">
                <a:solidFill>
                  <a:srgbClr val="6E1B1C"/>
                </a:solidFill>
                <a:latin typeface="Calibri" pitchFamily="34" charset="0"/>
                <a:ea typeface="Calibri" pitchFamily="34" charset="-122"/>
                <a:cs typeface="Calibri" pitchFamily="34" charset="-120"/>
              </a:rPr>
              <a:t>In-product, per student, scoped to their own data</a:t>
            </a:r>
            <a:endParaRPr lang="en-US" sz="1250" dirty="0"/>
          </a:p>
        </p:txBody>
      </p:sp>
      <p:sp>
        <p:nvSpPr>
          <p:cNvPr id="27" name="Text 25"/>
          <p:cNvSpPr/>
          <p:nvPr/>
        </p:nvSpPr>
        <p:spPr>
          <a:xfrm>
            <a:off x="685800" y="5669280"/>
            <a:ext cx="10789920" cy="329184"/>
          </a:xfrm>
          <a:prstGeom prst="rect">
            <a:avLst/>
          </a:prstGeom>
          <a:noFill/>
          <a:ln/>
        </p:spPr>
        <p:txBody>
          <a:bodyPr wrap="square" lIns="0" tIns="0" rIns="0" bIns="0" rtlCol="0" anchor="ctr"/>
          <a:lstStyle/>
          <a:p>
            <a:pPr indent="0" marL="0">
              <a:buNone/>
            </a:pPr>
            <a:r>
              <a:rPr lang="en-US" sz="1400" b="1" dirty="0">
                <a:solidFill>
                  <a:srgbClr val="1F2430"/>
                </a:solidFill>
                <a:latin typeface="Calibri" pitchFamily="34" charset="0"/>
                <a:ea typeface="Calibri" pitchFamily="34" charset="-122"/>
                <a:cs typeface="Calibri" pitchFamily="34" charset="-120"/>
              </a:rPr>
              <a:t>Assessed against the products universities buy today, not only against the papers.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48640" cy="548640"/>
          </a:xfrm>
          <a:prstGeom prst="ellipse">
            <a:avLst/>
          </a:prstGeom>
          <a:solidFill>
            <a:srgbClr val="9E2A2B"/>
          </a:solidFill>
          <a:ln/>
        </p:spPr>
      </p:sp>
      <p:sp>
        <p:nvSpPr>
          <p:cNvPr id="3" name="Text 1"/>
          <p:cNvSpPr/>
          <p:nvPr/>
        </p:nvSpPr>
        <p:spPr>
          <a:xfrm>
            <a:off x="566928" y="384048"/>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8</a:t>
            </a:r>
            <a:endParaRPr lang="en-US" sz="1900" dirty="0"/>
          </a:p>
        </p:txBody>
      </p:sp>
      <p:sp>
        <p:nvSpPr>
          <p:cNvPr id="4" name="Text 2"/>
          <p:cNvSpPr/>
          <p:nvPr/>
        </p:nvSpPr>
        <p:spPr>
          <a:xfrm>
            <a:off x="1298448" y="329184"/>
            <a:ext cx="10241280" cy="256032"/>
          </a:xfrm>
          <a:prstGeom prst="rect">
            <a:avLst/>
          </a:prstGeom>
          <a:noFill/>
          <a:ln/>
        </p:spPr>
        <p:txBody>
          <a:bodyPr wrap="square" lIns="0" tIns="0" rIns="0" bIns="0" rtlCol="0" anchor="ctr"/>
          <a:lstStyle/>
          <a:p>
            <a:pPr indent="0" marL="0">
              <a:buNone/>
            </a:pPr>
            <a:r>
              <a:rPr lang="en-US" sz="1100" spc="200" kern="0" dirty="0">
                <a:solidFill>
                  <a:srgbClr val="9E2A2B"/>
                </a:solidFill>
                <a:latin typeface="Calibri" pitchFamily="34" charset="0"/>
                <a:ea typeface="Calibri" pitchFamily="34" charset="-122"/>
                <a:cs typeface="Calibri" pitchFamily="34" charset="-120"/>
              </a:rPr>
              <a:t>CONCEPT DESIGN</a:t>
            </a:r>
            <a:endParaRPr lang="en-US" sz="1100" dirty="0"/>
          </a:p>
        </p:txBody>
      </p:sp>
      <p:sp>
        <p:nvSpPr>
          <p:cNvPr id="5" name="Text 3"/>
          <p:cNvSpPr/>
          <p:nvPr/>
        </p:nvSpPr>
        <p:spPr>
          <a:xfrm>
            <a:off x="1298448" y="566928"/>
            <a:ext cx="10241280" cy="502920"/>
          </a:xfrm>
          <a:prstGeom prst="rect">
            <a:avLst/>
          </a:prstGeom>
          <a:noFill/>
          <a:ln/>
        </p:spPr>
        <p:txBody>
          <a:bodyPr wrap="square" lIns="0" tIns="0" rIns="0" bIns="0" rtlCol="0" anchor="ctr"/>
          <a:lstStyle/>
          <a:p>
            <a:pPr indent="0" marL="0">
              <a:buNone/>
            </a:pPr>
            <a:r>
              <a:rPr lang="en-US" sz="2900" b="1" dirty="0">
                <a:solidFill>
                  <a:srgbClr val="1F2430"/>
                </a:solidFill>
                <a:latin typeface="Cambria" pitchFamily="34" charset="0"/>
                <a:ea typeface="Cambria" pitchFamily="34" charset="-122"/>
                <a:cs typeface="Cambria" pitchFamily="34" charset="-120"/>
              </a:rPr>
              <a:t>System architecture</a:t>
            </a:r>
            <a:endParaRPr lang="en-US" sz="2900" dirty="0"/>
          </a:p>
        </p:txBody>
      </p:sp>
      <p:pic>
        <p:nvPicPr>
          <p:cNvPr id="6" name="Image 0" descr="/sessions/magical-laughing-mayer/mnt/smart-campus-reservation/report/figs/fig_arch.png">    </p:cNvPr>
          <p:cNvPicPr>
            <a:picLocks noChangeAspect="1"/>
          </p:cNvPicPr>
          <p:nvPr/>
        </p:nvPicPr>
        <p:blipFill>
          <a:blip r:embed="rId1"/>
          <a:stretch>
            <a:fillRect/>
          </a:stretch>
        </p:blipFill>
        <p:spPr>
          <a:xfrm>
            <a:off x="1234440" y="1298448"/>
            <a:ext cx="7360920" cy="4251960"/>
          </a:xfrm>
          <a:prstGeom prst="rect">
            <a:avLst/>
          </a:prstGeom>
        </p:spPr>
      </p:pic>
      <p:sp>
        <p:nvSpPr>
          <p:cNvPr id="7" name="Shape 4"/>
          <p:cNvSpPr/>
          <p:nvPr/>
        </p:nvSpPr>
        <p:spPr>
          <a:xfrm>
            <a:off x="8823960" y="1298448"/>
            <a:ext cx="2651760" cy="4251960"/>
          </a:xfrm>
          <a:prstGeom prst="roundRect">
            <a:avLst>
              <a:gd name="adj" fmla="val 3103"/>
            </a:avLst>
          </a:prstGeom>
          <a:solidFill>
            <a:srgbClr val="F3E4E4"/>
          </a:solidFill>
          <a:ln w="9525">
            <a:solidFill>
              <a:srgbClr val="E2E4E8"/>
            </a:solidFill>
            <a:prstDash val="solid"/>
          </a:ln>
        </p:spPr>
      </p:sp>
      <p:sp>
        <p:nvSpPr>
          <p:cNvPr id="8" name="Text 5"/>
          <p:cNvSpPr/>
          <p:nvPr/>
        </p:nvSpPr>
        <p:spPr>
          <a:xfrm>
            <a:off x="9034272" y="1481328"/>
            <a:ext cx="2286000" cy="310896"/>
          </a:xfrm>
          <a:prstGeom prst="rect">
            <a:avLst/>
          </a:prstGeom>
          <a:noFill/>
          <a:ln/>
        </p:spPr>
        <p:txBody>
          <a:bodyPr wrap="square" lIns="0" tIns="0" rIns="0" bIns="0" rtlCol="0" anchor="ctr"/>
          <a:lstStyle/>
          <a:p>
            <a:pPr indent="0" marL="0">
              <a:buNone/>
            </a:pPr>
            <a:r>
              <a:rPr lang="en-US" sz="1350" b="1" dirty="0">
                <a:solidFill>
                  <a:srgbClr val="6E1B1C"/>
                </a:solidFill>
                <a:latin typeface="Calibri" pitchFamily="34" charset="0"/>
                <a:ea typeface="Calibri" pitchFamily="34" charset="-122"/>
                <a:cs typeface="Calibri" pitchFamily="34" charset="-120"/>
              </a:rPr>
              <a:t>Design decisions</a:t>
            </a:r>
            <a:endParaRPr lang="en-US" sz="1350" dirty="0"/>
          </a:p>
        </p:txBody>
      </p:sp>
      <p:sp>
        <p:nvSpPr>
          <p:cNvPr id="9" name="Text 6"/>
          <p:cNvSpPr/>
          <p:nvPr/>
        </p:nvSpPr>
        <p:spPr>
          <a:xfrm>
            <a:off x="9034272" y="1874520"/>
            <a:ext cx="2240280" cy="2075688"/>
          </a:xfrm>
          <a:prstGeom prst="rect">
            <a:avLst/>
          </a:prstGeom>
          <a:noFill/>
          <a:ln/>
        </p:spPr>
        <p:txBody>
          <a:bodyPr wrap="square" lIns="0" tIns="0" rIns="0" bIns="0" rtlCol="0" anchor="t"/>
          <a:lstStyle/>
          <a:p>
            <a:pPr marL="342900" indent="-342900">
              <a:spcAft>
                <a:spcPts val="1100"/>
              </a:spcAft>
              <a:buSzPct val="100000"/>
              <a:buChar char="•"/>
            </a:pPr>
            <a:r>
              <a:rPr lang="en-US" sz="1200" dirty="0">
                <a:solidFill>
                  <a:srgbClr val="6E1B1C"/>
                </a:solidFill>
                <a:latin typeface="Calibri" pitchFamily="34" charset="0"/>
                <a:ea typeface="Calibri" pitchFamily="34" charset="-122"/>
                <a:cs typeface="Calibri" pitchFamily="34" charset="-120"/>
              </a:rPr>
              <a:t>One codebase serves all three dashboards and the API</a:t>
            </a:r>
            <a:endParaRPr lang="en-US" sz="1200" dirty="0"/>
          </a:p>
          <a:p>
            <a:pPr marL="342900" indent="-342900">
              <a:spcAft>
                <a:spcPts val="1100"/>
              </a:spcAft>
              <a:buSzPct val="100000"/>
              <a:buChar char="•"/>
            </a:pPr>
            <a:r>
              <a:rPr lang="en-US" sz="1200" dirty="0">
                <a:solidFill>
                  <a:srgbClr val="6E1B1C"/>
                </a:solidFill>
                <a:latin typeface="Calibri" pitchFamily="34" charset="0"/>
                <a:ea typeface="Calibri" pitchFamily="34" charset="-122"/>
                <a:cs typeface="Calibri" pitchFamily="34" charset="-120"/>
              </a:rPr>
              <a:t>PostgreSQL, since MySQL cannot enforce the no-overlap rule</a:t>
            </a:r>
            <a:endParaRPr lang="en-US" sz="1200" dirty="0"/>
          </a:p>
          <a:p>
            <a:pPr marL="342900" indent="-342900">
              <a:spcAft>
                <a:spcPts val="1100"/>
              </a:spcAft>
              <a:buSzPct val="100000"/>
              <a:buChar char="•"/>
            </a:pPr>
            <a:r>
              <a:rPr lang="en-US" sz="1200" dirty="0">
                <a:solidFill>
                  <a:srgbClr val="6E1B1C"/>
                </a:solidFill>
                <a:latin typeface="Calibri" pitchFamily="34" charset="0"/>
                <a:ea typeface="Calibri" pitchFamily="34" charset="-122"/>
                <a:cs typeface="Calibri" pitchFamily="34" charset="-120"/>
              </a:rPr>
              <a:t>The model sits behind a wrapper and can be replaced</a:t>
            </a:r>
            <a:endParaRPr lang="en-US" sz="1200" dirty="0"/>
          </a:p>
          <a:p>
            <a:pPr marL="342900" indent="-342900">
              <a:spcAft>
                <a:spcPts val="1100"/>
              </a:spcAft>
              <a:buSzPct val="100000"/>
              <a:buChar char="•"/>
            </a:pPr>
            <a:r>
              <a:rPr lang="en-US" sz="1200" dirty="0">
                <a:solidFill>
                  <a:srgbClr val="6E1B1C"/>
                </a:solidFill>
                <a:latin typeface="Calibri" pitchFamily="34" charset="0"/>
                <a:ea typeface="Calibri" pitchFamily="34" charset="-122"/>
                <a:cs typeface="Calibri" pitchFamily="34" charset="-120"/>
              </a:rPr>
              <a:t>Runs entirely on free tiers</a:t>
            </a:r>
            <a:endParaRPr lang="en-US" sz="1200" dirty="0"/>
          </a:p>
        </p:txBody>
      </p:sp>
      <p:sp>
        <p:nvSpPr>
          <p:cNvPr id="10" name="Text 7"/>
          <p:cNvSpPr/>
          <p:nvPr/>
        </p:nvSpPr>
        <p:spPr>
          <a:xfrm>
            <a:off x="1234440" y="5669280"/>
            <a:ext cx="7315200" cy="274320"/>
          </a:xfrm>
          <a:prstGeom prst="rect">
            <a:avLst/>
          </a:prstGeom>
          <a:noFill/>
          <a:ln/>
        </p:spPr>
        <p:txBody>
          <a:bodyPr wrap="square" lIns="0" tIns="0" rIns="0" bIns="0" rtlCol="0" anchor="ctr"/>
          <a:lstStyle/>
          <a:p>
            <a:pPr indent="0" marL="0">
              <a:buNone/>
            </a:pPr>
            <a:r>
              <a:rPr lang="en-US" sz="1150" i="1" dirty="0">
                <a:solidFill>
                  <a:srgbClr val="6E7079"/>
                </a:solidFill>
                <a:latin typeface="Calibri" pitchFamily="34" charset="0"/>
                <a:ea typeface="Calibri" pitchFamily="34" charset="-122"/>
                <a:cs typeface="Calibri" pitchFamily="34" charset="-120"/>
              </a:rPr>
              <a:t>Figure 3.1 of the report</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48640" cy="548640"/>
          </a:xfrm>
          <a:prstGeom prst="ellipse">
            <a:avLst/>
          </a:prstGeom>
          <a:solidFill>
            <a:srgbClr val="9E2A2B"/>
          </a:solidFill>
          <a:ln/>
        </p:spPr>
      </p:sp>
      <p:sp>
        <p:nvSpPr>
          <p:cNvPr id="3" name="Text 1"/>
          <p:cNvSpPr/>
          <p:nvPr/>
        </p:nvSpPr>
        <p:spPr>
          <a:xfrm>
            <a:off x="566928" y="384048"/>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9</a:t>
            </a:r>
            <a:endParaRPr lang="en-US" sz="1900" dirty="0"/>
          </a:p>
        </p:txBody>
      </p:sp>
      <p:sp>
        <p:nvSpPr>
          <p:cNvPr id="4" name="Text 2"/>
          <p:cNvSpPr/>
          <p:nvPr/>
        </p:nvSpPr>
        <p:spPr>
          <a:xfrm>
            <a:off x="1298448" y="329184"/>
            <a:ext cx="10241280" cy="256032"/>
          </a:xfrm>
          <a:prstGeom prst="rect">
            <a:avLst/>
          </a:prstGeom>
          <a:noFill/>
          <a:ln/>
        </p:spPr>
        <p:txBody>
          <a:bodyPr wrap="square" lIns="0" tIns="0" rIns="0" bIns="0" rtlCol="0" anchor="ctr"/>
          <a:lstStyle/>
          <a:p>
            <a:pPr indent="0" marL="0">
              <a:buNone/>
            </a:pPr>
            <a:r>
              <a:rPr lang="en-US" sz="1100" spc="200" kern="0" dirty="0">
                <a:solidFill>
                  <a:srgbClr val="9E2A2B"/>
                </a:solidFill>
                <a:latin typeface="Calibri" pitchFamily="34" charset="0"/>
                <a:ea typeface="Calibri" pitchFamily="34" charset="-122"/>
                <a:cs typeface="Calibri" pitchFamily="34" charset="-120"/>
              </a:rPr>
              <a:t>METHODOLOGY</a:t>
            </a:r>
            <a:endParaRPr lang="en-US" sz="1100" dirty="0"/>
          </a:p>
        </p:txBody>
      </p:sp>
      <p:sp>
        <p:nvSpPr>
          <p:cNvPr id="5" name="Text 3"/>
          <p:cNvSpPr/>
          <p:nvPr/>
        </p:nvSpPr>
        <p:spPr>
          <a:xfrm>
            <a:off x="1298448" y="566928"/>
            <a:ext cx="10241280" cy="502920"/>
          </a:xfrm>
          <a:prstGeom prst="rect">
            <a:avLst/>
          </a:prstGeom>
          <a:noFill/>
          <a:ln/>
        </p:spPr>
        <p:txBody>
          <a:bodyPr wrap="square" lIns="0" tIns="0" rIns="0" bIns="0" rtlCol="0" anchor="ctr"/>
          <a:lstStyle/>
          <a:p>
            <a:pPr indent="0" marL="0">
              <a:buNone/>
            </a:pPr>
            <a:r>
              <a:rPr lang="en-US" sz="2900" b="1" dirty="0">
                <a:solidFill>
                  <a:srgbClr val="1F2430"/>
                </a:solidFill>
                <a:latin typeface="Cambria" pitchFamily="34" charset="0"/>
                <a:ea typeface="Cambria" pitchFamily="34" charset="-122"/>
                <a:cs typeface="Cambria" pitchFamily="34" charset="-120"/>
              </a:rPr>
              <a:t>Development approach and evaluation</a:t>
            </a:r>
            <a:endParaRPr lang="en-US" sz="2900" dirty="0"/>
          </a:p>
        </p:txBody>
      </p:sp>
      <p:sp>
        <p:nvSpPr>
          <p:cNvPr id="6" name="Text 4"/>
          <p:cNvSpPr/>
          <p:nvPr/>
        </p:nvSpPr>
        <p:spPr>
          <a:xfrm>
            <a:off x="685800" y="1353312"/>
            <a:ext cx="5120640" cy="329184"/>
          </a:xfrm>
          <a:prstGeom prst="rect">
            <a:avLst/>
          </a:prstGeom>
          <a:noFill/>
          <a:ln/>
        </p:spPr>
        <p:txBody>
          <a:bodyPr wrap="square" lIns="0" tIns="0" rIns="0" bIns="0" rtlCol="0" anchor="ctr"/>
          <a:lstStyle/>
          <a:p>
            <a:pPr indent="0" marL="0">
              <a:buNone/>
            </a:pPr>
            <a:r>
              <a:rPr lang="en-US" sz="1800" b="1" dirty="0">
                <a:solidFill>
                  <a:srgbClr val="9E2A2B"/>
                </a:solidFill>
                <a:latin typeface="Cambria" pitchFamily="34" charset="0"/>
                <a:ea typeface="Cambria" pitchFamily="34" charset="-122"/>
                <a:cs typeface="Cambria" pitchFamily="34" charset="-120"/>
              </a:rPr>
              <a:t>Incremental build order</a:t>
            </a:r>
            <a:endParaRPr lang="en-US" sz="1800" dirty="0"/>
          </a:p>
        </p:txBody>
      </p:sp>
      <p:sp>
        <p:nvSpPr>
          <p:cNvPr id="7" name="Shape 5"/>
          <p:cNvSpPr/>
          <p:nvPr/>
        </p:nvSpPr>
        <p:spPr>
          <a:xfrm>
            <a:off x="713232" y="1901952"/>
            <a:ext cx="402336" cy="402336"/>
          </a:xfrm>
          <a:prstGeom prst="ellipse">
            <a:avLst/>
          </a:prstGeom>
          <a:solidFill>
            <a:srgbClr val="F3E4E4"/>
          </a:solidFill>
          <a:ln/>
        </p:spPr>
      </p:sp>
      <p:sp>
        <p:nvSpPr>
          <p:cNvPr id="8" name="Text 6"/>
          <p:cNvSpPr/>
          <p:nvPr/>
        </p:nvSpPr>
        <p:spPr>
          <a:xfrm>
            <a:off x="713232" y="1901952"/>
            <a:ext cx="402336" cy="402336"/>
          </a:xfrm>
          <a:prstGeom prst="rect">
            <a:avLst/>
          </a:prstGeom>
          <a:noFill/>
          <a:ln/>
        </p:spPr>
        <p:txBody>
          <a:bodyPr wrap="square" lIns="0" tIns="0" rIns="0" bIns="0" rtlCol="0" anchor="ctr"/>
          <a:lstStyle/>
          <a:p>
            <a:pPr algn="ctr" indent="0" marL="0">
              <a:buNone/>
            </a:pPr>
            <a:r>
              <a:rPr lang="en-US" sz="1250" b="1" dirty="0">
                <a:solidFill>
                  <a:srgbClr val="9E2A2B"/>
                </a:solidFill>
                <a:latin typeface="Calibri" pitchFamily="34" charset="0"/>
                <a:ea typeface="Calibri" pitchFamily="34" charset="-122"/>
                <a:cs typeface="Calibri" pitchFamily="34" charset="-120"/>
              </a:rPr>
              <a:t>1</a:t>
            </a:r>
            <a:endParaRPr lang="en-US" sz="1250" dirty="0"/>
          </a:p>
        </p:txBody>
      </p:sp>
      <p:sp>
        <p:nvSpPr>
          <p:cNvPr id="9" name="Text 7"/>
          <p:cNvSpPr/>
          <p:nvPr/>
        </p:nvSpPr>
        <p:spPr>
          <a:xfrm>
            <a:off x="1280160" y="1883664"/>
            <a:ext cx="4480560" cy="438912"/>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Database, access control, authentication</a:t>
            </a:r>
            <a:endParaRPr lang="en-US" sz="1400" dirty="0"/>
          </a:p>
        </p:txBody>
      </p:sp>
      <p:sp>
        <p:nvSpPr>
          <p:cNvPr id="10" name="Shape 8"/>
          <p:cNvSpPr/>
          <p:nvPr/>
        </p:nvSpPr>
        <p:spPr>
          <a:xfrm>
            <a:off x="713232" y="2578608"/>
            <a:ext cx="402336" cy="402336"/>
          </a:xfrm>
          <a:prstGeom prst="ellipse">
            <a:avLst/>
          </a:prstGeom>
          <a:solidFill>
            <a:srgbClr val="F3E4E4"/>
          </a:solidFill>
          <a:ln/>
        </p:spPr>
      </p:sp>
      <p:sp>
        <p:nvSpPr>
          <p:cNvPr id="11" name="Text 9"/>
          <p:cNvSpPr/>
          <p:nvPr/>
        </p:nvSpPr>
        <p:spPr>
          <a:xfrm>
            <a:off x="713232" y="2578608"/>
            <a:ext cx="402336" cy="402336"/>
          </a:xfrm>
          <a:prstGeom prst="rect">
            <a:avLst/>
          </a:prstGeom>
          <a:noFill/>
          <a:ln/>
        </p:spPr>
        <p:txBody>
          <a:bodyPr wrap="square" lIns="0" tIns="0" rIns="0" bIns="0" rtlCol="0" anchor="ctr"/>
          <a:lstStyle/>
          <a:p>
            <a:pPr algn="ctr" indent="0" marL="0">
              <a:buNone/>
            </a:pPr>
            <a:r>
              <a:rPr lang="en-US" sz="1250" b="1" dirty="0">
                <a:solidFill>
                  <a:srgbClr val="9E2A2B"/>
                </a:solidFill>
                <a:latin typeface="Calibri" pitchFamily="34" charset="0"/>
                <a:ea typeface="Calibri" pitchFamily="34" charset="-122"/>
                <a:cs typeface="Calibri" pitchFamily="34" charset="-120"/>
              </a:rPr>
              <a:t>2</a:t>
            </a:r>
            <a:endParaRPr lang="en-US" sz="1250" dirty="0"/>
          </a:p>
        </p:txBody>
      </p:sp>
      <p:sp>
        <p:nvSpPr>
          <p:cNvPr id="12" name="Text 10"/>
          <p:cNvSpPr/>
          <p:nvPr/>
        </p:nvSpPr>
        <p:spPr>
          <a:xfrm>
            <a:off x="1280160" y="2560320"/>
            <a:ext cx="4480560" cy="438912"/>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Facility configuration and rule engine</a:t>
            </a:r>
            <a:endParaRPr lang="en-US" sz="1400" dirty="0"/>
          </a:p>
        </p:txBody>
      </p:sp>
      <p:sp>
        <p:nvSpPr>
          <p:cNvPr id="13" name="Shape 11"/>
          <p:cNvSpPr/>
          <p:nvPr/>
        </p:nvSpPr>
        <p:spPr>
          <a:xfrm>
            <a:off x="713232" y="3255264"/>
            <a:ext cx="402336" cy="402336"/>
          </a:xfrm>
          <a:prstGeom prst="ellipse">
            <a:avLst/>
          </a:prstGeom>
          <a:solidFill>
            <a:srgbClr val="F3E4E4"/>
          </a:solidFill>
          <a:ln/>
        </p:spPr>
      </p:sp>
      <p:sp>
        <p:nvSpPr>
          <p:cNvPr id="14" name="Text 12"/>
          <p:cNvSpPr/>
          <p:nvPr/>
        </p:nvSpPr>
        <p:spPr>
          <a:xfrm>
            <a:off x="713232" y="3255264"/>
            <a:ext cx="402336" cy="402336"/>
          </a:xfrm>
          <a:prstGeom prst="rect">
            <a:avLst/>
          </a:prstGeom>
          <a:noFill/>
          <a:ln/>
        </p:spPr>
        <p:txBody>
          <a:bodyPr wrap="square" lIns="0" tIns="0" rIns="0" bIns="0" rtlCol="0" anchor="ctr"/>
          <a:lstStyle/>
          <a:p>
            <a:pPr algn="ctr" indent="0" marL="0">
              <a:buNone/>
            </a:pPr>
            <a:r>
              <a:rPr lang="en-US" sz="1250" b="1" dirty="0">
                <a:solidFill>
                  <a:srgbClr val="9E2A2B"/>
                </a:solidFill>
                <a:latin typeface="Calibri" pitchFamily="34" charset="0"/>
                <a:ea typeface="Calibri" pitchFamily="34" charset="-122"/>
                <a:cs typeface="Calibri" pitchFamily="34" charset="-120"/>
              </a:rPr>
              <a:t>3</a:t>
            </a:r>
            <a:endParaRPr lang="en-US" sz="1250" dirty="0"/>
          </a:p>
        </p:txBody>
      </p:sp>
      <p:sp>
        <p:nvSpPr>
          <p:cNvPr id="15" name="Text 13"/>
          <p:cNvSpPr/>
          <p:nvPr/>
        </p:nvSpPr>
        <p:spPr>
          <a:xfrm>
            <a:off x="1280160" y="3236976"/>
            <a:ext cx="4480560" cy="438912"/>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Booking, with overlaps blocked by the database</a:t>
            </a:r>
            <a:endParaRPr lang="en-US" sz="1400" dirty="0"/>
          </a:p>
        </p:txBody>
      </p:sp>
      <p:sp>
        <p:nvSpPr>
          <p:cNvPr id="16" name="Shape 14"/>
          <p:cNvSpPr/>
          <p:nvPr/>
        </p:nvSpPr>
        <p:spPr>
          <a:xfrm>
            <a:off x="713232" y="3931920"/>
            <a:ext cx="402336" cy="402336"/>
          </a:xfrm>
          <a:prstGeom prst="ellipse">
            <a:avLst/>
          </a:prstGeom>
          <a:solidFill>
            <a:srgbClr val="F3E4E4"/>
          </a:solidFill>
          <a:ln/>
        </p:spPr>
      </p:sp>
      <p:sp>
        <p:nvSpPr>
          <p:cNvPr id="17" name="Text 15"/>
          <p:cNvSpPr/>
          <p:nvPr/>
        </p:nvSpPr>
        <p:spPr>
          <a:xfrm>
            <a:off x="713232" y="3931920"/>
            <a:ext cx="402336" cy="402336"/>
          </a:xfrm>
          <a:prstGeom prst="rect">
            <a:avLst/>
          </a:prstGeom>
          <a:noFill/>
          <a:ln/>
        </p:spPr>
        <p:txBody>
          <a:bodyPr wrap="square" lIns="0" tIns="0" rIns="0" bIns="0" rtlCol="0" anchor="ctr"/>
          <a:lstStyle/>
          <a:p>
            <a:pPr algn="ctr" indent="0" marL="0">
              <a:buNone/>
            </a:pPr>
            <a:r>
              <a:rPr lang="en-US" sz="1250" b="1" dirty="0">
                <a:solidFill>
                  <a:srgbClr val="9E2A2B"/>
                </a:solidFill>
                <a:latin typeface="Calibri" pitchFamily="34" charset="0"/>
                <a:ea typeface="Calibri" pitchFamily="34" charset="-122"/>
                <a:cs typeface="Calibri" pitchFamily="34" charset="-120"/>
              </a:rPr>
              <a:t>4</a:t>
            </a:r>
            <a:endParaRPr lang="en-US" sz="1250" dirty="0"/>
          </a:p>
        </p:txBody>
      </p:sp>
      <p:sp>
        <p:nvSpPr>
          <p:cNvPr id="18" name="Text 16"/>
          <p:cNvSpPr/>
          <p:nvPr/>
        </p:nvSpPr>
        <p:spPr>
          <a:xfrm>
            <a:off x="1280160" y="3913632"/>
            <a:ext cx="4480560" cy="438912"/>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Recommendation engine with adaptive weights</a:t>
            </a:r>
            <a:endParaRPr lang="en-US" sz="1400" dirty="0"/>
          </a:p>
        </p:txBody>
      </p:sp>
      <p:sp>
        <p:nvSpPr>
          <p:cNvPr id="19" name="Shape 17"/>
          <p:cNvSpPr/>
          <p:nvPr/>
        </p:nvSpPr>
        <p:spPr>
          <a:xfrm>
            <a:off x="713232" y="4608576"/>
            <a:ext cx="402336" cy="402336"/>
          </a:xfrm>
          <a:prstGeom prst="ellipse">
            <a:avLst/>
          </a:prstGeom>
          <a:solidFill>
            <a:srgbClr val="F3E4E4"/>
          </a:solidFill>
          <a:ln/>
        </p:spPr>
      </p:sp>
      <p:sp>
        <p:nvSpPr>
          <p:cNvPr id="20" name="Text 18"/>
          <p:cNvSpPr/>
          <p:nvPr/>
        </p:nvSpPr>
        <p:spPr>
          <a:xfrm>
            <a:off x="713232" y="4608576"/>
            <a:ext cx="402336" cy="402336"/>
          </a:xfrm>
          <a:prstGeom prst="rect">
            <a:avLst/>
          </a:prstGeom>
          <a:noFill/>
          <a:ln/>
        </p:spPr>
        <p:txBody>
          <a:bodyPr wrap="square" lIns="0" tIns="0" rIns="0" bIns="0" rtlCol="0" anchor="ctr"/>
          <a:lstStyle/>
          <a:p>
            <a:pPr algn="ctr" indent="0" marL="0">
              <a:buNone/>
            </a:pPr>
            <a:r>
              <a:rPr lang="en-US" sz="1250" b="1" dirty="0">
                <a:solidFill>
                  <a:srgbClr val="9E2A2B"/>
                </a:solidFill>
                <a:latin typeface="Calibri" pitchFamily="34" charset="0"/>
                <a:ea typeface="Calibri" pitchFamily="34" charset="-122"/>
                <a:cs typeface="Calibri" pitchFamily="34" charset="-120"/>
              </a:rPr>
              <a:t>5</a:t>
            </a:r>
            <a:endParaRPr lang="en-US" sz="1250" dirty="0"/>
          </a:p>
        </p:txBody>
      </p:sp>
      <p:sp>
        <p:nvSpPr>
          <p:cNvPr id="21" name="Text 19"/>
          <p:cNvSpPr/>
          <p:nvPr/>
        </p:nvSpPr>
        <p:spPr>
          <a:xfrm>
            <a:off x="1280160" y="4590288"/>
            <a:ext cx="4480560" cy="438912"/>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Assistant grounded in live data</a:t>
            </a:r>
            <a:endParaRPr lang="en-US" sz="1400" dirty="0"/>
          </a:p>
        </p:txBody>
      </p:sp>
      <p:sp>
        <p:nvSpPr>
          <p:cNvPr id="22" name="Shape 20"/>
          <p:cNvSpPr/>
          <p:nvPr/>
        </p:nvSpPr>
        <p:spPr>
          <a:xfrm>
            <a:off x="713232" y="5285232"/>
            <a:ext cx="402336" cy="402336"/>
          </a:xfrm>
          <a:prstGeom prst="ellipse">
            <a:avLst/>
          </a:prstGeom>
          <a:solidFill>
            <a:srgbClr val="F3E4E4"/>
          </a:solidFill>
          <a:ln/>
        </p:spPr>
      </p:sp>
      <p:sp>
        <p:nvSpPr>
          <p:cNvPr id="23" name="Text 21"/>
          <p:cNvSpPr/>
          <p:nvPr/>
        </p:nvSpPr>
        <p:spPr>
          <a:xfrm>
            <a:off x="713232" y="5285232"/>
            <a:ext cx="402336" cy="402336"/>
          </a:xfrm>
          <a:prstGeom prst="rect">
            <a:avLst/>
          </a:prstGeom>
          <a:noFill/>
          <a:ln/>
        </p:spPr>
        <p:txBody>
          <a:bodyPr wrap="square" lIns="0" tIns="0" rIns="0" bIns="0" rtlCol="0" anchor="ctr"/>
          <a:lstStyle/>
          <a:p>
            <a:pPr algn="ctr" indent="0" marL="0">
              <a:buNone/>
            </a:pPr>
            <a:r>
              <a:rPr lang="en-US" sz="1250" b="1" dirty="0">
                <a:solidFill>
                  <a:srgbClr val="9E2A2B"/>
                </a:solidFill>
                <a:latin typeface="Calibri" pitchFamily="34" charset="0"/>
                <a:ea typeface="Calibri" pitchFamily="34" charset="-122"/>
                <a:cs typeface="Calibri" pitchFamily="34" charset="-120"/>
              </a:rPr>
              <a:t>6</a:t>
            </a:r>
            <a:endParaRPr lang="en-US" sz="1250" dirty="0"/>
          </a:p>
        </p:txBody>
      </p:sp>
      <p:sp>
        <p:nvSpPr>
          <p:cNvPr id="24" name="Text 22"/>
          <p:cNvSpPr/>
          <p:nvPr/>
        </p:nvSpPr>
        <p:spPr>
          <a:xfrm>
            <a:off x="1280160" y="5266944"/>
            <a:ext cx="4480560" cy="438912"/>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Analytics, notifications, attendance</a:t>
            </a:r>
            <a:endParaRPr lang="en-US" sz="1400" dirty="0"/>
          </a:p>
        </p:txBody>
      </p:sp>
      <p:sp>
        <p:nvSpPr>
          <p:cNvPr id="25" name="Text 23"/>
          <p:cNvSpPr/>
          <p:nvPr/>
        </p:nvSpPr>
        <p:spPr>
          <a:xfrm>
            <a:off x="713232" y="5943600"/>
            <a:ext cx="5029200" cy="548640"/>
          </a:xfrm>
          <a:prstGeom prst="rect">
            <a:avLst/>
          </a:prstGeom>
          <a:noFill/>
          <a:ln/>
        </p:spPr>
        <p:txBody>
          <a:bodyPr wrap="square" lIns="0" tIns="0" rIns="0" bIns="0" rtlCol="0" anchor="ctr"/>
          <a:lstStyle/>
          <a:p>
            <a:pPr indent="0" marL="0">
              <a:lnSpc>
                <a:spcPts val="1700"/>
              </a:lnSpc>
              <a:buNone/>
            </a:pPr>
            <a:r>
              <a:rPr lang="en-US" sz="1250" i="1" dirty="0">
                <a:solidFill>
                  <a:srgbClr val="6E7079"/>
                </a:solidFill>
                <a:latin typeface="Calibri" pitchFamily="34" charset="0"/>
                <a:ea typeface="Calibri" pitchFamily="34" charset="-122"/>
                <a:cs typeface="Calibri" pitchFamily="34" charset="-120"/>
              </a:rPr>
              <a:t>Each increment stands alone, so dropping a later one never leaves a broken system.</a:t>
            </a:r>
            <a:endParaRPr lang="en-US" sz="1250" dirty="0"/>
          </a:p>
        </p:txBody>
      </p:sp>
      <p:sp>
        <p:nvSpPr>
          <p:cNvPr id="26" name="Shape 24"/>
          <p:cNvSpPr/>
          <p:nvPr/>
        </p:nvSpPr>
        <p:spPr>
          <a:xfrm>
            <a:off x="6035040" y="1298448"/>
            <a:ext cx="5440680" cy="4754880"/>
          </a:xfrm>
          <a:prstGeom prst="roundRect">
            <a:avLst>
              <a:gd name="adj" fmla="val 1731"/>
            </a:avLst>
          </a:prstGeom>
          <a:solidFill>
            <a:srgbClr val="F4F5F7"/>
          </a:solidFill>
          <a:ln w="9525">
            <a:solidFill>
              <a:srgbClr val="E2E4E8"/>
            </a:solidFill>
            <a:prstDash val="solid"/>
          </a:ln>
        </p:spPr>
      </p:sp>
      <p:sp>
        <p:nvSpPr>
          <p:cNvPr id="27" name="Text 25"/>
          <p:cNvSpPr/>
          <p:nvPr/>
        </p:nvSpPr>
        <p:spPr>
          <a:xfrm>
            <a:off x="6309360" y="1481328"/>
            <a:ext cx="4937760" cy="329184"/>
          </a:xfrm>
          <a:prstGeom prst="rect">
            <a:avLst/>
          </a:prstGeom>
          <a:noFill/>
          <a:ln/>
        </p:spPr>
        <p:txBody>
          <a:bodyPr wrap="square" lIns="0" tIns="0" rIns="0" bIns="0" rtlCol="0" anchor="ctr"/>
          <a:lstStyle/>
          <a:p>
            <a:pPr indent="0" marL="0">
              <a:buNone/>
            </a:pPr>
            <a:r>
              <a:rPr lang="en-US" sz="1800" b="1" dirty="0">
                <a:solidFill>
                  <a:srgbClr val="9E2A2B"/>
                </a:solidFill>
                <a:latin typeface="Cambria" pitchFamily="34" charset="0"/>
                <a:ea typeface="Cambria" pitchFamily="34" charset="-122"/>
                <a:cs typeface="Cambria" pitchFamily="34" charset="-120"/>
              </a:rPr>
              <a:t>Three levels of testing</a:t>
            </a:r>
            <a:endParaRPr lang="en-US" sz="1800" dirty="0"/>
          </a:p>
        </p:txBody>
      </p:sp>
      <p:sp>
        <p:nvSpPr>
          <p:cNvPr id="28" name="Text 26"/>
          <p:cNvSpPr/>
          <p:nvPr/>
        </p:nvSpPr>
        <p:spPr>
          <a:xfrm>
            <a:off x="6309360" y="2048256"/>
            <a:ext cx="4937760" cy="274320"/>
          </a:xfrm>
          <a:prstGeom prst="rect">
            <a:avLst/>
          </a:prstGeom>
          <a:noFill/>
          <a:ln/>
        </p:spPr>
        <p:txBody>
          <a:bodyPr wrap="square" lIns="0" tIns="0" rIns="0" bIns="0" rtlCol="0" anchor="ctr"/>
          <a:lstStyle/>
          <a:p>
            <a:pPr indent="0" marL="0">
              <a:buNone/>
            </a:pPr>
            <a:r>
              <a:rPr lang="en-US" sz="1450" b="1" dirty="0">
                <a:solidFill>
                  <a:srgbClr val="6E1B1C"/>
                </a:solidFill>
                <a:latin typeface="Calibri" pitchFamily="34" charset="0"/>
                <a:ea typeface="Calibri" pitchFamily="34" charset="-122"/>
                <a:cs typeface="Calibri" pitchFamily="34" charset="-120"/>
              </a:rPr>
              <a:t>Unit and integration</a:t>
            </a:r>
            <a:endParaRPr lang="en-US" sz="1450" dirty="0"/>
          </a:p>
        </p:txBody>
      </p:sp>
      <p:sp>
        <p:nvSpPr>
          <p:cNvPr id="29" name="Text 27"/>
          <p:cNvSpPr/>
          <p:nvPr/>
        </p:nvSpPr>
        <p:spPr>
          <a:xfrm>
            <a:off x="6309360" y="2377440"/>
            <a:ext cx="4937760" cy="859536"/>
          </a:xfrm>
          <a:prstGeom prst="rect">
            <a:avLst/>
          </a:prstGeom>
          <a:noFill/>
          <a:ln/>
        </p:spPr>
        <p:txBody>
          <a:bodyPr wrap="square" lIns="0" tIns="0" rIns="0" bIns="0" rtlCol="0" anchor="ctr"/>
          <a:lstStyle/>
          <a:p>
            <a:pPr indent="0" marL="0">
              <a:lnSpc>
                <a:spcPts val="1800"/>
              </a:lnSpc>
              <a:buNone/>
            </a:pPr>
            <a:r>
              <a:rPr lang="en-US" sz="1300" dirty="0">
                <a:solidFill>
                  <a:srgbClr val="1F2430"/>
                </a:solidFill>
                <a:latin typeface="Calibri" pitchFamily="34" charset="0"/>
                <a:ea typeface="Calibri" pitchFamily="34" charset="-122"/>
                <a:cs typeface="Calibri" pitchFamily="34" charset="-120"/>
              </a:rPr>
              <a:t>Rules, slot generation, scoring, ranking. 15 automated tests passing</a:t>
            </a:r>
            <a:endParaRPr lang="en-US" sz="1300" dirty="0"/>
          </a:p>
        </p:txBody>
      </p:sp>
      <p:sp>
        <p:nvSpPr>
          <p:cNvPr id="30" name="Text 28"/>
          <p:cNvSpPr/>
          <p:nvPr/>
        </p:nvSpPr>
        <p:spPr>
          <a:xfrm>
            <a:off x="6309360" y="3364992"/>
            <a:ext cx="4937760" cy="274320"/>
          </a:xfrm>
          <a:prstGeom prst="rect">
            <a:avLst/>
          </a:prstGeom>
          <a:noFill/>
          <a:ln/>
        </p:spPr>
        <p:txBody>
          <a:bodyPr wrap="square" lIns="0" tIns="0" rIns="0" bIns="0" rtlCol="0" anchor="ctr"/>
          <a:lstStyle/>
          <a:p>
            <a:pPr indent="0" marL="0">
              <a:buNone/>
            </a:pPr>
            <a:r>
              <a:rPr lang="en-US" sz="1450" b="1" dirty="0">
                <a:solidFill>
                  <a:srgbClr val="6E1B1C"/>
                </a:solidFill>
                <a:latin typeface="Calibri" pitchFamily="34" charset="0"/>
                <a:ea typeface="Calibri" pitchFamily="34" charset="-122"/>
                <a:cs typeface="Calibri" pitchFamily="34" charset="-120"/>
              </a:rPr>
              <a:t>System</a:t>
            </a:r>
            <a:endParaRPr lang="en-US" sz="1450" dirty="0"/>
          </a:p>
        </p:txBody>
      </p:sp>
      <p:sp>
        <p:nvSpPr>
          <p:cNvPr id="31" name="Text 29"/>
          <p:cNvSpPr/>
          <p:nvPr/>
        </p:nvSpPr>
        <p:spPr>
          <a:xfrm>
            <a:off x="6309360" y="3694176"/>
            <a:ext cx="4937760" cy="859536"/>
          </a:xfrm>
          <a:prstGeom prst="rect">
            <a:avLst/>
          </a:prstGeom>
          <a:noFill/>
          <a:ln/>
        </p:spPr>
        <p:txBody>
          <a:bodyPr wrap="square" lIns="0" tIns="0" rIns="0" bIns="0" rtlCol="0" anchor="ctr"/>
          <a:lstStyle/>
          <a:p>
            <a:pPr indent="0" marL="0">
              <a:lnSpc>
                <a:spcPts val="1800"/>
              </a:lnSpc>
              <a:buNone/>
            </a:pPr>
            <a:r>
              <a:rPr lang="en-US" sz="1300" dirty="0">
                <a:solidFill>
                  <a:srgbClr val="1F2430"/>
                </a:solidFill>
                <a:latin typeface="Calibri" pitchFamily="34" charset="0"/>
                <a:ea typeface="Calibri" pitchFamily="34" charset="-122"/>
                <a:cs typeface="Calibri" pitchFamily="34" charset="-120"/>
              </a:rPr>
              <a:t>Two overlapping bookings submitted at the same instant; exactly one must succeed</a:t>
            </a:r>
            <a:endParaRPr lang="en-US" sz="1300" dirty="0"/>
          </a:p>
        </p:txBody>
      </p:sp>
      <p:sp>
        <p:nvSpPr>
          <p:cNvPr id="32" name="Text 30"/>
          <p:cNvSpPr/>
          <p:nvPr/>
        </p:nvSpPr>
        <p:spPr>
          <a:xfrm>
            <a:off x="6309360" y="4681728"/>
            <a:ext cx="4937760" cy="274320"/>
          </a:xfrm>
          <a:prstGeom prst="rect">
            <a:avLst/>
          </a:prstGeom>
          <a:noFill/>
          <a:ln/>
        </p:spPr>
        <p:txBody>
          <a:bodyPr wrap="square" lIns="0" tIns="0" rIns="0" bIns="0" rtlCol="0" anchor="ctr"/>
          <a:lstStyle/>
          <a:p>
            <a:pPr indent="0" marL="0">
              <a:buNone/>
            </a:pPr>
            <a:r>
              <a:rPr lang="en-US" sz="1450" b="1" dirty="0">
                <a:solidFill>
                  <a:srgbClr val="6E1B1C"/>
                </a:solidFill>
                <a:latin typeface="Calibri" pitchFamily="34" charset="0"/>
                <a:ea typeface="Calibri" pitchFamily="34" charset="-122"/>
                <a:cs typeface="Calibri" pitchFamily="34" charset="-120"/>
              </a:rPr>
              <a:t>User acceptance</a:t>
            </a:r>
            <a:endParaRPr lang="en-US" sz="1450" dirty="0"/>
          </a:p>
        </p:txBody>
      </p:sp>
      <p:sp>
        <p:nvSpPr>
          <p:cNvPr id="33" name="Text 31"/>
          <p:cNvSpPr/>
          <p:nvPr/>
        </p:nvSpPr>
        <p:spPr>
          <a:xfrm>
            <a:off x="6309360" y="5010912"/>
            <a:ext cx="4937760" cy="859536"/>
          </a:xfrm>
          <a:prstGeom prst="rect">
            <a:avLst/>
          </a:prstGeom>
          <a:noFill/>
          <a:ln/>
        </p:spPr>
        <p:txBody>
          <a:bodyPr wrap="square" lIns="0" tIns="0" rIns="0" bIns="0" rtlCol="0" anchor="ctr"/>
          <a:lstStyle/>
          <a:p>
            <a:pPr indent="0" marL="0">
              <a:lnSpc>
                <a:spcPts val="1800"/>
              </a:lnSpc>
              <a:buNone/>
            </a:pPr>
            <a:r>
              <a:rPr lang="en-US" sz="1300" dirty="0">
                <a:solidFill>
                  <a:srgbClr val="1F2430"/>
                </a:solidFill>
                <a:latin typeface="Calibri" pitchFamily="34" charset="0"/>
                <a:ea typeface="Calibri" pitchFamily="34" charset="-122"/>
                <a:cs typeface="Calibri" pitchFamily="34" charset="-120"/>
              </a:rPr>
              <a:t>Task time against the current process, acceptance rate, answer accuracy, usability above 68</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48640" cy="548640"/>
          </a:xfrm>
          <a:prstGeom prst="ellipse">
            <a:avLst/>
          </a:prstGeom>
          <a:solidFill>
            <a:srgbClr val="9E2A2B"/>
          </a:solidFill>
          <a:ln/>
        </p:spPr>
      </p:sp>
      <p:sp>
        <p:nvSpPr>
          <p:cNvPr id="3" name="Text 1"/>
          <p:cNvSpPr/>
          <p:nvPr/>
        </p:nvSpPr>
        <p:spPr>
          <a:xfrm>
            <a:off x="566928" y="384048"/>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10</a:t>
            </a:r>
            <a:endParaRPr lang="en-US" sz="1900" dirty="0"/>
          </a:p>
        </p:txBody>
      </p:sp>
      <p:sp>
        <p:nvSpPr>
          <p:cNvPr id="4" name="Text 2"/>
          <p:cNvSpPr/>
          <p:nvPr/>
        </p:nvSpPr>
        <p:spPr>
          <a:xfrm>
            <a:off x="1298448" y="329184"/>
            <a:ext cx="10241280" cy="256032"/>
          </a:xfrm>
          <a:prstGeom prst="rect">
            <a:avLst/>
          </a:prstGeom>
          <a:noFill/>
          <a:ln/>
        </p:spPr>
        <p:txBody>
          <a:bodyPr wrap="square" lIns="0" tIns="0" rIns="0" bIns="0" rtlCol="0" anchor="ctr"/>
          <a:lstStyle/>
          <a:p>
            <a:pPr indent="0" marL="0">
              <a:buNone/>
            </a:pPr>
            <a:r>
              <a:rPr lang="en-US" sz="1100" spc="200" kern="0" dirty="0">
                <a:solidFill>
                  <a:srgbClr val="9E2A2B"/>
                </a:solidFill>
                <a:latin typeface="Calibri" pitchFamily="34" charset="0"/>
                <a:ea typeface="Calibri" pitchFamily="34" charset="-122"/>
                <a:cs typeface="Calibri" pitchFamily="34" charset="-120"/>
              </a:rPr>
              <a:t>CONCEPT DESIGN</a:t>
            </a:r>
            <a:endParaRPr lang="en-US" sz="1100" dirty="0"/>
          </a:p>
        </p:txBody>
      </p:sp>
      <p:sp>
        <p:nvSpPr>
          <p:cNvPr id="5" name="Text 3"/>
          <p:cNvSpPr/>
          <p:nvPr/>
        </p:nvSpPr>
        <p:spPr>
          <a:xfrm>
            <a:off x="1298448" y="566928"/>
            <a:ext cx="10241280" cy="502920"/>
          </a:xfrm>
          <a:prstGeom prst="rect">
            <a:avLst/>
          </a:prstGeom>
          <a:noFill/>
          <a:ln/>
        </p:spPr>
        <p:txBody>
          <a:bodyPr wrap="square" lIns="0" tIns="0" rIns="0" bIns="0" rtlCol="0" anchor="ctr"/>
          <a:lstStyle/>
          <a:p>
            <a:pPr indent="0" marL="0">
              <a:buNone/>
            </a:pPr>
            <a:r>
              <a:rPr lang="en-US" sz="2900" b="1" dirty="0">
                <a:solidFill>
                  <a:srgbClr val="1F2430"/>
                </a:solidFill>
                <a:latin typeface="Cambria" pitchFamily="34" charset="0"/>
                <a:ea typeface="Cambria" pitchFamily="34" charset="-122"/>
                <a:cs typeface="Cambria" pitchFamily="34" charset="-120"/>
              </a:rPr>
              <a:t>Rule model: policy held as data</a:t>
            </a:r>
            <a:endParaRPr lang="en-US" sz="2900" dirty="0"/>
          </a:p>
        </p:txBody>
      </p:sp>
      <p:sp>
        <p:nvSpPr>
          <p:cNvPr id="6" name="Text 4"/>
          <p:cNvSpPr/>
          <p:nvPr/>
        </p:nvSpPr>
        <p:spPr>
          <a:xfrm>
            <a:off x="685800" y="1335024"/>
            <a:ext cx="10789920" cy="548640"/>
          </a:xfrm>
          <a:prstGeom prst="rect">
            <a:avLst/>
          </a:prstGeom>
          <a:noFill/>
          <a:ln/>
        </p:spPr>
        <p:txBody>
          <a:bodyPr wrap="square" lIns="0" tIns="0" rIns="0" bIns="0" rtlCol="0" anchor="t"/>
          <a:lstStyle/>
          <a:p>
            <a:pPr indent="0" marL="0">
              <a:lnSpc>
                <a:spcPts val="2103"/>
              </a:lnSpc>
              <a:buNone/>
            </a:pPr>
            <a:r>
              <a:rPr lang="en-US" sz="1450" dirty="0">
                <a:solidFill>
                  <a:srgbClr val="1F2430"/>
                </a:solidFill>
                <a:latin typeface="Calibri" pitchFamily="34" charset="0"/>
                <a:ea typeface="Calibri" pitchFamily="34" charset="-122"/>
                <a:cs typeface="Calibri" pitchFamily="34" charset="-120"/>
              </a:rPr>
              <a:t>The principal contribution. Booking policy is stored as configuration and changed through a form, not written into the program.</a:t>
            </a:r>
            <a:endParaRPr lang="en-US" sz="1450" dirty="0"/>
          </a:p>
        </p:txBody>
      </p:sp>
      <p:sp>
        <p:nvSpPr>
          <p:cNvPr id="7" name="Shape 5"/>
          <p:cNvSpPr/>
          <p:nvPr/>
        </p:nvSpPr>
        <p:spPr>
          <a:xfrm>
            <a:off x="685800" y="1965960"/>
            <a:ext cx="3493008" cy="2560320"/>
          </a:xfrm>
          <a:prstGeom prst="roundRect">
            <a:avLst>
              <a:gd name="adj" fmla="val 3214"/>
            </a:avLst>
          </a:prstGeom>
          <a:solidFill>
            <a:srgbClr val="F3E4E4"/>
          </a:solidFill>
          <a:ln w="9525">
            <a:solidFill>
              <a:srgbClr val="E2E4E8"/>
            </a:solidFill>
            <a:prstDash val="solid"/>
          </a:ln>
        </p:spPr>
      </p:sp>
      <p:sp>
        <p:nvSpPr>
          <p:cNvPr id="8" name="Text 6"/>
          <p:cNvSpPr/>
          <p:nvPr/>
        </p:nvSpPr>
        <p:spPr>
          <a:xfrm>
            <a:off x="923544" y="2139696"/>
            <a:ext cx="3017520" cy="274320"/>
          </a:xfrm>
          <a:prstGeom prst="rect">
            <a:avLst/>
          </a:prstGeom>
          <a:noFill/>
          <a:ln/>
        </p:spPr>
        <p:txBody>
          <a:bodyPr wrap="square" lIns="0" tIns="0" rIns="0" bIns="0" rtlCol="0" anchor="ctr"/>
          <a:lstStyle/>
          <a:p>
            <a:pPr indent="0" marL="0">
              <a:buNone/>
            </a:pPr>
            <a:r>
              <a:rPr lang="en-US" sz="1100" b="1" spc="150" kern="0" dirty="0">
                <a:solidFill>
                  <a:srgbClr val="9E2A2B"/>
                </a:solidFill>
                <a:latin typeface="Calibri" pitchFamily="34" charset="0"/>
                <a:ea typeface="Calibri" pitchFamily="34" charset="-122"/>
                <a:cs typeface="Calibri" pitchFamily="34" charset="-120"/>
              </a:rPr>
              <a:t>FACILITY CATEGORY</a:t>
            </a:r>
            <a:endParaRPr lang="en-US" sz="1100" dirty="0"/>
          </a:p>
        </p:txBody>
      </p:sp>
      <p:sp>
        <p:nvSpPr>
          <p:cNvPr id="9" name="Text 7"/>
          <p:cNvSpPr/>
          <p:nvPr/>
        </p:nvSpPr>
        <p:spPr>
          <a:xfrm>
            <a:off x="923544" y="2432304"/>
            <a:ext cx="3017520" cy="310896"/>
          </a:xfrm>
          <a:prstGeom prst="rect">
            <a:avLst/>
          </a:prstGeom>
          <a:noFill/>
          <a:ln/>
        </p:spPr>
        <p:txBody>
          <a:bodyPr wrap="square" lIns="0" tIns="0" rIns="0" bIns="0" rtlCol="0" anchor="ctr"/>
          <a:lstStyle/>
          <a:p>
            <a:pPr indent="0" marL="0">
              <a:buNone/>
            </a:pPr>
            <a:r>
              <a:rPr lang="en-US" sz="1450" b="1" dirty="0">
                <a:solidFill>
                  <a:srgbClr val="1F2430"/>
                </a:solidFill>
                <a:latin typeface="Calibri" pitchFamily="34" charset="0"/>
                <a:ea typeface="Calibri" pitchFamily="34" charset="-122"/>
                <a:cs typeface="Calibri" pitchFamily="34" charset="-120"/>
              </a:rPr>
              <a:t>Badminton, Discussion Room</a:t>
            </a:r>
            <a:endParaRPr lang="en-US" sz="1450" dirty="0"/>
          </a:p>
        </p:txBody>
      </p:sp>
      <p:sp>
        <p:nvSpPr>
          <p:cNvPr id="10" name="Text 8"/>
          <p:cNvSpPr/>
          <p:nvPr/>
        </p:nvSpPr>
        <p:spPr>
          <a:xfrm>
            <a:off x="923544" y="2798064"/>
            <a:ext cx="3054096" cy="1609344"/>
          </a:xfrm>
          <a:prstGeom prst="rect">
            <a:avLst/>
          </a:prstGeom>
          <a:noFill/>
          <a:ln/>
        </p:spPr>
        <p:txBody>
          <a:bodyPr wrap="square" lIns="0" tIns="0" rIns="0" bIns="0" rtlCol="0" anchor="t"/>
          <a:lstStyle/>
          <a:p>
            <a:pPr indent="0" marL="0">
              <a:lnSpc>
                <a:spcPts val="1700"/>
              </a:lnSpc>
              <a:buNone/>
            </a:pPr>
            <a:r>
              <a:rPr lang="en-US" sz="1250" dirty="0">
                <a:solidFill>
                  <a:srgbClr val="1F2430"/>
                </a:solidFill>
                <a:latin typeface="Calibri" pitchFamily="34" charset="0"/>
                <a:ea typeface="Calibri" pitchFamily="34" charset="-122"/>
                <a:cs typeface="Calibri" pitchFamily="34" charset="-120"/>
              </a:rPr>
              <a:t>Holds the venue and all six rules: opening and</a:t>
            </a:r>
            <a:endParaRPr lang="en-US" sz="1250" dirty="0"/>
          </a:p>
          <a:p>
            <a:pPr indent="0" marL="0">
              <a:lnSpc>
                <a:spcPts val="1700"/>
              </a:lnSpc>
              <a:buNone/>
            </a:pPr>
            <a:r>
              <a:rPr lang="en-US" sz="1250" dirty="0">
                <a:solidFill>
                  <a:srgbClr val="1F2430"/>
                </a:solidFill>
                <a:latin typeface="Calibri" pitchFamily="34" charset="0"/>
                <a:ea typeface="Calibri" pitchFamily="34" charset="-122"/>
                <a:cs typeface="Calibri" pitchFamily="34" charset="-120"/>
              </a:rPr>
              <a:t>closing time, minimum and maximum duration,</a:t>
            </a:r>
            <a:endParaRPr lang="en-US" sz="1250" dirty="0"/>
          </a:p>
          <a:p>
            <a:pPr indent="0" marL="0">
              <a:lnSpc>
                <a:spcPts val="1700"/>
              </a:lnSpc>
              <a:buNone/>
            </a:pPr>
            <a:r>
              <a:rPr lang="en-US" sz="1250" dirty="0">
                <a:solidFill>
                  <a:srgbClr val="1F2430"/>
                </a:solidFill>
                <a:latin typeface="Calibri" pitchFamily="34" charset="0"/>
                <a:ea typeface="Calibri" pitchFamily="34" charset="-122"/>
                <a:cs typeface="Calibri" pitchFamily="34" charset="-120"/>
              </a:rPr>
              <a:t>advance window, cancellation notice</a:t>
            </a:r>
            <a:endParaRPr lang="en-US" sz="1250" dirty="0"/>
          </a:p>
        </p:txBody>
      </p:sp>
      <p:sp>
        <p:nvSpPr>
          <p:cNvPr id="11" name="Text 9"/>
          <p:cNvSpPr/>
          <p:nvPr/>
        </p:nvSpPr>
        <p:spPr>
          <a:xfrm>
            <a:off x="4160520" y="3035808"/>
            <a:ext cx="402336" cy="402336"/>
          </a:xfrm>
          <a:prstGeom prst="rect">
            <a:avLst/>
          </a:prstGeom>
          <a:noFill/>
          <a:ln/>
        </p:spPr>
        <p:txBody>
          <a:bodyPr wrap="square" lIns="0" tIns="0" rIns="0" bIns="0" rtlCol="0" anchor="ctr"/>
          <a:lstStyle/>
          <a:p>
            <a:pPr algn="ctr" indent="0" marL="0">
              <a:buNone/>
            </a:pPr>
            <a:r>
              <a:rPr lang="en-US" sz="1600" dirty="0">
                <a:solidFill>
                  <a:srgbClr val="9E2A2B"/>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4361688" y="1965960"/>
            <a:ext cx="3493008" cy="2560320"/>
          </a:xfrm>
          <a:prstGeom prst="roundRect">
            <a:avLst>
              <a:gd name="adj" fmla="val 3214"/>
            </a:avLst>
          </a:prstGeom>
          <a:solidFill>
            <a:srgbClr val="F4F5F7"/>
          </a:solidFill>
          <a:ln w="9525">
            <a:solidFill>
              <a:srgbClr val="E2E4E8"/>
            </a:solidFill>
            <a:prstDash val="solid"/>
          </a:ln>
        </p:spPr>
      </p:sp>
      <p:sp>
        <p:nvSpPr>
          <p:cNvPr id="13" name="Text 11"/>
          <p:cNvSpPr/>
          <p:nvPr/>
        </p:nvSpPr>
        <p:spPr>
          <a:xfrm>
            <a:off x="4599432" y="2139696"/>
            <a:ext cx="3017520" cy="274320"/>
          </a:xfrm>
          <a:prstGeom prst="rect">
            <a:avLst/>
          </a:prstGeom>
          <a:noFill/>
          <a:ln/>
        </p:spPr>
        <p:txBody>
          <a:bodyPr wrap="square" lIns="0" tIns="0" rIns="0" bIns="0" rtlCol="0" anchor="ctr"/>
          <a:lstStyle/>
          <a:p>
            <a:pPr indent="0" marL="0">
              <a:buNone/>
            </a:pPr>
            <a:r>
              <a:rPr lang="en-US" sz="1100" b="1" spc="150" kern="0" dirty="0">
                <a:solidFill>
                  <a:srgbClr val="9E2A2B"/>
                </a:solidFill>
                <a:latin typeface="Calibri" pitchFamily="34" charset="0"/>
                <a:ea typeface="Calibri" pitchFamily="34" charset="-122"/>
                <a:cs typeface="Calibri" pitchFamily="34" charset="-120"/>
              </a:rPr>
              <a:t>FACILITIES</a:t>
            </a:r>
            <a:endParaRPr lang="en-US" sz="1100" dirty="0"/>
          </a:p>
        </p:txBody>
      </p:sp>
      <p:sp>
        <p:nvSpPr>
          <p:cNvPr id="14" name="Text 12"/>
          <p:cNvSpPr/>
          <p:nvPr/>
        </p:nvSpPr>
        <p:spPr>
          <a:xfrm>
            <a:off x="4599432" y="2432304"/>
            <a:ext cx="3017520" cy="310896"/>
          </a:xfrm>
          <a:prstGeom prst="rect">
            <a:avLst/>
          </a:prstGeom>
          <a:noFill/>
          <a:ln/>
        </p:spPr>
        <p:txBody>
          <a:bodyPr wrap="square" lIns="0" tIns="0" rIns="0" bIns="0" rtlCol="0" anchor="ctr"/>
          <a:lstStyle/>
          <a:p>
            <a:pPr indent="0" marL="0">
              <a:buNone/>
            </a:pPr>
            <a:r>
              <a:rPr lang="en-US" sz="1450" b="1" dirty="0">
                <a:solidFill>
                  <a:srgbClr val="1F2430"/>
                </a:solidFill>
                <a:latin typeface="Calibri" pitchFamily="34" charset="0"/>
                <a:ea typeface="Calibri" pitchFamily="34" charset="-122"/>
                <a:cs typeface="Calibri" pitchFamily="34" charset="-120"/>
              </a:rPr>
              <a:t>Court 1, Court 2, Room A</a:t>
            </a:r>
            <a:endParaRPr lang="en-US" sz="1450" dirty="0"/>
          </a:p>
        </p:txBody>
      </p:sp>
      <p:sp>
        <p:nvSpPr>
          <p:cNvPr id="15" name="Text 13"/>
          <p:cNvSpPr/>
          <p:nvPr/>
        </p:nvSpPr>
        <p:spPr>
          <a:xfrm>
            <a:off x="4599432" y="2798064"/>
            <a:ext cx="3054096" cy="1609344"/>
          </a:xfrm>
          <a:prstGeom prst="rect">
            <a:avLst/>
          </a:prstGeom>
          <a:noFill/>
          <a:ln/>
        </p:spPr>
        <p:txBody>
          <a:bodyPr wrap="square" lIns="0" tIns="0" rIns="0" bIns="0" rtlCol="0" anchor="t"/>
          <a:lstStyle/>
          <a:p>
            <a:pPr indent="0" marL="0">
              <a:lnSpc>
                <a:spcPts val="1700"/>
              </a:lnSpc>
              <a:buNone/>
            </a:pPr>
            <a:r>
              <a:rPr lang="en-US" sz="1250" dirty="0">
                <a:solidFill>
                  <a:srgbClr val="1F2430"/>
                </a:solidFill>
                <a:latin typeface="Calibri" pitchFamily="34" charset="0"/>
                <a:ea typeface="Calibri" pitchFamily="34" charset="-122"/>
                <a:cs typeface="Calibri" pitchFamily="34" charset="-120"/>
              </a:rPr>
              <a:t>Store only what differs — name, capacity, status.</a:t>
            </a:r>
            <a:endParaRPr lang="en-US" sz="1250" dirty="0"/>
          </a:p>
          <a:p>
            <a:pPr indent="0" marL="0">
              <a:lnSpc>
                <a:spcPts val="1700"/>
              </a:lnSpc>
              <a:buNone/>
            </a:pPr>
            <a:r>
              <a:rPr lang="en-US" sz="1250" dirty="0">
                <a:solidFill>
                  <a:srgbClr val="1F2430"/>
                </a:solidFill>
                <a:latin typeface="Calibri" pitchFamily="34" charset="0"/>
                <a:ea typeface="Calibri" pitchFamily="34" charset="-122"/>
                <a:cs typeface="Calibri" pitchFamily="34" charset="-120"/>
              </a:rPr>
              <a:t>Everything else is inherited from the category</a:t>
            </a:r>
            <a:endParaRPr lang="en-US" sz="1250" dirty="0"/>
          </a:p>
        </p:txBody>
      </p:sp>
      <p:sp>
        <p:nvSpPr>
          <p:cNvPr id="16" name="Text 14"/>
          <p:cNvSpPr/>
          <p:nvPr/>
        </p:nvSpPr>
        <p:spPr>
          <a:xfrm>
            <a:off x="7836408" y="3035808"/>
            <a:ext cx="402336" cy="402336"/>
          </a:xfrm>
          <a:prstGeom prst="rect">
            <a:avLst/>
          </a:prstGeom>
          <a:noFill/>
          <a:ln/>
        </p:spPr>
        <p:txBody>
          <a:bodyPr wrap="square" lIns="0" tIns="0" rIns="0" bIns="0" rtlCol="0" anchor="ctr"/>
          <a:lstStyle/>
          <a:p>
            <a:pPr algn="ctr" indent="0" marL="0">
              <a:buNone/>
            </a:pPr>
            <a:r>
              <a:rPr lang="en-US" sz="1600" dirty="0">
                <a:solidFill>
                  <a:srgbClr val="9E2A2B"/>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8037576" y="1965960"/>
            <a:ext cx="3493008" cy="2560320"/>
          </a:xfrm>
          <a:prstGeom prst="roundRect">
            <a:avLst>
              <a:gd name="adj" fmla="val 3214"/>
            </a:avLst>
          </a:prstGeom>
          <a:solidFill>
            <a:srgbClr val="F4F5F7"/>
          </a:solidFill>
          <a:ln w="9525">
            <a:solidFill>
              <a:srgbClr val="E2E4E8"/>
            </a:solidFill>
            <a:prstDash val="solid"/>
          </a:ln>
        </p:spPr>
      </p:sp>
      <p:sp>
        <p:nvSpPr>
          <p:cNvPr id="18" name="Text 16"/>
          <p:cNvSpPr/>
          <p:nvPr/>
        </p:nvSpPr>
        <p:spPr>
          <a:xfrm>
            <a:off x="8275320" y="2139696"/>
            <a:ext cx="3017520" cy="274320"/>
          </a:xfrm>
          <a:prstGeom prst="rect">
            <a:avLst/>
          </a:prstGeom>
          <a:noFill/>
          <a:ln/>
        </p:spPr>
        <p:txBody>
          <a:bodyPr wrap="square" lIns="0" tIns="0" rIns="0" bIns="0" rtlCol="0" anchor="ctr"/>
          <a:lstStyle/>
          <a:p>
            <a:pPr indent="0" marL="0">
              <a:buNone/>
            </a:pPr>
            <a:r>
              <a:rPr lang="en-US" sz="1100" b="1" spc="150" kern="0" dirty="0">
                <a:solidFill>
                  <a:srgbClr val="9E2A2B"/>
                </a:solidFill>
                <a:latin typeface="Calibri" pitchFamily="34" charset="0"/>
                <a:ea typeface="Calibri" pitchFamily="34" charset="-122"/>
                <a:cs typeface="Calibri" pitchFamily="34" charset="-120"/>
              </a:rPr>
              <a:t>RULE OVERRIDE</a:t>
            </a:r>
            <a:endParaRPr lang="en-US" sz="1100" dirty="0"/>
          </a:p>
        </p:txBody>
      </p:sp>
      <p:sp>
        <p:nvSpPr>
          <p:cNvPr id="19" name="Text 17"/>
          <p:cNvSpPr/>
          <p:nvPr/>
        </p:nvSpPr>
        <p:spPr>
          <a:xfrm>
            <a:off x="8275320" y="2432304"/>
            <a:ext cx="3017520" cy="310896"/>
          </a:xfrm>
          <a:prstGeom prst="rect">
            <a:avLst/>
          </a:prstGeom>
          <a:noFill/>
          <a:ln/>
        </p:spPr>
        <p:txBody>
          <a:bodyPr wrap="square" lIns="0" tIns="0" rIns="0" bIns="0" rtlCol="0" anchor="ctr"/>
          <a:lstStyle/>
          <a:p>
            <a:pPr indent="0" marL="0">
              <a:buNone/>
            </a:pPr>
            <a:r>
              <a:rPr lang="en-US" sz="1450" b="1" dirty="0">
                <a:solidFill>
                  <a:srgbClr val="1F2430"/>
                </a:solidFill>
                <a:latin typeface="Calibri" pitchFamily="34" charset="0"/>
                <a:ea typeface="Calibri" pitchFamily="34" charset="-122"/>
                <a:cs typeface="Calibri" pitchFamily="34" charset="-120"/>
              </a:rPr>
              <a:t>Optional, per facility</a:t>
            </a:r>
            <a:endParaRPr lang="en-US" sz="1450" dirty="0"/>
          </a:p>
        </p:txBody>
      </p:sp>
      <p:sp>
        <p:nvSpPr>
          <p:cNvPr id="20" name="Text 18"/>
          <p:cNvSpPr/>
          <p:nvPr/>
        </p:nvSpPr>
        <p:spPr>
          <a:xfrm>
            <a:off x="8275320" y="2798064"/>
            <a:ext cx="3054096" cy="1609344"/>
          </a:xfrm>
          <a:prstGeom prst="rect">
            <a:avLst/>
          </a:prstGeom>
          <a:noFill/>
          <a:ln/>
        </p:spPr>
        <p:txBody>
          <a:bodyPr wrap="square" lIns="0" tIns="0" rIns="0" bIns="0" rtlCol="0" anchor="t"/>
          <a:lstStyle/>
          <a:p>
            <a:pPr indent="0" marL="0">
              <a:lnSpc>
                <a:spcPts val="1700"/>
              </a:lnSpc>
              <a:buNone/>
            </a:pPr>
            <a:r>
              <a:rPr lang="en-US" sz="1250" dirty="0">
                <a:solidFill>
                  <a:srgbClr val="1F2430"/>
                </a:solidFill>
                <a:latin typeface="Calibri" pitchFamily="34" charset="0"/>
                <a:ea typeface="Calibri" pitchFamily="34" charset="-122"/>
                <a:cs typeface="Calibri" pitchFamily="34" charset="-120"/>
              </a:rPr>
              <a:t>A single value may be overridden on one facility.</a:t>
            </a:r>
            <a:endParaRPr lang="en-US" sz="1250" dirty="0"/>
          </a:p>
          <a:p>
            <a:pPr indent="0" marL="0">
              <a:lnSpc>
                <a:spcPts val="1700"/>
              </a:lnSpc>
              <a:buNone/>
            </a:pPr>
            <a:r>
              <a:rPr lang="en-US" sz="1250" dirty="0">
                <a:solidFill>
                  <a:srgbClr val="1F2430"/>
                </a:solidFill>
                <a:latin typeface="Calibri" pitchFamily="34" charset="0"/>
                <a:ea typeface="Calibri" pitchFamily="34" charset="-122"/>
                <a:cs typeface="Calibri" pitchFamily="34" charset="-120"/>
              </a:rPr>
              <a:t>Anything left blank still follows the category</a:t>
            </a:r>
            <a:endParaRPr lang="en-US" sz="1250" dirty="0"/>
          </a:p>
        </p:txBody>
      </p:sp>
      <p:sp>
        <p:nvSpPr>
          <p:cNvPr id="21" name="Shape 19"/>
          <p:cNvSpPr/>
          <p:nvPr/>
        </p:nvSpPr>
        <p:spPr>
          <a:xfrm>
            <a:off x="685800" y="4709160"/>
            <a:ext cx="10789920" cy="1371600"/>
          </a:xfrm>
          <a:prstGeom prst="roundRect">
            <a:avLst>
              <a:gd name="adj" fmla="val 6000"/>
            </a:avLst>
          </a:prstGeom>
          <a:solidFill>
            <a:srgbClr val="F3E4E4"/>
          </a:solidFill>
          <a:ln w="9525">
            <a:solidFill>
              <a:srgbClr val="E2E4E8"/>
            </a:solidFill>
            <a:prstDash val="solid"/>
          </a:ln>
        </p:spPr>
      </p:sp>
      <p:sp>
        <p:nvSpPr>
          <p:cNvPr id="22" name="Text 20"/>
          <p:cNvSpPr/>
          <p:nvPr/>
        </p:nvSpPr>
        <p:spPr>
          <a:xfrm>
            <a:off x="960120" y="4864608"/>
            <a:ext cx="10241280" cy="274320"/>
          </a:xfrm>
          <a:prstGeom prst="rect">
            <a:avLst/>
          </a:prstGeom>
          <a:noFill/>
          <a:ln/>
        </p:spPr>
        <p:txBody>
          <a:bodyPr wrap="square" lIns="0" tIns="0" rIns="0" bIns="0" rtlCol="0" anchor="ctr"/>
          <a:lstStyle/>
          <a:p>
            <a:pPr indent="0" marL="0">
              <a:buNone/>
            </a:pPr>
            <a:r>
              <a:rPr lang="en-US" sz="1350" b="1" dirty="0">
                <a:solidFill>
                  <a:srgbClr val="6E1B1C"/>
                </a:solidFill>
                <a:latin typeface="Calibri" pitchFamily="34" charset="0"/>
                <a:ea typeface="Calibri" pitchFamily="34" charset="-122"/>
                <a:cs typeface="Calibri" pitchFamily="34" charset="-120"/>
              </a:rPr>
              <a:t>Implication</a:t>
            </a:r>
            <a:endParaRPr lang="en-US" sz="1350" dirty="0"/>
          </a:p>
        </p:txBody>
      </p:sp>
      <p:sp>
        <p:nvSpPr>
          <p:cNvPr id="23" name="Text 21"/>
          <p:cNvSpPr/>
          <p:nvPr/>
        </p:nvSpPr>
        <p:spPr>
          <a:xfrm>
            <a:off x="960120" y="5157216"/>
            <a:ext cx="10241280" cy="822960"/>
          </a:xfrm>
          <a:prstGeom prst="rect">
            <a:avLst/>
          </a:prstGeom>
          <a:noFill/>
          <a:ln/>
        </p:spPr>
        <p:txBody>
          <a:bodyPr wrap="square" lIns="0" tIns="0" rIns="0" bIns="0" rtlCol="0" anchor="ctr"/>
          <a:lstStyle/>
          <a:p>
            <a:pPr indent="0" marL="0">
              <a:lnSpc>
                <a:spcPts val="1900"/>
              </a:lnSpc>
              <a:buNone/>
            </a:pPr>
            <a:r>
              <a:rPr lang="en-US" sz="1400" dirty="0">
                <a:solidFill>
                  <a:srgbClr val="1F2430"/>
                </a:solidFill>
                <a:latin typeface="Calibri" pitchFamily="34" charset="0"/>
                <a:ea typeface="Calibri" pitchFamily="34" charset="-122"/>
                <a:cs typeface="Calibri" pitchFamily="34" charset="-120"/>
              </a:rPr>
              <a:t>An administrator can add an entirely new category — a swimming pool, a recording studio — with its own rules and no code change. The software is therefore not written for one campus: any institution deploys the same build and configures its own policy.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48640" cy="548640"/>
          </a:xfrm>
          <a:prstGeom prst="ellipse">
            <a:avLst/>
          </a:prstGeom>
          <a:solidFill>
            <a:srgbClr val="9E2A2B"/>
          </a:solidFill>
          <a:ln/>
        </p:spPr>
      </p:sp>
      <p:sp>
        <p:nvSpPr>
          <p:cNvPr id="3" name="Text 1"/>
          <p:cNvSpPr/>
          <p:nvPr/>
        </p:nvSpPr>
        <p:spPr>
          <a:xfrm>
            <a:off x="566928" y="384048"/>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11</a:t>
            </a:r>
            <a:endParaRPr lang="en-US" sz="1900" dirty="0"/>
          </a:p>
        </p:txBody>
      </p:sp>
      <p:sp>
        <p:nvSpPr>
          <p:cNvPr id="4" name="Text 2"/>
          <p:cNvSpPr/>
          <p:nvPr/>
        </p:nvSpPr>
        <p:spPr>
          <a:xfrm>
            <a:off x="1298448" y="329184"/>
            <a:ext cx="10241280" cy="256032"/>
          </a:xfrm>
          <a:prstGeom prst="rect">
            <a:avLst/>
          </a:prstGeom>
          <a:noFill/>
          <a:ln/>
        </p:spPr>
        <p:txBody>
          <a:bodyPr wrap="square" lIns="0" tIns="0" rIns="0" bIns="0" rtlCol="0" anchor="ctr"/>
          <a:lstStyle/>
          <a:p>
            <a:pPr indent="0" marL="0">
              <a:buNone/>
            </a:pPr>
            <a:r>
              <a:rPr lang="en-US" sz="1100" spc="200" kern="0" dirty="0">
                <a:solidFill>
                  <a:srgbClr val="9E2A2B"/>
                </a:solidFill>
                <a:latin typeface="Calibri" pitchFamily="34" charset="0"/>
                <a:ea typeface="Calibri" pitchFamily="34" charset="-122"/>
                <a:cs typeface="Calibri" pitchFamily="34" charset="-120"/>
              </a:rPr>
              <a:t>CONCEPT DESIGN</a:t>
            </a:r>
            <a:endParaRPr lang="en-US" sz="1100" dirty="0"/>
          </a:p>
        </p:txBody>
      </p:sp>
      <p:sp>
        <p:nvSpPr>
          <p:cNvPr id="5" name="Text 3"/>
          <p:cNvSpPr/>
          <p:nvPr/>
        </p:nvSpPr>
        <p:spPr>
          <a:xfrm>
            <a:off x="1298448" y="566928"/>
            <a:ext cx="10241280" cy="502920"/>
          </a:xfrm>
          <a:prstGeom prst="rect">
            <a:avLst/>
          </a:prstGeom>
          <a:noFill/>
          <a:ln/>
        </p:spPr>
        <p:txBody>
          <a:bodyPr wrap="square" lIns="0" tIns="0" rIns="0" bIns="0" rtlCol="0" anchor="ctr"/>
          <a:lstStyle/>
          <a:p>
            <a:pPr indent="0" marL="0">
              <a:buNone/>
            </a:pPr>
            <a:r>
              <a:rPr lang="en-US" sz="2900" b="1" dirty="0">
                <a:solidFill>
                  <a:srgbClr val="1F2430"/>
                </a:solidFill>
                <a:latin typeface="Cambria" pitchFamily="34" charset="0"/>
                <a:ea typeface="Cambria" pitchFamily="34" charset="-122"/>
                <a:cs typeface="Cambria" pitchFamily="34" charset="-120"/>
              </a:rPr>
              <a:t>Database design and the conflict guarantee</a:t>
            </a:r>
            <a:endParaRPr lang="en-US" sz="2900" dirty="0"/>
          </a:p>
        </p:txBody>
      </p:sp>
      <p:pic>
        <p:nvPicPr>
          <p:cNvPr id="6" name="Image 0" descr="/sessions/magical-laughing-mayer/mnt/smart-campus-reservation/report/figs/fig_erd.png">    </p:cNvPr>
          <p:cNvPicPr>
            <a:picLocks noChangeAspect="1"/>
          </p:cNvPicPr>
          <p:nvPr/>
        </p:nvPicPr>
        <p:blipFill>
          <a:blip r:embed="rId1"/>
          <a:stretch>
            <a:fillRect/>
          </a:stretch>
        </p:blipFill>
        <p:spPr>
          <a:xfrm>
            <a:off x="685800" y="1225296"/>
            <a:ext cx="5349240" cy="4562856"/>
          </a:xfrm>
          <a:prstGeom prst="rect">
            <a:avLst/>
          </a:prstGeom>
        </p:spPr>
      </p:pic>
      <p:sp>
        <p:nvSpPr>
          <p:cNvPr id="7" name="Text 4"/>
          <p:cNvSpPr/>
          <p:nvPr/>
        </p:nvSpPr>
        <p:spPr>
          <a:xfrm>
            <a:off x="685800" y="5833872"/>
            <a:ext cx="5349240" cy="274320"/>
          </a:xfrm>
          <a:prstGeom prst="rect">
            <a:avLst/>
          </a:prstGeom>
          <a:noFill/>
          <a:ln/>
        </p:spPr>
        <p:txBody>
          <a:bodyPr wrap="square" lIns="0" tIns="0" rIns="0" bIns="0" rtlCol="0" anchor="ctr"/>
          <a:lstStyle/>
          <a:p>
            <a:pPr indent="0" marL="0">
              <a:buNone/>
            </a:pPr>
            <a:r>
              <a:rPr lang="en-US" sz="1150" i="1" dirty="0">
                <a:solidFill>
                  <a:srgbClr val="6E7079"/>
                </a:solidFill>
                <a:latin typeface="Calibri" pitchFamily="34" charset="0"/>
                <a:ea typeface="Calibri" pitchFamily="34" charset="-122"/>
                <a:cs typeface="Calibri" pitchFamily="34" charset="-120"/>
              </a:rPr>
              <a:t>Figure 3.3 — twelve tables in four groups</a:t>
            </a:r>
            <a:endParaRPr lang="en-US" sz="1150" dirty="0"/>
          </a:p>
        </p:txBody>
      </p:sp>
      <p:sp>
        <p:nvSpPr>
          <p:cNvPr id="8" name="Shape 5"/>
          <p:cNvSpPr/>
          <p:nvPr/>
        </p:nvSpPr>
        <p:spPr>
          <a:xfrm>
            <a:off x="6355080" y="1225296"/>
            <a:ext cx="5120640" cy="2148840"/>
          </a:xfrm>
          <a:prstGeom prst="roundRect">
            <a:avLst>
              <a:gd name="adj" fmla="val 3830"/>
            </a:avLst>
          </a:prstGeom>
          <a:solidFill>
            <a:srgbClr val="F3E4E4"/>
          </a:solidFill>
          <a:ln w="9525">
            <a:solidFill>
              <a:srgbClr val="E2E4E8"/>
            </a:solidFill>
            <a:prstDash val="solid"/>
          </a:ln>
        </p:spPr>
      </p:sp>
      <p:sp>
        <p:nvSpPr>
          <p:cNvPr id="9" name="Text 6"/>
          <p:cNvSpPr/>
          <p:nvPr/>
        </p:nvSpPr>
        <p:spPr>
          <a:xfrm>
            <a:off x="6583680" y="1371600"/>
            <a:ext cx="4663440" cy="548640"/>
          </a:xfrm>
          <a:prstGeom prst="rect">
            <a:avLst/>
          </a:prstGeom>
          <a:noFill/>
          <a:ln/>
        </p:spPr>
        <p:txBody>
          <a:bodyPr wrap="square" lIns="0" tIns="0" rIns="0" bIns="0" rtlCol="0" anchor="ctr"/>
          <a:lstStyle/>
          <a:p>
            <a:pPr indent="0" marL="0">
              <a:lnSpc>
                <a:spcPts val="1900"/>
              </a:lnSpc>
              <a:buNone/>
            </a:pPr>
            <a:r>
              <a:rPr lang="en-US" sz="1500" b="1" dirty="0">
                <a:solidFill>
                  <a:srgbClr val="6E1B1C"/>
                </a:solidFill>
                <a:latin typeface="Calibri" pitchFamily="34" charset="0"/>
                <a:ea typeface="Calibri" pitchFamily="34" charset="-122"/>
                <a:cs typeface="Calibri" pitchFamily="34" charset="-120"/>
              </a:rPr>
              <a:t>Enforced by the database, not the application</a:t>
            </a:r>
            <a:endParaRPr lang="en-US" sz="1500" dirty="0"/>
          </a:p>
        </p:txBody>
      </p:sp>
      <p:sp>
        <p:nvSpPr>
          <p:cNvPr id="10" name="Text 7"/>
          <p:cNvSpPr/>
          <p:nvPr/>
        </p:nvSpPr>
        <p:spPr>
          <a:xfrm>
            <a:off x="6583680" y="1901952"/>
            <a:ext cx="4663440" cy="786384"/>
          </a:xfrm>
          <a:prstGeom prst="rect">
            <a:avLst/>
          </a:prstGeom>
          <a:noFill/>
          <a:ln/>
        </p:spPr>
        <p:txBody>
          <a:bodyPr wrap="square" lIns="0" tIns="0" rIns="0" bIns="0" rtlCol="0" anchor="ctr"/>
          <a:lstStyle/>
          <a:p>
            <a:pPr indent="0" marL="0">
              <a:lnSpc>
                <a:spcPts val="1700"/>
              </a:lnSpc>
              <a:buNone/>
            </a:pPr>
            <a:r>
              <a:rPr lang="en-US" sz="1250" dirty="0">
                <a:solidFill>
                  <a:srgbClr val="6E1B1C"/>
                </a:solidFill>
                <a:latin typeface="Calibri" pitchFamily="34" charset="0"/>
                <a:ea typeface="Calibri" pitchFamily="34" charset="-122"/>
                <a:cs typeface="Calibri" pitchFamily="34" charset="-120"/>
              </a:rPr>
              <a:t>A single constraint states that two time ranges on the same facility may never overlap. If two requests arrive in the same instant, PostgreSQL rejects one itself.</a:t>
            </a:r>
            <a:endParaRPr lang="en-US" sz="1250" dirty="0"/>
          </a:p>
        </p:txBody>
      </p:sp>
      <p:sp>
        <p:nvSpPr>
          <p:cNvPr id="11" name="Text 8"/>
          <p:cNvSpPr/>
          <p:nvPr/>
        </p:nvSpPr>
        <p:spPr>
          <a:xfrm>
            <a:off x="6583680" y="2651760"/>
            <a:ext cx="4663440" cy="749808"/>
          </a:xfrm>
          <a:prstGeom prst="rect">
            <a:avLst/>
          </a:prstGeom>
          <a:noFill/>
          <a:ln/>
        </p:spPr>
        <p:txBody>
          <a:bodyPr wrap="square" lIns="0" tIns="0" rIns="0" bIns="0" rtlCol="0" anchor="ctr"/>
          <a:lstStyle/>
          <a:p>
            <a:pPr indent="0" marL="0">
              <a:lnSpc>
                <a:spcPts val="1500"/>
              </a:lnSpc>
              <a:buNone/>
            </a:pPr>
            <a:r>
              <a:rPr lang="en-US" sz="1050" dirty="0">
                <a:solidFill>
                  <a:srgbClr val="1F2430"/>
                </a:solidFill>
                <a:latin typeface="Courier New" pitchFamily="34" charset="0"/>
                <a:ea typeface="Courier New" pitchFamily="34" charset="-122"/>
                <a:cs typeface="Courier New" pitchFamily="34" charset="-120"/>
              </a:rPr>
              <a:t>EXCLUDE USING gist (</a:t>
            </a:r>
            <a:endParaRPr lang="en-US" sz="1050" dirty="0"/>
          </a:p>
          <a:p>
            <a:pPr indent="0" marL="0">
              <a:lnSpc>
                <a:spcPts val="1500"/>
              </a:lnSpc>
              <a:buNone/>
            </a:pPr>
            <a:r>
              <a:rPr lang="en-US" sz="1050" dirty="0">
                <a:solidFill>
                  <a:srgbClr val="1F2430"/>
                </a:solidFill>
                <a:latin typeface="Courier New" pitchFamily="34" charset="0"/>
                <a:ea typeface="Courier New" pitchFamily="34" charset="-122"/>
                <a:cs typeface="Courier New" pitchFamily="34" charset="-120"/>
              </a:rPr>
              <a:t>   facility_id WITH =,</a:t>
            </a:r>
            <a:endParaRPr lang="en-US" sz="1050" dirty="0"/>
          </a:p>
          <a:p>
            <a:pPr indent="0" marL="0">
              <a:lnSpc>
                <a:spcPts val="1500"/>
              </a:lnSpc>
              <a:buNone/>
            </a:pPr>
            <a:r>
              <a:rPr lang="en-US" sz="1050" dirty="0">
                <a:solidFill>
                  <a:srgbClr val="1F2430"/>
                </a:solidFill>
                <a:latin typeface="Courier New" pitchFamily="34" charset="0"/>
                <a:ea typeface="Courier New" pitchFamily="34" charset="-122"/>
                <a:cs typeface="Courier New" pitchFamily="34" charset="-120"/>
              </a:rPr>
              <a:t>   tstzrange(start, end) WITH &amp;&amp;</a:t>
            </a:r>
            <a:endParaRPr lang="en-US" sz="1050" dirty="0"/>
          </a:p>
          <a:p>
            <a:pPr indent="0" marL="0">
              <a:lnSpc>
                <a:spcPts val="1500"/>
              </a:lnSpc>
              <a:buNone/>
            </a:pPr>
            <a:r>
              <a:rPr lang="en-US" sz="1050" dirty="0">
                <a:solidFill>
                  <a:srgbClr val="1F2430"/>
                </a:solidFill>
                <a:latin typeface="Courier New" pitchFamily="34" charset="0"/>
                <a:ea typeface="Courier New" pitchFamily="34" charset="-122"/>
                <a:cs typeface="Courier New" pitchFamily="34" charset="-120"/>
              </a:rPr>
              <a:t>)</a:t>
            </a:r>
            <a:endParaRPr lang="en-US" sz="1050" dirty="0"/>
          </a:p>
        </p:txBody>
      </p:sp>
      <p:sp>
        <p:nvSpPr>
          <p:cNvPr id="12" name="Shape 9"/>
          <p:cNvSpPr/>
          <p:nvPr/>
        </p:nvSpPr>
        <p:spPr>
          <a:xfrm>
            <a:off x="6355080" y="3538728"/>
            <a:ext cx="5120640" cy="2249424"/>
          </a:xfrm>
          <a:prstGeom prst="roundRect">
            <a:avLst>
              <a:gd name="adj" fmla="val 3659"/>
            </a:avLst>
          </a:prstGeom>
          <a:solidFill>
            <a:srgbClr val="F4F5F7"/>
          </a:solidFill>
          <a:ln w="9525">
            <a:solidFill>
              <a:srgbClr val="E2E4E8"/>
            </a:solidFill>
            <a:prstDash val="solid"/>
          </a:ln>
        </p:spPr>
      </p:sp>
      <p:sp>
        <p:nvSpPr>
          <p:cNvPr id="13" name="Text 10"/>
          <p:cNvSpPr/>
          <p:nvPr/>
        </p:nvSpPr>
        <p:spPr>
          <a:xfrm>
            <a:off x="6583680" y="3703320"/>
            <a:ext cx="4663440" cy="310896"/>
          </a:xfrm>
          <a:prstGeom prst="rect">
            <a:avLst/>
          </a:prstGeom>
          <a:noFill/>
          <a:ln/>
        </p:spPr>
        <p:txBody>
          <a:bodyPr wrap="square" lIns="0" tIns="0" rIns="0" bIns="0" rtlCol="0" anchor="ctr"/>
          <a:lstStyle/>
          <a:p>
            <a:pPr indent="0" marL="0">
              <a:buNone/>
            </a:pPr>
            <a:r>
              <a:rPr lang="en-US" sz="1400" b="1" dirty="0">
                <a:solidFill>
                  <a:srgbClr val="9E2A2B"/>
                </a:solidFill>
                <a:latin typeface="Calibri" pitchFamily="34" charset="0"/>
                <a:ea typeface="Calibri" pitchFamily="34" charset="-122"/>
                <a:cs typeface="Calibri" pitchFamily="34" charset="-120"/>
              </a:rPr>
              <a:t>Access control, also in the database</a:t>
            </a:r>
            <a:endParaRPr lang="en-US" sz="1400" dirty="0"/>
          </a:p>
        </p:txBody>
      </p:sp>
      <p:sp>
        <p:nvSpPr>
          <p:cNvPr id="14" name="Text 11"/>
          <p:cNvSpPr/>
          <p:nvPr/>
        </p:nvSpPr>
        <p:spPr>
          <a:xfrm>
            <a:off x="6583680" y="4078224"/>
            <a:ext cx="4617720" cy="2075688"/>
          </a:xfrm>
          <a:prstGeom prst="rect">
            <a:avLst/>
          </a:prstGeom>
          <a:noFill/>
          <a:ln/>
        </p:spPr>
        <p:txBody>
          <a:bodyPr wrap="square" lIns="0" tIns="0" rIns="0" bIns="0" rtlCol="0" anchor="t"/>
          <a:lstStyle/>
          <a:p>
            <a:pPr marL="342900" indent="-342900">
              <a:spcAft>
                <a:spcPts val="1100"/>
              </a:spcAft>
              <a:buSzPct val="100000"/>
              <a:buChar char="•"/>
            </a:pPr>
            <a:r>
              <a:rPr lang="en-US" sz="1250" dirty="0">
                <a:solidFill>
                  <a:srgbClr val="1F2430"/>
                </a:solidFill>
                <a:latin typeface="Calibri" pitchFamily="34" charset="0"/>
                <a:ea typeface="Calibri" pitchFamily="34" charset="-122"/>
                <a:cs typeface="Calibri" pitchFamily="34" charset="-120"/>
              </a:rPr>
              <a:t>A manager acts only on facilities assigned to them</a:t>
            </a:r>
            <a:endParaRPr lang="en-US" sz="1250" dirty="0"/>
          </a:p>
          <a:p>
            <a:pPr marL="342900" indent="-342900">
              <a:spcAft>
                <a:spcPts val="1100"/>
              </a:spcAft>
              <a:buSzPct val="100000"/>
              <a:buChar char="•"/>
            </a:pPr>
            <a:r>
              <a:rPr lang="en-US" sz="1250" dirty="0">
                <a:solidFill>
                  <a:srgbClr val="1F2430"/>
                </a:solidFill>
                <a:latin typeface="Calibri" pitchFamily="34" charset="0"/>
                <a:ea typeface="Calibri" pitchFamily="34" charset="-122"/>
                <a:cs typeface="Calibri" pitchFamily="34" charset="-120"/>
              </a:rPr>
              <a:t>A student modifies only their own bookings</a:t>
            </a:r>
            <a:endParaRPr lang="en-US" sz="1250" dirty="0"/>
          </a:p>
          <a:p>
            <a:pPr marL="342900" indent="-342900">
              <a:spcAft>
                <a:spcPts val="1100"/>
              </a:spcAft>
              <a:buSzPct val="100000"/>
              <a:buChar char="•"/>
            </a:pPr>
            <a:r>
              <a:rPr lang="en-US" sz="1250" dirty="0">
                <a:solidFill>
                  <a:srgbClr val="1F2430"/>
                </a:solidFill>
                <a:latin typeface="Calibri" pitchFamily="34" charset="0"/>
                <a:ea typeface="Calibri" pitchFamily="34" charset="-122"/>
                <a:cs typeface="Calibri" pitchFamily="34" charset="-120"/>
              </a:rPr>
              <a:t>Self-registration creates a student account only</a:t>
            </a:r>
            <a:endParaRPr lang="en-US" sz="1250" dirty="0"/>
          </a:p>
          <a:p>
            <a:pPr marL="342900" indent="-342900">
              <a:spcAft>
                <a:spcPts val="1100"/>
              </a:spcAft>
              <a:buSzPct val="100000"/>
              <a:buChar char="•"/>
            </a:pPr>
            <a:r>
              <a:rPr lang="en-US" sz="1250" dirty="0">
                <a:solidFill>
                  <a:srgbClr val="1F2430"/>
                </a:solidFill>
                <a:latin typeface="Calibri" pitchFamily="34" charset="0"/>
                <a:ea typeface="Calibri" pitchFamily="34" charset="-122"/>
                <a:cs typeface="Calibri" pitchFamily="34" charset="-120"/>
              </a:rPr>
              <a:t>Holds even if the API is called directly</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48640" cy="548640"/>
          </a:xfrm>
          <a:prstGeom prst="ellipse">
            <a:avLst/>
          </a:prstGeom>
          <a:solidFill>
            <a:srgbClr val="9E2A2B"/>
          </a:solidFill>
          <a:ln/>
        </p:spPr>
      </p:sp>
      <p:sp>
        <p:nvSpPr>
          <p:cNvPr id="3" name="Text 1"/>
          <p:cNvSpPr/>
          <p:nvPr/>
        </p:nvSpPr>
        <p:spPr>
          <a:xfrm>
            <a:off x="566928" y="384048"/>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12</a:t>
            </a:r>
            <a:endParaRPr lang="en-US" sz="1900" dirty="0"/>
          </a:p>
        </p:txBody>
      </p:sp>
      <p:sp>
        <p:nvSpPr>
          <p:cNvPr id="4" name="Text 2"/>
          <p:cNvSpPr/>
          <p:nvPr/>
        </p:nvSpPr>
        <p:spPr>
          <a:xfrm>
            <a:off x="1298448" y="329184"/>
            <a:ext cx="10241280" cy="256032"/>
          </a:xfrm>
          <a:prstGeom prst="rect">
            <a:avLst/>
          </a:prstGeom>
          <a:noFill/>
          <a:ln/>
        </p:spPr>
        <p:txBody>
          <a:bodyPr wrap="square" lIns="0" tIns="0" rIns="0" bIns="0" rtlCol="0" anchor="ctr"/>
          <a:lstStyle/>
          <a:p>
            <a:pPr indent="0" marL="0">
              <a:buNone/>
            </a:pPr>
            <a:r>
              <a:rPr lang="en-US" sz="1100" spc="200" kern="0" dirty="0">
                <a:solidFill>
                  <a:srgbClr val="9E2A2B"/>
                </a:solidFill>
                <a:latin typeface="Calibri" pitchFamily="34" charset="0"/>
                <a:ea typeface="Calibri" pitchFamily="34" charset="-122"/>
                <a:cs typeface="Calibri" pitchFamily="34" charset="-120"/>
              </a:rPr>
              <a:t>IMPLEMENTATION</a:t>
            </a:r>
            <a:endParaRPr lang="en-US" sz="1100" dirty="0"/>
          </a:p>
        </p:txBody>
      </p:sp>
      <p:sp>
        <p:nvSpPr>
          <p:cNvPr id="5" name="Text 3"/>
          <p:cNvSpPr/>
          <p:nvPr/>
        </p:nvSpPr>
        <p:spPr>
          <a:xfrm>
            <a:off x="1298448" y="566928"/>
            <a:ext cx="10241280" cy="502920"/>
          </a:xfrm>
          <a:prstGeom prst="rect">
            <a:avLst/>
          </a:prstGeom>
          <a:noFill/>
          <a:ln/>
        </p:spPr>
        <p:txBody>
          <a:bodyPr wrap="square" lIns="0" tIns="0" rIns="0" bIns="0" rtlCol="0" anchor="ctr"/>
          <a:lstStyle/>
          <a:p>
            <a:pPr indent="0" marL="0">
              <a:buNone/>
            </a:pPr>
            <a:r>
              <a:rPr lang="en-US" sz="2900" b="1" dirty="0">
                <a:solidFill>
                  <a:srgbClr val="1F2430"/>
                </a:solidFill>
                <a:latin typeface="Cambria" pitchFamily="34" charset="0"/>
                <a:ea typeface="Cambria" pitchFamily="34" charset="-122"/>
                <a:cs typeface="Cambria" pitchFamily="34" charset="-120"/>
              </a:rPr>
              <a:t>Implementation: three role interfaces</a:t>
            </a:r>
            <a:endParaRPr lang="en-US" sz="2900" dirty="0"/>
          </a:p>
        </p:txBody>
      </p:sp>
      <p:sp>
        <p:nvSpPr>
          <p:cNvPr id="6" name="Text 4"/>
          <p:cNvSpPr/>
          <p:nvPr/>
        </p:nvSpPr>
        <p:spPr>
          <a:xfrm>
            <a:off x="685800" y="1280160"/>
            <a:ext cx="10789920" cy="548640"/>
          </a:xfrm>
          <a:prstGeom prst="rect">
            <a:avLst/>
          </a:prstGeom>
          <a:noFill/>
          <a:ln/>
        </p:spPr>
        <p:txBody>
          <a:bodyPr wrap="square" lIns="0" tIns="0" rIns="0" bIns="0" rtlCol="0" anchor="t"/>
          <a:lstStyle/>
          <a:p>
            <a:pPr indent="0" marL="0">
              <a:lnSpc>
                <a:spcPts val="2030"/>
              </a:lnSpc>
              <a:buNone/>
            </a:pPr>
            <a:r>
              <a:rPr lang="en-US" sz="1400" dirty="0">
                <a:solidFill>
                  <a:srgbClr val="1F2430"/>
                </a:solidFill>
                <a:latin typeface="Calibri" pitchFamily="34" charset="0"/>
                <a:ea typeface="Calibri" pitchFamily="34" charset="-122"/>
                <a:cs typeface="Calibri" pitchFamily="34" charset="-120"/>
              </a:rPr>
              <a:t>Running against a live database. Every rule shown on screen is read from the schema, not written into the page.</a:t>
            </a:r>
            <a:endParaRPr lang="en-US" sz="1400" dirty="0"/>
          </a:p>
        </p:txBody>
      </p:sp>
      <p:pic>
        <p:nvPicPr>
          <p:cNvPr id="7" name="Image 0" descr="/sessions/magical-laughing-mayer/mnt/smart-campus-reservation/report/figs/gui_student.png">    </p:cNvPr>
          <p:cNvPicPr>
            <a:picLocks noChangeAspect="1"/>
          </p:cNvPicPr>
          <p:nvPr/>
        </p:nvPicPr>
        <p:blipFill>
          <a:blip r:embed="rId1"/>
          <a:stretch>
            <a:fillRect/>
          </a:stretch>
        </p:blipFill>
        <p:spPr>
          <a:xfrm>
            <a:off x="685800" y="1828800"/>
            <a:ext cx="3493008" cy="1874520"/>
          </a:xfrm>
          <a:prstGeom prst="rect">
            <a:avLst/>
          </a:prstGeom>
        </p:spPr>
      </p:pic>
      <p:sp>
        <p:nvSpPr>
          <p:cNvPr id="8" name="Text 5"/>
          <p:cNvSpPr/>
          <p:nvPr/>
        </p:nvSpPr>
        <p:spPr>
          <a:xfrm>
            <a:off x="685800" y="3803904"/>
            <a:ext cx="3493008" cy="292608"/>
          </a:xfrm>
          <a:prstGeom prst="rect">
            <a:avLst/>
          </a:prstGeom>
          <a:noFill/>
          <a:ln/>
        </p:spPr>
        <p:txBody>
          <a:bodyPr wrap="square" lIns="0" tIns="0" rIns="0" bIns="0" rtlCol="0" anchor="ctr"/>
          <a:lstStyle/>
          <a:p>
            <a:pPr indent="0" marL="0">
              <a:buNone/>
            </a:pPr>
            <a:r>
              <a:rPr lang="en-US" sz="1500" b="1" dirty="0">
                <a:solidFill>
                  <a:srgbClr val="9E2A2B"/>
                </a:solidFill>
                <a:latin typeface="Calibri" pitchFamily="34" charset="0"/>
                <a:ea typeface="Calibri" pitchFamily="34" charset="-122"/>
                <a:cs typeface="Calibri" pitchFamily="34" charset="-120"/>
              </a:rPr>
              <a:t>Student</a:t>
            </a:r>
            <a:endParaRPr lang="en-US" sz="1500" dirty="0"/>
          </a:p>
        </p:txBody>
      </p:sp>
      <p:sp>
        <p:nvSpPr>
          <p:cNvPr id="9" name="Text 6"/>
          <p:cNvSpPr/>
          <p:nvPr/>
        </p:nvSpPr>
        <p:spPr>
          <a:xfrm>
            <a:off x="685800" y="4151376"/>
            <a:ext cx="3529584" cy="914400"/>
          </a:xfrm>
          <a:prstGeom prst="rect">
            <a:avLst/>
          </a:prstGeom>
          <a:noFill/>
          <a:ln/>
        </p:spPr>
        <p:txBody>
          <a:bodyPr wrap="square" lIns="0" tIns="0" rIns="0" bIns="0" rtlCol="0" anchor="t"/>
          <a:lstStyle/>
          <a:p>
            <a:pPr indent="0" marL="0">
              <a:lnSpc>
                <a:spcPts val="1700"/>
              </a:lnSpc>
              <a:buNone/>
            </a:pPr>
            <a:r>
              <a:rPr lang="en-US" sz="1200" dirty="0">
                <a:solidFill>
                  <a:srgbClr val="1F2430"/>
                </a:solidFill>
                <a:latin typeface="Calibri" pitchFamily="34" charset="0"/>
                <a:ea typeface="Calibri" pitchFamily="34" charset="-122"/>
                <a:cs typeface="Calibri" pitchFamily="34" charset="-120"/>
              </a:rPr>
              <a:t>Venue, then facility with a live in-use badge, then a time validated against that facility's own rules</a:t>
            </a:r>
            <a:endParaRPr lang="en-US" sz="1200" dirty="0"/>
          </a:p>
        </p:txBody>
      </p:sp>
      <p:pic>
        <p:nvPicPr>
          <p:cNvPr id="10" name="Image 1" descr="/sessions/magical-laughing-mayer/mnt/smart-campus-reservation/report/figs/gui_manager.png">    </p:cNvPr>
          <p:cNvPicPr>
            <a:picLocks noChangeAspect="1"/>
          </p:cNvPicPr>
          <p:nvPr/>
        </p:nvPicPr>
        <p:blipFill>
          <a:blip r:embed="rId2"/>
          <a:stretch>
            <a:fillRect/>
          </a:stretch>
        </p:blipFill>
        <p:spPr>
          <a:xfrm>
            <a:off x="4361688" y="1828800"/>
            <a:ext cx="3493008" cy="1874520"/>
          </a:xfrm>
          <a:prstGeom prst="rect">
            <a:avLst/>
          </a:prstGeom>
        </p:spPr>
      </p:pic>
      <p:sp>
        <p:nvSpPr>
          <p:cNvPr id="11" name="Text 7"/>
          <p:cNvSpPr/>
          <p:nvPr/>
        </p:nvSpPr>
        <p:spPr>
          <a:xfrm>
            <a:off x="4361688" y="3803904"/>
            <a:ext cx="3493008" cy="292608"/>
          </a:xfrm>
          <a:prstGeom prst="rect">
            <a:avLst/>
          </a:prstGeom>
          <a:noFill/>
          <a:ln/>
        </p:spPr>
        <p:txBody>
          <a:bodyPr wrap="square" lIns="0" tIns="0" rIns="0" bIns="0" rtlCol="0" anchor="ctr"/>
          <a:lstStyle/>
          <a:p>
            <a:pPr indent="0" marL="0">
              <a:buNone/>
            </a:pPr>
            <a:r>
              <a:rPr lang="en-US" sz="1500" b="1" dirty="0">
                <a:solidFill>
                  <a:srgbClr val="9E2A2B"/>
                </a:solidFill>
                <a:latin typeface="Calibri" pitchFamily="34" charset="0"/>
                <a:ea typeface="Calibri" pitchFamily="34" charset="-122"/>
                <a:cs typeface="Calibri" pitchFamily="34" charset="-120"/>
              </a:rPr>
              <a:t>Facility manager</a:t>
            </a:r>
            <a:endParaRPr lang="en-US" sz="1500" dirty="0"/>
          </a:p>
        </p:txBody>
      </p:sp>
      <p:sp>
        <p:nvSpPr>
          <p:cNvPr id="12" name="Text 8"/>
          <p:cNvSpPr/>
          <p:nvPr/>
        </p:nvSpPr>
        <p:spPr>
          <a:xfrm>
            <a:off x="4361688" y="4151376"/>
            <a:ext cx="3529584" cy="914400"/>
          </a:xfrm>
          <a:prstGeom prst="rect">
            <a:avLst/>
          </a:prstGeom>
          <a:noFill/>
          <a:ln/>
        </p:spPr>
        <p:txBody>
          <a:bodyPr wrap="square" lIns="0" tIns="0" rIns="0" bIns="0" rtlCol="0" anchor="t"/>
          <a:lstStyle/>
          <a:p>
            <a:pPr indent="0" marL="0">
              <a:lnSpc>
                <a:spcPts val="1700"/>
              </a:lnSpc>
              <a:buNone/>
            </a:pPr>
            <a:r>
              <a:rPr lang="en-US" sz="1200" dirty="0">
                <a:solidFill>
                  <a:srgbClr val="1F2430"/>
                </a:solidFill>
                <a:latin typeface="Calibri" pitchFamily="34" charset="0"/>
                <a:ea typeface="Calibri" pitchFamily="34" charset="-122"/>
                <a:cs typeface="Calibri" pitchFamily="34" charset="-120"/>
              </a:rPr>
              <a:t>Approval queue, attendance and no-show marking, scoped to assigned facilities</a:t>
            </a:r>
            <a:endParaRPr lang="en-US" sz="1200" dirty="0"/>
          </a:p>
        </p:txBody>
      </p:sp>
      <p:pic>
        <p:nvPicPr>
          <p:cNvPr id="13" name="Image 2" descr="/sessions/magical-laughing-mayer/mnt/smart-campus-reservation/report/figs/gui_admin.png">    </p:cNvPr>
          <p:cNvPicPr>
            <a:picLocks noChangeAspect="1"/>
          </p:cNvPicPr>
          <p:nvPr/>
        </p:nvPicPr>
        <p:blipFill>
          <a:blip r:embed="rId3"/>
          <a:stretch>
            <a:fillRect/>
          </a:stretch>
        </p:blipFill>
        <p:spPr>
          <a:xfrm>
            <a:off x="8037576" y="1828800"/>
            <a:ext cx="3493008" cy="1874520"/>
          </a:xfrm>
          <a:prstGeom prst="rect">
            <a:avLst/>
          </a:prstGeom>
        </p:spPr>
      </p:pic>
      <p:sp>
        <p:nvSpPr>
          <p:cNvPr id="14" name="Text 9"/>
          <p:cNvSpPr/>
          <p:nvPr/>
        </p:nvSpPr>
        <p:spPr>
          <a:xfrm>
            <a:off x="8037576" y="3803904"/>
            <a:ext cx="3493008" cy="292608"/>
          </a:xfrm>
          <a:prstGeom prst="rect">
            <a:avLst/>
          </a:prstGeom>
          <a:noFill/>
          <a:ln/>
        </p:spPr>
        <p:txBody>
          <a:bodyPr wrap="square" lIns="0" tIns="0" rIns="0" bIns="0" rtlCol="0" anchor="ctr"/>
          <a:lstStyle/>
          <a:p>
            <a:pPr indent="0" marL="0">
              <a:buNone/>
            </a:pPr>
            <a:r>
              <a:rPr lang="en-US" sz="1500" b="1" dirty="0">
                <a:solidFill>
                  <a:srgbClr val="9E2A2B"/>
                </a:solidFill>
                <a:latin typeface="Calibri" pitchFamily="34" charset="0"/>
                <a:ea typeface="Calibri" pitchFamily="34" charset="-122"/>
                <a:cs typeface="Calibri" pitchFamily="34" charset="-120"/>
              </a:rPr>
              <a:t>Administrator</a:t>
            </a:r>
            <a:endParaRPr lang="en-US" sz="1500" dirty="0"/>
          </a:p>
        </p:txBody>
      </p:sp>
      <p:sp>
        <p:nvSpPr>
          <p:cNvPr id="15" name="Text 10"/>
          <p:cNvSpPr/>
          <p:nvPr/>
        </p:nvSpPr>
        <p:spPr>
          <a:xfrm>
            <a:off x="8037576" y="4151376"/>
            <a:ext cx="3529584" cy="914400"/>
          </a:xfrm>
          <a:prstGeom prst="rect">
            <a:avLst/>
          </a:prstGeom>
          <a:noFill/>
          <a:ln/>
        </p:spPr>
        <p:txBody>
          <a:bodyPr wrap="square" lIns="0" tIns="0" rIns="0" bIns="0" rtlCol="0" anchor="t"/>
          <a:lstStyle/>
          <a:p>
            <a:pPr indent="0" marL="0">
              <a:lnSpc>
                <a:spcPts val="1700"/>
              </a:lnSpc>
              <a:buNone/>
            </a:pPr>
            <a:r>
              <a:rPr lang="en-US" sz="1200" dirty="0">
                <a:solidFill>
                  <a:srgbClr val="1F2430"/>
                </a:solidFill>
                <a:latin typeface="Calibri" pitchFamily="34" charset="0"/>
                <a:ea typeface="Calibri" pitchFamily="34" charset="-122"/>
                <a:cs typeface="Calibri" pitchFamily="34" charset="-120"/>
              </a:rPr>
              <a:t>A category with its rules, and the facilities inheriting them underneath</a:t>
            </a:r>
            <a:endParaRPr lang="en-US" sz="1200" dirty="0"/>
          </a:p>
        </p:txBody>
      </p:sp>
      <p:sp>
        <p:nvSpPr>
          <p:cNvPr id="16" name="Shape 11"/>
          <p:cNvSpPr/>
          <p:nvPr/>
        </p:nvSpPr>
        <p:spPr>
          <a:xfrm>
            <a:off x="685800" y="5230368"/>
            <a:ext cx="10789920" cy="1005840"/>
          </a:xfrm>
          <a:prstGeom prst="roundRect">
            <a:avLst>
              <a:gd name="adj" fmla="val 8182"/>
            </a:avLst>
          </a:prstGeom>
          <a:solidFill>
            <a:srgbClr val="F3E4E4"/>
          </a:solidFill>
          <a:ln w="9525">
            <a:solidFill>
              <a:srgbClr val="E2E4E8"/>
            </a:solidFill>
            <a:prstDash val="solid"/>
          </a:ln>
        </p:spPr>
      </p:sp>
      <p:sp>
        <p:nvSpPr>
          <p:cNvPr id="17" name="Text 12"/>
          <p:cNvSpPr/>
          <p:nvPr/>
        </p:nvSpPr>
        <p:spPr>
          <a:xfrm>
            <a:off x="932688" y="5376672"/>
            <a:ext cx="10332720" cy="731520"/>
          </a:xfrm>
          <a:prstGeom prst="rect">
            <a:avLst/>
          </a:prstGeom>
          <a:noFill/>
          <a:ln/>
        </p:spPr>
        <p:txBody>
          <a:bodyPr wrap="square" lIns="0" tIns="0" rIns="0" bIns="0" rtlCol="0" anchor="t"/>
          <a:lstStyle/>
          <a:p>
            <a:pPr indent="0" marL="0">
              <a:lnSpc>
                <a:spcPts val="1900"/>
              </a:lnSpc>
              <a:buNone/>
            </a:pPr>
            <a:r>
              <a:rPr lang="en-US" sz="1350" dirty="0">
                <a:solidFill>
                  <a:srgbClr val="6E1B1C"/>
                </a:solidFill>
                <a:latin typeface="Calibri" pitchFamily="34" charset="0"/>
                <a:ea typeface="Calibri" pitchFamily="34" charset="-122"/>
                <a:cs typeface="Calibri" pitchFamily="34" charset="-120"/>
              </a:rPr>
              <a:t>The administrator view is the one to note. Rules sit on the category; the facilities beneath inherit them. Adding a swimming pool with different rules is a form, not a code change — objective 1, in operation.</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48640" cy="548640"/>
          </a:xfrm>
          <a:prstGeom prst="ellipse">
            <a:avLst/>
          </a:prstGeom>
          <a:solidFill>
            <a:srgbClr val="9E2A2B"/>
          </a:solidFill>
          <a:ln/>
        </p:spPr>
      </p:sp>
      <p:sp>
        <p:nvSpPr>
          <p:cNvPr id="3" name="Text 1"/>
          <p:cNvSpPr/>
          <p:nvPr/>
        </p:nvSpPr>
        <p:spPr>
          <a:xfrm>
            <a:off x="566928" y="384048"/>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13</a:t>
            </a:r>
            <a:endParaRPr lang="en-US" sz="1900" dirty="0"/>
          </a:p>
        </p:txBody>
      </p:sp>
      <p:sp>
        <p:nvSpPr>
          <p:cNvPr id="4" name="Text 2"/>
          <p:cNvSpPr/>
          <p:nvPr/>
        </p:nvSpPr>
        <p:spPr>
          <a:xfrm>
            <a:off x="1298448" y="329184"/>
            <a:ext cx="10241280" cy="256032"/>
          </a:xfrm>
          <a:prstGeom prst="rect">
            <a:avLst/>
          </a:prstGeom>
          <a:noFill/>
          <a:ln/>
        </p:spPr>
        <p:txBody>
          <a:bodyPr wrap="square" lIns="0" tIns="0" rIns="0" bIns="0" rtlCol="0" anchor="ctr"/>
          <a:lstStyle/>
          <a:p>
            <a:pPr indent="0" marL="0">
              <a:buNone/>
            </a:pPr>
            <a:r>
              <a:rPr lang="en-US" sz="1100" spc="200" kern="0" dirty="0">
                <a:solidFill>
                  <a:srgbClr val="9E2A2B"/>
                </a:solidFill>
                <a:latin typeface="Calibri" pitchFamily="34" charset="0"/>
                <a:ea typeface="Calibri" pitchFamily="34" charset="-122"/>
                <a:cs typeface="Calibri" pitchFamily="34" charset="-120"/>
              </a:rPr>
              <a:t>IMPLEMENTATION</a:t>
            </a:r>
            <a:endParaRPr lang="en-US" sz="1100" dirty="0"/>
          </a:p>
        </p:txBody>
      </p:sp>
      <p:sp>
        <p:nvSpPr>
          <p:cNvPr id="5" name="Text 3"/>
          <p:cNvSpPr/>
          <p:nvPr/>
        </p:nvSpPr>
        <p:spPr>
          <a:xfrm>
            <a:off x="1298448" y="566928"/>
            <a:ext cx="10241280" cy="502920"/>
          </a:xfrm>
          <a:prstGeom prst="rect">
            <a:avLst/>
          </a:prstGeom>
          <a:noFill/>
          <a:ln/>
        </p:spPr>
        <p:txBody>
          <a:bodyPr wrap="square" lIns="0" tIns="0" rIns="0" bIns="0" rtlCol="0" anchor="ctr"/>
          <a:lstStyle/>
          <a:p>
            <a:pPr indent="0" marL="0">
              <a:buNone/>
            </a:pPr>
            <a:r>
              <a:rPr lang="en-US" sz="2900" b="1" dirty="0">
                <a:solidFill>
                  <a:srgbClr val="1F2430"/>
                </a:solidFill>
                <a:latin typeface="Cambria" pitchFamily="34" charset="0"/>
                <a:ea typeface="Cambria" pitchFamily="34" charset="-122"/>
                <a:cs typeface="Cambria" pitchFamily="34" charset="-120"/>
              </a:rPr>
              <a:t>AI components in operation</a:t>
            </a:r>
            <a:endParaRPr lang="en-US" sz="2900" dirty="0"/>
          </a:p>
        </p:txBody>
      </p:sp>
      <p:pic>
        <p:nvPicPr>
          <p:cNvPr id="6" name="Image 0" descr="/sessions/magical-laughing-mayer/mnt/smart-campus-reservation/report/figs/gui_recommend.png">    </p:cNvPr>
          <p:cNvPicPr>
            <a:picLocks noChangeAspect="1"/>
          </p:cNvPicPr>
          <p:nvPr/>
        </p:nvPicPr>
        <p:blipFill>
          <a:blip r:embed="rId1"/>
          <a:stretch>
            <a:fillRect/>
          </a:stretch>
        </p:blipFill>
        <p:spPr>
          <a:xfrm>
            <a:off x="685800" y="1298448"/>
            <a:ext cx="5394960" cy="2898648"/>
          </a:xfrm>
          <a:prstGeom prst="rect">
            <a:avLst/>
          </a:prstGeom>
        </p:spPr>
      </p:pic>
      <p:sp>
        <p:nvSpPr>
          <p:cNvPr id="7" name="Text 4"/>
          <p:cNvSpPr/>
          <p:nvPr/>
        </p:nvSpPr>
        <p:spPr>
          <a:xfrm>
            <a:off x="685800" y="4224528"/>
            <a:ext cx="5394960" cy="274320"/>
          </a:xfrm>
          <a:prstGeom prst="rect">
            <a:avLst/>
          </a:prstGeom>
          <a:noFill/>
          <a:ln/>
        </p:spPr>
        <p:txBody>
          <a:bodyPr wrap="square" lIns="0" tIns="0" rIns="0" bIns="0" rtlCol="0" anchor="ctr"/>
          <a:lstStyle/>
          <a:p>
            <a:pPr indent="0" marL="0">
              <a:buNone/>
            </a:pPr>
            <a:r>
              <a:rPr lang="en-US" sz="1150" i="1" dirty="0">
                <a:solidFill>
                  <a:srgbClr val="6E7079"/>
                </a:solidFill>
                <a:latin typeface="Calibri" pitchFamily="34" charset="0"/>
                <a:ea typeface="Calibri" pitchFamily="34" charset="-122"/>
                <a:cs typeface="Calibri" pitchFamily="34" charset="-120"/>
              </a:rPr>
              <a:t>15:00 requested and unavailable. Ranked alternatives returned, each with its reason.</a:t>
            </a:r>
            <a:endParaRPr lang="en-US" sz="1150" dirty="0"/>
          </a:p>
        </p:txBody>
      </p:sp>
      <p:pic>
        <p:nvPicPr>
          <p:cNvPr id="8" name="Image 1" descr="/sessions/magical-laughing-mayer/mnt/smart-campus-reservation/report/figs/gui_chatbot.png">    </p:cNvPr>
          <p:cNvPicPr>
            <a:picLocks noChangeAspect="1"/>
          </p:cNvPicPr>
          <p:nvPr/>
        </p:nvPicPr>
        <p:blipFill>
          <a:blip r:embed="rId2"/>
          <a:stretch>
            <a:fillRect/>
          </a:stretch>
        </p:blipFill>
        <p:spPr>
          <a:xfrm>
            <a:off x="6309360" y="1298448"/>
            <a:ext cx="5166360" cy="2898648"/>
          </a:xfrm>
          <a:prstGeom prst="rect">
            <a:avLst/>
          </a:prstGeom>
        </p:spPr>
      </p:pic>
      <p:sp>
        <p:nvSpPr>
          <p:cNvPr id="9" name="Text 5"/>
          <p:cNvSpPr/>
          <p:nvPr/>
        </p:nvSpPr>
        <p:spPr>
          <a:xfrm>
            <a:off x="6309360" y="4224528"/>
            <a:ext cx="5166360" cy="274320"/>
          </a:xfrm>
          <a:prstGeom prst="rect">
            <a:avLst/>
          </a:prstGeom>
          <a:noFill/>
          <a:ln/>
        </p:spPr>
        <p:txBody>
          <a:bodyPr wrap="square" lIns="0" tIns="0" rIns="0" bIns="0" rtlCol="0" anchor="ctr"/>
          <a:lstStyle/>
          <a:p>
            <a:pPr indent="0" marL="0">
              <a:buNone/>
            </a:pPr>
            <a:r>
              <a:rPr lang="en-US" sz="1150" i="1" dirty="0">
                <a:solidFill>
                  <a:srgbClr val="6E7079"/>
                </a:solidFill>
                <a:latin typeface="Calibri" pitchFamily="34" charset="0"/>
                <a:ea typeface="Calibri" pitchFamily="34" charset="-122"/>
                <a:cs typeface="Calibri" pitchFamily="34" charset="-120"/>
              </a:rPr>
              <a:t>Answered from rows read under that student's own authorisation.</a:t>
            </a:r>
            <a:endParaRPr lang="en-US" sz="1150" dirty="0"/>
          </a:p>
        </p:txBody>
      </p:sp>
      <p:sp>
        <p:nvSpPr>
          <p:cNvPr id="10" name="Shape 6"/>
          <p:cNvSpPr/>
          <p:nvPr/>
        </p:nvSpPr>
        <p:spPr>
          <a:xfrm>
            <a:off x="685800" y="4681728"/>
            <a:ext cx="5394960" cy="1691640"/>
          </a:xfrm>
          <a:prstGeom prst="roundRect">
            <a:avLst>
              <a:gd name="adj" fmla="val 4865"/>
            </a:avLst>
          </a:prstGeom>
          <a:solidFill>
            <a:srgbClr val="F3E4E4"/>
          </a:solidFill>
          <a:ln w="9525">
            <a:solidFill>
              <a:srgbClr val="E2E4E8"/>
            </a:solidFill>
            <a:prstDash val="solid"/>
          </a:ln>
        </p:spPr>
      </p:sp>
      <p:sp>
        <p:nvSpPr>
          <p:cNvPr id="11" name="Text 7"/>
          <p:cNvSpPr/>
          <p:nvPr/>
        </p:nvSpPr>
        <p:spPr>
          <a:xfrm>
            <a:off x="914400" y="4809744"/>
            <a:ext cx="4937760" cy="256032"/>
          </a:xfrm>
          <a:prstGeom prst="rect">
            <a:avLst/>
          </a:prstGeom>
          <a:noFill/>
          <a:ln/>
        </p:spPr>
        <p:txBody>
          <a:bodyPr wrap="square" lIns="0" tIns="0" rIns="0" bIns="0" rtlCol="0" anchor="ctr"/>
          <a:lstStyle/>
          <a:p>
            <a:pPr indent="0" marL="0">
              <a:buNone/>
            </a:pPr>
            <a:r>
              <a:rPr lang="en-US" sz="1300" b="1" dirty="0">
                <a:solidFill>
                  <a:srgbClr val="6E1B1C"/>
                </a:solidFill>
                <a:latin typeface="Calibri" pitchFamily="34" charset="0"/>
                <a:ea typeface="Calibri" pitchFamily="34" charset="-122"/>
                <a:cs typeface="Calibri" pitchFamily="34" charset="-120"/>
              </a:rPr>
              <a:t>Ranking rule</a:t>
            </a:r>
            <a:endParaRPr lang="en-US" sz="1300" dirty="0"/>
          </a:p>
        </p:txBody>
      </p:sp>
      <p:sp>
        <p:nvSpPr>
          <p:cNvPr id="12" name="Text 8"/>
          <p:cNvSpPr/>
          <p:nvPr/>
        </p:nvSpPr>
        <p:spPr>
          <a:xfrm>
            <a:off x="914400" y="5084064"/>
            <a:ext cx="4937760" cy="274320"/>
          </a:xfrm>
          <a:prstGeom prst="rect">
            <a:avLst/>
          </a:prstGeom>
          <a:noFill/>
          <a:ln/>
        </p:spPr>
        <p:txBody>
          <a:bodyPr wrap="square" lIns="0" tIns="0" rIns="0" bIns="0" rtlCol="0" anchor="ctr"/>
          <a:lstStyle/>
          <a:p>
            <a:pPr indent="0" marL="0">
              <a:buNone/>
            </a:pPr>
            <a:r>
              <a:rPr lang="en-US" sz="1250" i="1" dirty="0">
                <a:solidFill>
                  <a:srgbClr val="6E1B1C"/>
                </a:solidFill>
                <a:latin typeface="Calibri" pitchFamily="34" charset="0"/>
                <a:ea typeface="Calibri" pitchFamily="34" charset="-122"/>
                <a:cs typeface="Calibri" pitchFamily="34" charset="-120"/>
              </a:rPr>
              <a:t>score  =  time proximity  +  capacity fit  +  off-peak load</a:t>
            </a:r>
            <a:endParaRPr lang="en-US" sz="1250" dirty="0"/>
          </a:p>
        </p:txBody>
      </p:sp>
      <p:sp>
        <p:nvSpPr>
          <p:cNvPr id="13" name="Text 9"/>
          <p:cNvSpPr/>
          <p:nvPr/>
        </p:nvSpPr>
        <p:spPr>
          <a:xfrm>
            <a:off x="914400" y="5431536"/>
            <a:ext cx="4937760" cy="292608"/>
          </a:xfrm>
          <a:prstGeom prst="rect">
            <a:avLst/>
          </a:prstGeom>
          <a:noFill/>
          <a:ln/>
        </p:spPr>
        <p:txBody>
          <a:bodyPr wrap="square" lIns="0" tIns="0" rIns="0" bIns="0" rtlCol="0" anchor="ctr"/>
          <a:lstStyle/>
          <a:p>
            <a:pPr indent="0" marL="0">
              <a:buNone/>
            </a:pPr>
            <a:r>
              <a:rPr lang="en-US" sz="1250" b="1" dirty="0">
                <a:solidFill>
                  <a:srgbClr val="6E1B1C"/>
                </a:solidFill>
                <a:latin typeface="Courier New" pitchFamily="34" charset="0"/>
                <a:ea typeface="Courier New" pitchFamily="34" charset="-122"/>
                <a:cs typeface="Courier New" pitchFamily="34" charset="-120"/>
              </a:rPr>
              <a:t>14:00  →  0.85          13:00  →  0.65</a:t>
            </a:r>
            <a:endParaRPr lang="en-US" sz="1250" dirty="0"/>
          </a:p>
        </p:txBody>
      </p:sp>
      <p:sp>
        <p:nvSpPr>
          <p:cNvPr id="14" name="Text 10"/>
          <p:cNvSpPr/>
          <p:nvPr/>
        </p:nvSpPr>
        <p:spPr>
          <a:xfrm>
            <a:off x="914400" y="5779008"/>
            <a:ext cx="4937760" cy="530352"/>
          </a:xfrm>
          <a:prstGeom prst="rect">
            <a:avLst/>
          </a:prstGeom>
          <a:noFill/>
          <a:ln/>
        </p:spPr>
        <p:txBody>
          <a:bodyPr wrap="square" lIns="0" tIns="0" rIns="0" bIns="0" rtlCol="0" anchor="t"/>
          <a:lstStyle/>
          <a:p>
            <a:pPr indent="0" marL="0">
              <a:lnSpc>
                <a:spcPts val="1500"/>
              </a:lnSpc>
              <a:buNone/>
            </a:pPr>
            <a:r>
              <a:rPr lang="en-US" sz="1150" dirty="0">
                <a:solidFill>
                  <a:srgbClr val="6E1B1C"/>
                </a:solidFill>
                <a:latin typeface="Calibri" pitchFamily="34" charset="0"/>
                <a:ea typeface="Calibri" pitchFamily="34" charset="-122"/>
                <a:cs typeface="Calibri" pitchFamily="34" charset="-120"/>
              </a:rPr>
              <a:t>Both are adjacent to the request. 13:00 ranks lower because it falls inside a peak period. Weights adapt as the student accepts or ignores.</a:t>
            </a:r>
            <a:endParaRPr lang="en-US" sz="1150" dirty="0"/>
          </a:p>
        </p:txBody>
      </p:sp>
      <p:sp>
        <p:nvSpPr>
          <p:cNvPr id="15" name="Shape 11"/>
          <p:cNvSpPr/>
          <p:nvPr/>
        </p:nvSpPr>
        <p:spPr>
          <a:xfrm>
            <a:off x="6309360" y="4681728"/>
            <a:ext cx="5166360" cy="1691640"/>
          </a:xfrm>
          <a:prstGeom prst="roundRect">
            <a:avLst>
              <a:gd name="adj" fmla="val 4865"/>
            </a:avLst>
          </a:prstGeom>
          <a:solidFill>
            <a:srgbClr val="F4F5F7"/>
          </a:solidFill>
          <a:ln w="9525">
            <a:solidFill>
              <a:srgbClr val="E2E4E8"/>
            </a:solidFill>
            <a:prstDash val="solid"/>
          </a:ln>
        </p:spPr>
      </p:sp>
      <p:sp>
        <p:nvSpPr>
          <p:cNvPr id="16" name="Text 12"/>
          <p:cNvSpPr/>
          <p:nvPr/>
        </p:nvSpPr>
        <p:spPr>
          <a:xfrm>
            <a:off x="6537960" y="4809744"/>
            <a:ext cx="4709160" cy="256032"/>
          </a:xfrm>
          <a:prstGeom prst="rect">
            <a:avLst/>
          </a:prstGeom>
          <a:noFill/>
          <a:ln/>
        </p:spPr>
        <p:txBody>
          <a:bodyPr wrap="square" lIns="0" tIns="0" rIns="0" bIns="0" rtlCol="0" anchor="ctr"/>
          <a:lstStyle/>
          <a:p>
            <a:pPr indent="0" marL="0">
              <a:buNone/>
            </a:pPr>
            <a:r>
              <a:rPr lang="en-US" sz="1300" b="1" dirty="0">
                <a:solidFill>
                  <a:srgbClr val="9E2A2B"/>
                </a:solidFill>
                <a:latin typeface="Calibri" pitchFamily="34" charset="0"/>
                <a:ea typeface="Calibri" pitchFamily="34" charset="-122"/>
                <a:cs typeface="Calibri" pitchFamily="34" charset="-120"/>
              </a:rPr>
              <a:t>Grounding</a:t>
            </a:r>
            <a:endParaRPr lang="en-US" sz="1300" dirty="0"/>
          </a:p>
        </p:txBody>
      </p:sp>
      <p:sp>
        <p:nvSpPr>
          <p:cNvPr id="17" name="Text 13"/>
          <p:cNvSpPr/>
          <p:nvPr/>
        </p:nvSpPr>
        <p:spPr>
          <a:xfrm>
            <a:off x="6537960" y="5084064"/>
            <a:ext cx="4709160" cy="1188720"/>
          </a:xfrm>
          <a:prstGeom prst="rect">
            <a:avLst/>
          </a:prstGeom>
          <a:noFill/>
          <a:ln/>
        </p:spPr>
        <p:txBody>
          <a:bodyPr wrap="square" lIns="0" tIns="0" rIns="0" bIns="0" rtlCol="0" anchor="t"/>
          <a:lstStyle/>
          <a:p>
            <a:pPr indent="0" marL="0">
              <a:lnSpc>
                <a:spcPts val="1650"/>
              </a:lnSpc>
              <a:buNone/>
            </a:pPr>
            <a:r>
              <a:rPr lang="en-US" sz="1200" dirty="0">
                <a:solidFill>
                  <a:srgbClr val="1F2430"/>
                </a:solidFill>
                <a:latin typeface="Calibri" pitchFamily="34" charset="0"/>
                <a:ea typeface="Calibri" pitchFamily="34" charset="-122"/>
                <a:cs typeface="Calibri" pitchFamily="34" charset="-120"/>
              </a:rPr>
              <a:t>The model never reaches the database. It calls a typed function, the server executes it under that student's own authorisation, and the model phrases only the rows returned. Anything outside its four question types is referred to staff.</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48640" cy="548640"/>
          </a:xfrm>
          <a:prstGeom prst="ellipse">
            <a:avLst/>
          </a:prstGeom>
          <a:solidFill>
            <a:srgbClr val="9E2A2B"/>
          </a:solidFill>
          <a:ln/>
        </p:spPr>
      </p:sp>
      <p:sp>
        <p:nvSpPr>
          <p:cNvPr id="3" name="Text 1"/>
          <p:cNvSpPr/>
          <p:nvPr/>
        </p:nvSpPr>
        <p:spPr>
          <a:xfrm>
            <a:off x="566928" y="384048"/>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14</a:t>
            </a:r>
            <a:endParaRPr lang="en-US" sz="1900" dirty="0"/>
          </a:p>
        </p:txBody>
      </p:sp>
      <p:sp>
        <p:nvSpPr>
          <p:cNvPr id="4" name="Text 2"/>
          <p:cNvSpPr/>
          <p:nvPr/>
        </p:nvSpPr>
        <p:spPr>
          <a:xfrm>
            <a:off x="1298448" y="329184"/>
            <a:ext cx="10241280" cy="256032"/>
          </a:xfrm>
          <a:prstGeom prst="rect">
            <a:avLst/>
          </a:prstGeom>
          <a:noFill/>
          <a:ln/>
        </p:spPr>
        <p:txBody>
          <a:bodyPr wrap="square" lIns="0" tIns="0" rIns="0" bIns="0" rtlCol="0" anchor="ctr"/>
          <a:lstStyle/>
          <a:p>
            <a:pPr indent="0" marL="0">
              <a:buNone/>
            </a:pPr>
            <a:r>
              <a:rPr lang="en-US" sz="1100" spc="200" kern="0" dirty="0">
                <a:solidFill>
                  <a:srgbClr val="9E2A2B"/>
                </a:solidFill>
                <a:latin typeface="Calibri" pitchFamily="34" charset="0"/>
                <a:ea typeface="Calibri" pitchFamily="34" charset="-122"/>
                <a:cs typeface="Calibri" pitchFamily="34" charset="-120"/>
              </a:rPr>
              <a:t>PROFESSIONAL PRACTICES</a:t>
            </a:r>
            <a:endParaRPr lang="en-US" sz="1100" dirty="0"/>
          </a:p>
        </p:txBody>
      </p:sp>
      <p:sp>
        <p:nvSpPr>
          <p:cNvPr id="5" name="Text 3"/>
          <p:cNvSpPr/>
          <p:nvPr/>
        </p:nvSpPr>
        <p:spPr>
          <a:xfrm>
            <a:off x="1298448" y="566928"/>
            <a:ext cx="10241280" cy="502920"/>
          </a:xfrm>
          <a:prstGeom prst="rect">
            <a:avLst/>
          </a:prstGeom>
          <a:noFill/>
          <a:ln/>
        </p:spPr>
        <p:txBody>
          <a:bodyPr wrap="square" lIns="0" tIns="0" rIns="0" bIns="0" rtlCol="0" anchor="ctr"/>
          <a:lstStyle/>
          <a:p>
            <a:pPr indent="0" marL="0">
              <a:buNone/>
            </a:pPr>
            <a:r>
              <a:rPr lang="en-US" sz="2900" b="1" dirty="0">
                <a:solidFill>
                  <a:srgbClr val="1F2430"/>
                </a:solidFill>
                <a:latin typeface="Cambria" pitchFamily="34" charset="0"/>
                <a:ea typeface="Cambria" pitchFamily="34" charset="-122"/>
                <a:cs typeface="Cambria" pitchFamily="34" charset="-120"/>
              </a:rPr>
              <a:t>Professional engineering practices</a:t>
            </a:r>
            <a:endParaRPr lang="en-US" sz="2900" dirty="0"/>
          </a:p>
        </p:txBody>
      </p:sp>
      <p:sp>
        <p:nvSpPr>
          <p:cNvPr id="6" name="Shape 4"/>
          <p:cNvSpPr/>
          <p:nvPr/>
        </p:nvSpPr>
        <p:spPr>
          <a:xfrm>
            <a:off x="685800" y="1371600"/>
            <a:ext cx="5257800" cy="1444752"/>
          </a:xfrm>
          <a:prstGeom prst="roundRect">
            <a:avLst>
              <a:gd name="adj" fmla="val 5696"/>
            </a:avLst>
          </a:prstGeom>
          <a:solidFill>
            <a:srgbClr val="F4F5F7"/>
          </a:solidFill>
          <a:ln w="9525">
            <a:solidFill>
              <a:srgbClr val="E2E4E8"/>
            </a:solidFill>
            <a:prstDash val="solid"/>
          </a:ln>
        </p:spPr>
      </p:sp>
      <p:sp>
        <p:nvSpPr>
          <p:cNvPr id="7" name="Text 5"/>
          <p:cNvSpPr/>
          <p:nvPr/>
        </p:nvSpPr>
        <p:spPr>
          <a:xfrm>
            <a:off x="914400" y="1517904"/>
            <a:ext cx="4800600" cy="292608"/>
          </a:xfrm>
          <a:prstGeom prst="rect">
            <a:avLst/>
          </a:prstGeom>
          <a:noFill/>
          <a:ln/>
        </p:spPr>
        <p:txBody>
          <a:bodyPr wrap="square" lIns="0" tIns="0" rIns="0" bIns="0" rtlCol="0" anchor="ctr"/>
          <a:lstStyle/>
          <a:p>
            <a:pPr indent="0" marL="0">
              <a:buNone/>
            </a:pPr>
            <a:r>
              <a:rPr lang="en-US" sz="1400" b="1" dirty="0">
                <a:solidFill>
                  <a:srgbClr val="9E2A2B"/>
                </a:solidFill>
                <a:latin typeface="Calibri" pitchFamily="34" charset="0"/>
                <a:ea typeface="Calibri" pitchFamily="34" charset="-122"/>
                <a:cs typeface="Calibri" pitchFamily="34" charset="-120"/>
              </a:rPr>
              <a:t>Data protection</a:t>
            </a:r>
            <a:endParaRPr lang="en-US" sz="1400" dirty="0"/>
          </a:p>
        </p:txBody>
      </p:sp>
      <p:sp>
        <p:nvSpPr>
          <p:cNvPr id="8" name="Text 6"/>
          <p:cNvSpPr/>
          <p:nvPr/>
        </p:nvSpPr>
        <p:spPr>
          <a:xfrm>
            <a:off x="914400" y="1865376"/>
            <a:ext cx="4828032" cy="859536"/>
          </a:xfrm>
          <a:prstGeom prst="rect">
            <a:avLst/>
          </a:prstGeom>
          <a:noFill/>
          <a:ln/>
        </p:spPr>
        <p:txBody>
          <a:bodyPr wrap="square" lIns="0" tIns="0" rIns="0" bIns="0" rtlCol="0" anchor="ctr"/>
          <a:lstStyle/>
          <a:p>
            <a:pPr indent="0" marL="0">
              <a:lnSpc>
                <a:spcPts val="1700"/>
              </a:lnSpc>
              <a:buNone/>
            </a:pPr>
            <a:r>
              <a:rPr lang="en-US" sz="1250" dirty="0">
                <a:solidFill>
                  <a:srgbClr val="1F2430"/>
                </a:solidFill>
                <a:latin typeface="Calibri" pitchFamily="34" charset="0"/>
                <a:ea typeface="Calibri" pitchFamily="34" charset="-122"/>
                <a:cs typeface="Calibri" pitchFamily="34" charset="-120"/>
              </a:rPr>
              <a:t>Malaysian PDPA 2010: collection limited to what a booking requires, bounded retention, and access decided in the database</a:t>
            </a:r>
            <a:endParaRPr lang="en-US" sz="1250" dirty="0"/>
          </a:p>
        </p:txBody>
      </p:sp>
      <p:sp>
        <p:nvSpPr>
          <p:cNvPr id="9" name="Shape 7"/>
          <p:cNvSpPr/>
          <p:nvPr/>
        </p:nvSpPr>
        <p:spPr>
          <a:xfrm>
            <a:off x="6217920" y="1371600"/>
            <a:ext cx="5257800" cy="1444752"/>
          </a:xfrm>
          <a:prstGeom prst="roundRect">
            <a:avLst>
              <a:gd name="adj" fmla="val 5696"/>
            </a:avLst>
          </a:prstGeom>
          <a:solidFill>
            <a:srgbClr val="F4F5F7"/>
          </a:solidFill>
          <a:ln w="9525">
            <a:solidFill>
              <a:srgbClr val="E2E4E8"/>
            </a:solidFill>
            <a:prstDash val="solid"/>
          </a:ln>
        </p:spPr>
      </p:sp>
      <p:sp>
        <p:nvSpPr>
          <p:cNvPr id="10" name="Text 8"/>
          <p:cNvSpPr/>
          <p:nvPr/>
        </p:nvSpPr>
        <p:spPr>
          <a:xfrm>
            <a:off x="6446520" y="1517904"/>
            <a:ext cx="4800600" cy="292608"/>
          </a:xfrm>
          <a:prstGeom prst="rect">
            <a:avLst/>
          </a:prstGeom>
          <a:noFill/>
          <a:ln/>
        </p:spPr>
        <p:txBody>
          <a:bodyPr wrap="square" lIns="0" tIns="0" rIns="0" bIns="0" rtlCol="0" anchor="ctr"/>
          <a:lstStyle/>
          <a:p>
            <a:pPr indent="0" marL="0">
              <a:buNone/>
            </a:pPr>
            <a:r>
              <a:rPr lang="en-US" sz="1400" b="1" dirty="0">
                <a:solidFill>
                  <a:srgbClr val="9E2A2B"/>
                </a:solidFill>
                <a:latin typeface="Calibri" pitchFamily="34" charset="0"/>
                <a:ea typeface="Calibri" pitchFamily="34" charset="-122"/>
                <a:cs typeface="Calibri" pitchFamily="34" charset="-120"/>
              </a:rPr>
              <a:t>BEM code of conduct</a:t>
            </a:r>
            <a:endParaRPr lang="en-US" sz="1400" dirty="0"/>
          </a:p>
        </p:txBody>
      </p:sp>
      <p:sp>
        <p:nvSpPr>
          <p:cNvPr id="11" name="Text 9"/>
          <p:cNvSpPr/>
          <p:nvPr/>
        </p:nvSpPr>
        <p:spPr>
          <a:xfrm>
            <a:off x="6446520" y="1865376"/>
            <a:ext cx="4828032" cy="859536"/>
          </a:xfrm>
          <a:prstGeom prst="rect">
            <a:avLst/>
          </a:prstGeom>
          <a:noFill/>
          <a:ln/>
        </p:spPr>
        <p:txBody>
          <a:bodyPr wrap="square" lIns="0" tIns="0" rIns="0" bIns="0" rtlCol="0" anchor="ctr"/>
          <a:lstStyle/>
          <a:p>
            <a:pPr indent="0" marL="0">
              <a:lnSpc>
                <a:spcPts val="1700"/>
              </a:lnSpc>
              <a:buNone/>
            </a:pPr>
            <a:r>
              <a:rPr lang="en-US" sz="1250" dirty="0">
                <a:solidFill>
                  <a:srgbClr val="1F2430"/>
                </a:solidFill>
                <a:latin typeface="Calibri" pitchFamily="34" charset="0"/>
                <a:ea typeface="Calibri" pitchFamily="34" charset="-122"/>
                <a:cs typeface="Calibri" pitchFamily="34" charset="-120"/>
              </a:rPr>
              <a:t>Circular 001 §2.1.7: no opinion unfounded on fact. Applied to software, the assistant is not permitted to guess</a:t>
            </a:r>
            <a:endParaRPr lang="en-US" sz="1250" dirty="0"/>
          </a:p>
        </p:txBody>
      </p:sp>
      <p:sp>
        <p:nvSpPr>
          <p:cNvPr id="12" name="Shape 10"/>
          <p:cNvSpPr/>
          <p:nvPr/>
        </p:nvSpPr>
        <p:spPr>
          <a:xfrm>
            <a:off x="685800" y="2999232"/>
            <a:ext cx="5257800" cy="1444752"/>
          </a:xfrm>
          <a:prstGeom prst="roundRect">
            <a:avLst>
              <a:gd name="adj" fmla="val 5696"/>
            </a:avLst>
          </a:prstGeom>
          <a:solidFill>
            <a:srgbClr val="F4F5F7"/>
          </a:solidFill>
          <a:ln w="9525">
            <a:solidFill>
              <a:srgbClr val="E2E4E8"/>
            </a:solidFill>
            <a:prstDash val="solid"/>
          </a:ln>
        </p:spPr>
      </p:sp>
      <p:sp>
        <p:nvSpPr>
          <p:cNvPr id="13" name="Text 11"/>
          <p:cNvSpPr/>
          <p:nvPr/>
        </p:nvSpPr>
        <p:spPr>
          <a:xfrm>
            <a:off x="914400" y="3145536"/>
            <a:ext cx="4800600" cy="292608"/>
          </a:xfrm>
          <a:prstGeom prst="rect">
            <a:avLst/>
          </a:prstGeom>
          <a:noFill/>
          <a:ln/>
        </p:spPr>
        <p:txBody>
          <a:bodyPr wrap="square" lIns="0" tIns="0" rIns="0" bIns="0" rtlCol="0" anchor="ctr"/>
          <a:lstStyle/>
          <a:p>
            <a:pPr indent="0" marL="0">
              <a:buNone/>
            </a:pPr>
            <a:r>
              <a:rPr lang="en-US" sz="1400" b="1" dirty="0">
                <a:solidFill>
                  <a:srgbClr val="9E2A2B"/>
                </a:solidFill>
                <a:latin typeface="Calibri" pitchFamily="34" charset="0"/>
                <a:ea typeface="Calibri" pitchFamily="34" charset="-122"/>
                <a:cs typeface="Calibri" pitchFamily="34" charset="-120"/>
              </a:rPr>
              <a:t>Public health and safety</a:t>
            </a:r>
            <a:endParaRPr lang="en-US" sz="1400" dirty="0"/>
          </a:p>
        </p:txBody>
      </p:sp>
      <p:sp>
        <p:nvSpPr>
          <p:cNvPr id="14" name="Text 12"/>
          <p:cNvSpPr/>
          <p:nvPr/>
        </p:nvSpPr>
        <p:spPr>
          <a:xfrm>
            <a:off x="914400" y="3493008"/>
            <a:ext cx="4828032" cy="859536"/>
          </a:xfrm>
          <a:prstGeom prst="rect">
            <a:avLst/>
          </a:prstGeom>
          <a:noFill/>
          <a:ln/>
        </p:spPr>
        <p:txBody>
          <a:bodyPr wrap="square" lIns="0" tIns="0" rIns="0" bIns="0" rtlCol="0" anchor="ctr"/>
          <a:lstStyle/>
          <a:p>
            <a:pPr indent="0" marL="0">
              <a:lnSpc>
                <a:spcPts val="1700"/>
              </a:lnSpc>
              <a:buNone/>
            </a:pPr>
            <a:r>
              <a:rPr lang="en-US" sz="1250" dirty="0">
                <a:solidFill>
                  <a:srgbClr val="1F2430"/>
                </a:solidFill>
                <a:latin typeface="Calibri" pitchFamily="34" charset="0"/>
                <a:ea typeface="Calibri" pitchFamily="34" charset="-122"/>
                <a:cs typeface="Calibri" pitchFamily="34" charset="-120"/>
              </a:rPr>
              <a:t>Occupancy limits encode a fire and crowd-density rule. The same field imposes a health capacity cap with no code change</a:t>
            </a:r>
            <a:endParaRPr lang="en-US" sz="1250" dirty="0"/>
          </a:p>
        </p:txBody>
      </p:sp>
      <p:sp>
        <p:nvSpPr>
          <p:cNvPr id="15" name="Shape 13"/>
          <p:cNvSpPr/>
          <p:nvPr/>
        </p:nvSpPr>
        <p:spPr>
          <a:xfrm>
            <a:off x="6217920" y="2999232"/>
            <a:ext cx="5257800" cy="1444752"/>
          </a:xfrm>
          <a:prstGeom prst="roundRect">
            <a:avLst>
              <a:gd name="adj" fmla="val 5696"/>
            </a:avLst>
          </a:prstGeom>
          <a:solidFill>
            <a:srgbClr val="F4F5F7"/>
          </a:solidFill>
          <a:ln w="9525">
            <a:solidFill>
              <a:srgbClr val="E2E4E8"/>
            </a:solidFill>
            <a:prstDash val="solid"/>
          </a:ln>
        </p:spPr>
      </p:sp>
      <p:sp>
        <p:nvSpPr>
          <p:cNvPr id="16" name="Text 14"/>
          <p:cNvSpPr/>
          <p:nvPr/>
        </p:nvSpPr>
        <p:spPr>
          <a:xfrm>
            <a:off x="6446520" y="3145536"/>
            <a:ext cx="4800600" cy="292608"/>
          </a:xfrm>
          <a:prstGeom prst="rect">
            <a:avLst/>
          </a:prstGeom>
          <a:noFill/>
          <a:ln/>
        </p:spPr>
        <p:txBody>
          <a:bodyPr wrap="square" lIns="0" tIns="0" rIns="0" bIns="0" rtlCol="0" anchor="ctr"/>
          <a:lstStyle/>
          <a:p>
            <a:pPr indent="0" marL="0">
              <a:buNone/>
            </a:pPr>
            <a:r>
              <a:rPr lang="en-US" sz="1400" b="1" dirty="0">
                <a:solidFill>
                  <a:srgbClr val="9E2A2B"/>
                </a:solidFill>
                <a:latin typeface="Calibri" pitchFamily="34" charset="0"/>
                <a:ea typeface="Calibri" pitchFamily="34" charset="-122"/>
                <a:cs typeface="Calibri" pitchFamily="34" charset="-120"/>
              </a:rPr>
              <a:t>Accessibility and inclusion</a:t>
            </a:r>
            <a:endParaRPr lang="en-US" sz="1400" dirty="0"/>
          </a:p>
        </p:txBody>
      </p:sp>
      <p:sp>
        <p:nvSpPr>
          <p:cNvPr id="17" name="Text 15"/>
          <p:cNvSpPr/>
          <p:nvPr/>
        </p:nvSpPr>
        <p:spPr>
          <a:xfrm>
            <a:off x="6446520" y="3493008"/>
            <a:ext cx="4828032" cy="859536"/>
          </a:xfrm>
          <a:prstGeom prst="rect">
            <a:avLst/>
          </a:prstGeom>
          <a:noFill/>
          <a:ln/>
        </p:spPr>
        <p:txBody>
          <a:bodyPr wrap="square" lIns="0" tIns="0" rIns="0" bIns="0" rtlCol="0" anchor="ctr"/>
          <a:lstStyle/>
          <a:p>
            <a:pPr indent="0" marL="0">
              <a:lnSpc>
                <a:spcPts val="1700"/>
              </a:lnSpc>
              <a:buNone/>
            </a:pPr>
            <a:r>
              <a:rPr lang="en-US" sz="1250" dirty="0">
                <a:solidFill>
                  <a:srgbClr val="1F2430"/>
                </a:solidFill>
                <a:latin typeface="Calibri" pitchFamily="34" charset="0"/>
                <a:ea typeface="Calibri" pitchFamily="34" charset="-122"/>
                <a:cs typeface="Calibri" pitchFamily="34" charset="-120"/>
              </a:rPr>
              <a:t>WCAG 2.1 AA, plain interface language for an international cohort, and the counter process retained so nobody is excluded</a:t>
            </a:r>
            <a:endParaRPr lang="en-US" sz="1250" dirty="0"/>
          </a:p>
        </p:txBody>
      </p:sp>
      <p:sp>
        <p:nvSpPr>
          <p:cNvPr id="18" name="Shape 16"/>
          <p:cNvSpPr/>
          <p:nvPr/>
        </p:nvSpPr>
        <p:spPr>
          <a:xfrm>
            <a:off x="685800" y="4626864"/>
            <a:ext cx="5257800" cy="1444752"/>
          </a:xfrm>
          <a:prstGeom prst="roundRect">
            <a:avLst>
              <a:gd name="adj" fmla="val 5696"/>
            </a:avLst>
          </a:prstGeom>
          <a:solidFill>
            <a:srgbClr val="F4F5F7"/>
          </a:solidFill>
          <a:ln w="9525">
            <a:solidFill>
              <a:srgbClr val="E2E4E8"/>
            </a:solidFill>
            <a:prstDash val="solid"/>
          </a:ln>
        </p:spPr>
      </p:sp>
      <p:sp>
        <p:nvSpPr>
          <p:cNvPr id="19" name="Text 17"/>
          <p:cNvSpPr/>
          <p:nvPr/>
        </p:nvSpPr>
        <p:spPr>
          <a:xfrm>
            <a:off x="914400" y="4773168"/>
            <a:ext cx="4800600" cy="292608"/>
          </a:xfrm>
          <a:prstGeom prst="rect">
            <a:avLst/>
          </a:prstGeom>
          <a:noFill/>
          <a:ln/>
        </p:spPr>
        <p:txBody>
          <a:bodyPr wrap="square" lIns="0" tIns="0" rIns="0" bIns="0" rtlCol="0" anchor="ctr"/>
          <a:lstStyle/>
          <a:p>
            <a:pPr indent="0" marL="0">
              <a:buNone/>
            </a:pPr>
            <a:r>
              <a:rPr lang="en-US" sz="1400" b="1" dirty="0">
                <a:solidFill>
                  <a:srgbClr val="9E2A2B"/>
                </a:solidFill>
                <a:latin typeface="Calibri" pitchFamily="34" charset="0"/>
                <a:ea typeface="Calibri" pitchFamily="34" charset="-122"/>
                <a:cs typeface="Calibri" pitchFamily="34" charset="-120"/>
              </a:rPr>
              <a:t>Whole-life cost and net zero</a:t>
            </a:r>
            <a:endParaRPr lang="en-US" sz="1400" dirty="0"/>
          </a:p>
        </p:txBody>
      </p:sp>
      <p:sp>
        <p:nvSpPr>
          <p:cNvPr id="20" name="Text 18"/>
          <p:cNvSpPr/>
          <p:nvPr/>
        </p:nvSpPr>
        <p:spPr>
          <a:xfrm>
            <a:off x="914400" y="5120640"/>
            <a:ext cx="4828032" cy="859536"/>
          </a:xfrm>
          <a:prstGeom prst="rect">
            <a:avLst/>
          </a:prstGeom>
          <a:noFill/>
          <a:ln/>
        </p:spPr>
        <p:txBody>
          <a:bodyPr wrap="square" lIns="0" tIns="0" rIns="0" bIns="0" rtlCol="0" anchor="ctr"/>
          <a:lstStyle/>
          <a:p>
            <a:pPr indent="0" marL="0">
              <a:lnSpc>
                <a:spcPts val="1700"/>
              </a:lnSpc>
              <a:buNone/>
            </a:pPr>
            <a:r>
              <a:rPr lang="en-US" sz="1250" dirty="0">
                <a:solidFill>
                  <a:srgbClr val="1F2430"/>
                </a:solidFill>
                <a:latin typeface="Calibri" pitchFamily="34" charset="0"/>
                <a:ea typeface="Calibri" pitchFamily="34" charset="-122"/>
                <a:cs typeface="Calibri" pitchFamily="34" charset="-120"/>
              </a:rPr>
              <a:t>Hosted, so no hardware to power, cool or dispose of. Paper eliminated, journeys reduced, empty rooms no longer conditioned</a:t>
            </a:r>
            <a:endParaRPr lang="en-US" sz="1250" dirty="0"/>
          </a:p>
        </p:txBody>
      </p:sp>
      <p:sp>
        <p:nvSpPr>
          <p:cNvPr id="21" name="Shape 19"/>
          <p:cNvSpPr/>
          <p:nvPr/>
        </p:nvSpPr>
        <p:spPr>
          <a:xfrm>
            <a:off x="6217920" y="4626864"/>
            <a:ext cx="5257800" cy="1444752"/>
          </a:xfrm>
          <a:prstGeom prst="roundRect">
            <a:avLst>
              <a:gd name="adj" fmla="val 5696"/>
            </a:avLst>
          </a:prstGeom>
          <a:solidFill>
            <a:srgbClr val="F4F5F7"/>
          </a:solidFill>
          <a:ln w="9525">
            <a:solidFill>
              <a:srgbClr val="E2E4E8"/>
            </a:solidFill>
            <a:prstDash val="solid"/>
          </a:ln>
        </p:spPr>
      </p:sp>
      <p:sp>
        <p:nvSpPr>
          <p:cNvPr id="22" name="Text 20"/>
          <p:cNvSpPr/>
          <p:nvPr/>
        </p:nvSpPr>
        <p:spPr>
          <a:xfrm>
            <a:off x="6446520" y="4773168"/>
            <a:ext cx="4800600" cy="292608"/>
          </a:xfrm>
          <a:prstGeom prst="rect">
            <a:avLst/>
          </a:prstGeom>
          <a:noFill/>
          <a:ln/>
        </p:spPr>
        <p:txBody>
          <a:bodyPr wrap="square" lIns="0" tIns="0" rIns="0" bIns="0" rtlCol="0" anchor="ctr"/>
          <a:lstStyle/>
          <a:p>
            <a:pPr indent="0" marL="0">
              <a:buNone/>
            </a:pPr>
            <a:r>
              <a:rPr lang="en-US" sz="1400" b="1" dirty="0">
                <a:solidFill>
                  <a:srgbClr val="9E2A2B"/>
                </a:solidFill>
                <a:latin typeface="Calibri" pitchFamily="34" charset="0"/>
                <a:ea typeface="Calibri" pitchFamily="34" charset="-122"/>
                <a:cs typeface="Calibri" pitchFamily="34" charset="-120"/>
              </a:rPr>
              <a:t>Continuing development</a:t>
            </a:r>
            <a:endParaRPr lang="en-US" sz="1400" dirty="0"/>
          </a:p>
        </p:txBody>
      </p:sp>
      <p:sp>
        <p:nvSpPr>
          <p:cNvPr id="23" name="Text 21"/>
          <p:cNvSpPr/>
          <p:nvPr/>
        </p:nvSpPr>
        <p:spPr>
          <a:xfrm>
            <a:off x="6446520" y="5120640"/>
            <a:ext cx="4828032" cy="859536"/>
          </a:xfrm>
          <a:prstGeom prst="rect">
            <a:avLst/>
          </a:prstGeom>
          <a:noFill/>
          <a:ln/>
        </p:spPr>
        <p:txBody>
          <a:bodyPr wrap="square" lIns="0" tIns="0" rIns="0" bIns="0" rtlCol="0" anchor="ctr"/>
          <a:lstStyle/>
          <a:p>
            <a:pPr indent="0" marL="0">
              <a:lnSpc>
                <a:spcPts val="1700"/>
              </a:lnSpc>
              <a:buNone/>
            </a:pPr>
            <a:r>
              <a:rPr lang="en-US" sz="1250" dirty="0">
                <a:solidFill>
                  <a:srgbClr val="1F2430"/>
                </a:solidFill>
                <a:latin typeface="Calibri" pitchFamily="34" charset="0"/>
                <a:ea typeface="Calibri" pitchFamily="34" charset="-122"/>
                <a:cs typeface="Calibri" pitchFamily="34" charset="-120"/>
              </a:rPr>
              <a:t>Access control, exclusion constraints and function-calling APIs learned from primary sources and verified by testing</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48640" cy="548640"/>
          </a:xfrm>
          <a:prstGeom prst="ellipse">
            <a:avLst/>
          </a:prstGeom>
          <a:solidFill>
            <a:srgbClr val="9E2A2B"/>
          </a:solidFill>
          <a:ln/>
        </p:spPr>
      </p:sp>
      <p:sp>
        <p:nvSpPr>
          <p:cNvPr id="3" name="Text 1"/>
          <p:cNvSpPr/>
          <p:nvPr/>
        </p:nvSpPr>
        <p:spPr>
          <a:xfrm>
            <a:off x="566928" y="384048"/>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15</a:t>
            </a:r>
            <a:endParaRPr lang="en-US" sz="1900" dirty="0"/>
          </a:p>
        </p:txBody>
      </p:sp>
      <p:sp>
        <p:nvSpPr>
          <p:cNvPr id="4" name="Text 2"/>
          <p:cNvSpPr/>
          <p:nvPr/>
        </p:nvSpPr>
        <p:spPr>
          <a:xfrm>
            <a:off x="1298448" y="329184"/>
            <a:ext cx="10241280" cy="256032"/>
          </a:xfrm>
          <a:prstGeom prst="rect">
            <a:avLst/>
          </a:prstGeom>
          <a:noFill/>
          <a:ln/>
        </p:spPr>
        <p:txBody>
          <a:bodyPr wrap="square" lIns="0" tIns="0" rIns="0" bIns="0" rtlCol="0" anchor="ctr"/>
          <a:lstStyle/>
          <a:p>
            <a:pPr indent="0" marL="0">
              <a:buNone/>
            </a:pPr>
            <a:r>
              <a:rPr lang="en-US" sz="1100" spc="200" kern="0" dirty="0">
                <a:solidFill>
                  <a:srgbClr val="9E2A2B"/>
                </a:solidFill>
                <a:latin typeface="Calibri" pitchFamily="34" charset="0"/>
                <a:ea typeface="Calibri" pitchFamily="34" charset="-122"/>
                <a:cs typeface="Calibri" pitchFamily="34" charset="-120"/>
              </a:rPr>
              <a:t>MANAGEMENT AND FINANCE</a:t>
            </a:r>
            <a:endParaRPr lang="en-US" sz="1100" dirty="0"/>
          </a:p>
        </p:txBody>
      </p:sp>
      <p:sp>
        <p:nvSpPr>
          <p:cNvPr id="5" name="Text 3"/>
          <p:cNvSpPr/>
          <p:nvPr/>
        </p:nvSpPr>
        <p:spPr>
          <a:xfrm>
            <a:off x="1298448" y="566928"/>
            <a:ext cx="10241280" cy="502920"/>
          </a:xfrm>
          <a:prstGeom prst="rect">
            <a:avLst/>
          </a:prstGeom>
          <a:noFill/>
          <a:ln/>
        </p:spPr>
        <p:txBody>
          <a:bodyPr wrap="square" lIns="0" tIns="0" rIns="0" bIns="0" rtlCol="0" anchor="ctr"/>
          <a:lstStyle/>
          <a:p>
            <a:pPr indent="0" marL="0">
              <a:buNone/>
            </a:pPr>
            <a:r>
              <a:rPr lang="en-US" sz="2900" b="1" dirty="0">
                <a:solidFill>
                  <a:srgbClr val="1F2430"/>
                </a:solidFill>
                <a:latin typeface="Cambria" pitchFamily="34" charset="0"/>
                <a:ea typeface="Cambria" pitchFamily="34" charset="-122"/>
                <a:cs typeface="Cambria" pitchFamily="34" charset="-120"/>
              </a:rPr>
              <a:t>Project management, finance and marketability</a:t>
            </a:r>
            <a:endParaRPr lang="en-US" sz="2900" dirty="0"/>
          </a:p>
        </p:txBody>
      </p:sp>
      <p:pic>
        <p:nvPicPr>
          <p:cNvPr id="6" name="Image 0" descr="/sessions/magical-laughing-mayer/mnt/smart-campus-reservation/report/figs/fig_gantt.png">    </p:cNvPr>
          <p:cNvPicPr>
            <a:picLocks noChangeAspect="1"/>
          </p:cNvPicPr>
          <p:nvPr/>
        </p:nvPicPr>
        <p:blipFill>
          <a:blip r:embed="rId1"/>
          <a:stretch>
            <a:fillRect/>
          </a:stretch>
        </p:blipFill>
        <p:spPr>
          <a:xfrm>
            <a:off x="685800" y="1298448"/>
            <a:ext cx="7040880" cy="3849624"/>
          </a:xfrm>
          <a:prstGeom prst="rect">
            <a:avLst/>
          </a:prstGeom>
        </p:spPr>
      </p:pic>
      <p:sp>
        <p:nvSpPr>
          <p:cNvPr id="7" name="Text 4"/>
          <p:cNvSpPr/>
          <p:nvPr/>
        </p:nvSpPr>
        <p:spPr>
          <a:xfrm>
            <a:off x="685800" y="5212080"/>
            <a:ext cx="7040880" cy="274320"/>
          </a:xfrm>
          <a:prstGeom prst="rect">
            <a:avLst/>
          </a:prstGeom>
          <a:noFill/>
          <a:ln/>
        </p:spPr>
        <p:txBody>
          <a:bodyPr wrap="square" lIns="0" tIns="0" rIns="0" bIns="0" rtlCol="0" anchor="ctr"/>
          <a:lstStyle/>
          <a:p>
            <a:pPr indent="0" marL="0">
              <a:buNone/>
            </a:pPr>
            <a:r>
              <a:rPr lang="en-US" sz="1150" i="1" dirty="0">
                <a:solidFill>
                  <a:srgbClr val="6E7079"/>
                </a:solidFill>
                <a:latin typeface="Calibri" pitchFamily="34" charset="0"/>
                <a:ea typeface="Calibri" pitchFamily="34" charset="-122"/>
                <a:cs typeface="Calibri" pitchFamily="34" charset="-120"/>
              </a:rPr>
              <a:t>Figure 3.9 — Phase 1 and Phase 2</a:t>
            </a:r>
            <a:endParaRPr lang="en-US" sz="1150" dirty="0"/>
          </a:p>
        </p:txBody>
      </p:sp>
      <p:sp>
        <p:nvSpPr>
          <p:cNvPr id="8" name="Shape 5"/>
          <p:cNvSpPr/>
          <p:nvPr/>
        </p:nvSpPr>
        <p:spPr>
          <a:xfrm>
            <a:off x="8001000" y="1298448"/>
            <a:ext cx="3474720" cy="1371600"/>
          </a:xfrm>
          <a:prstGeom prst="roundRect">
            <a:avLst>
              <a:gd name="adj" fmla="val 6000"/>
            </a:avLst>
          </a:prstGeom>
          <a:solidFill>
            <a:srgbClr val="F4F5F7"/>
          </a:solidFill>
          <a:ln w="9525">
            <a:solidFill>
              <a:srgbClr val="E2E4E8"/>
            </a:solidFill>
            <a:prstDash val="solid"/>
          </a:ln>
        </p:spPr>
      </p:sp>
      <p:sp>
        <p:nvSpPr>
          <p:cNvPr id="9" name="Text 6"/>
          <p:cNvSpPr/>
          <p:nvPr/>
        </p:nvSpPr>
        <p:spPr>
          <a:xfrm>
            <a:off x="8092440" y="1444752"/>
            <a:ext cx="3291840" cy="603504"/>
          </a:xfrm>
          <a:prstGeom prst="rect">
            <a:avLst/>
          </a:prstGeom>
          <a:noFill/>
          <a:ln/>
        </p:spPr>
        <p:txBody>
          <a:bodyPr wrap="square" lIns="0" tIns="0" rIns="0" bIns="0" rtlCol="0" anchor="ctr"/>
          <a:lstStyle/>
          <a:p>
            <a:pPr algn="ctr" indent="0" marL="0">
              <a:buNone/>
            </a:pPr>
            <a:r>
              <a:rPr lang="en-US" sz="3200" b="1" dirty="0">
                <a:solidFill>
                  <a:srgbClr val="9E2A2B"/>
                </a:solidFill>
                <a:latin typeface="Cambria" pitchFamily="34" charset="0"/>
                <a:ea typeface="Cambria" pitchFamily="34" charset="-122"/>
                <a:cs typeface="Cambria" pitchFamily="34" charset="-120"/>
              </a:rPr>
              <a:t>RM 0</a:t>
            </a:r>
            <a:endParaRPr lang="en-US" sz="3200" dirty="0"/>
          </a:p>
        </p:txBody>
      </p:sp>
      <p:sp>
        <p:nvSpPr>
          <p:cNvPr id="10" name="Text 7"/>
          <p:cNvSpPr/>
          <p:nvPr/>
        </p:nvSpPr>
        <p:spPr>
          <a:xfrm>
            <a:off x="8110728" y="2084832"/>
            <a:ext cx="3255264" cy="457200"/>
          </a:xfrm>
          <a:prstGeom prst="rect">
            <a:avLst/>
          </a:prstGeom>
          <a:noFill/>
          <a:ln/>
        </p:spPr>
        <p:txBody>
          <a:bodyPr wrap="square" lIns="0" tIns="0" rIns="0" bIns="0" rtlCol="0" anchor="ctr"/>
          <a:lstStyle/>
          <a:p>
            <a:pPr algn="ctr" indent="0" marL="0">
              <a:lnSpc>
                <a:spcPts val="1500"/>
              </a:lnSpc>
              <a:buNone/>
            </a:pPr>
            <a:r>
              <a:rPr lang="en-US" sz="1200" dirty="0">
                <a:solidFill>
                  <a:srgbClr val="6E7079"/>
                </a:solidFill>
                <a:latin typeface="Calibri" pitchFamily="34" charset="0"/>
                <a:ea typeface="Calibri" pitchFamily="34" charset="-122"/>
                <a:cs typeface="Calibri" pitchFamily="34" charset="-120"/>
              </a:rPr>
              <a:t>recurring cost — the whole</a:t>
            </a:r>
            <a:endParaRPr lang="en-US" sz="1200" dirty="0"/>
          </a:p>
          <a:p>
            <a:pPr algn="ctr" indent="0" marL="0">
              <a:lnSpc>
                <a:spcPts val="1500"/>
              </a:lnSpc>
              <a:buNone/>
            </a:pPr>
            <a:r>
              <a:rPr lang="en-US" sz="1200" dirty="0">
                <a:solidFill>
                  <a:srgbClr val="6E7079"/>
                </a:solidFill>
                <a:latin typeface="Calibri" pitchFamily="34" charset="0"/>
                <a:ea typeface="Calibri" pitchFamily="34" charset="-122"/>
                <a:cs typeface="Calibri" pitchFamily="34" charset="-120"/>
              </a:rPr>
              <a:t>stack runs on free tiers</a:t>
            </a:r>
            <a:endParaRPr lang="en-US" sz="1200" dirty="0"/>
          </a:p>
        </p:txBody>
      </p:sp>
      <p:sp>
        <p:nvSpPr>
          <p:cNvPr id="11" name="Shape 8"/>
          <p:cNvSpPr/>
          <p:nvPr/>
        </p:nvSpPr>
        <p:spPr>
          <a:xfrm>
            <a:off x="8001000" y="2834640"/>
            <a:ext cx="3474720" cy="3108960"/>
          </a:xfrm>
          <a:prstGeom prst="roundRect">
            <a:avLst>
              <a:gd name="adj" fmla="val 2647"/>
            </a:avLst>
          </a:prstGeom>
          <a:solidFill>
            <a:srgbClr val="F3E4E4"/>
          </a:solidFill>
          <a:ln w="9525">
            <a:solidFill>
              <a:srgbClr val="E2E4E8"/>
            </a:solidFill>
            <a:prstDash val="solid"/>
          </a:ln>
        </p:spPr>
      </p:sp>
      <p:sp>
        <p:nvSpPr>
          <p:cNvPr id="12" name="Text 9"/>
          <p:cNvSpPr/>
          <p:nvPr/>
        </p:nvSpPr>
        <p:spPr>
          <a:xfrm>
            <a:off x="8229600" y="2999232"/>
            <a:ext cx="3063240" cy="292608"/>
          </a:xfrm>
          <a:prstGeom prst="rect">
            <a:avLst/>
          </a:prstGeom>
          <a:noFill/>
          <a:ln/>
        </p:spPr>
        <p:txBody>
          <a:bodyPr wrap="square" lIns="0" tIns="0" rIns="0" bIns="0" rtlCol="0" anchor="ctr"/>
          <a:lstStyle/>
          <a:p>
            <a:pPr indent="0" marL="0">
              <a:buNone/>
            </a:pPr>
            <a:r>
              <a:rPr lang="en-US" sz="1400" b="1" dirty="0">
                <a:solidFill>
                  <a:srgbClr val="6E1B1C"/>
                </a:solidFill>
                <a:latin typeface="Calibri" pitchFamily="34" charset="0"/>
                <a:ea typeface="Calibri" pitchFamily="34" charset="-122"/>
                <a:cs typeface="Calibri" pitchFamily="34" charset="-120"/>
              </a:rPr>
              <a:t>Route to market</a:t>
            </a:r>
            <a:endParaRPr lang="en-US" sz="1400" dirty="0"/>
          </a:p>
        </p:txBody>
      </p:sp>
      <p:sp>
        <p:nvSpPr>
          <p:cNvPr id="13" name="Text 10"/>
          <p:cNvSpPr/>
          <p:nvPr/>
        </p:nvSpPr>
        <p:spPr>
          <a:xfrm>
            <a:off x="8229600" y="3364992"/>
            <a:ext cx="3063240" cy="2377440"/>
          </a:xfrm>
          <a:prstGeom prst="rect">
            <a:avLst/>
          </a:prstGeom>
          <a:noFill/>
          <a:ln/>
        </p:spPr>
        <p:txBody>
          <a:bodyPr wrap="square" lIns="0" tIns="0" rIns="0" bIns="0" rtlCol="0" anchor="ctr"/>
          <a:lstStyle/>
          <a:p>
            <a:pPr indent="0" marL="0">
              <a:lnSpc>
                <a:spcPts val="1650"/>
              </a:lnSpc>
              <a:buNone/>
            </a:pPr>
            <a:r>
              <a:rPr lang="en-US" sz="1200" dirty="0">
                <a:solidFill>
                  <a:srgbClr val="6E1B1C"/>
                </a:solidFill>
                <a:latin typeface="Calibri" pitchFamily="34" charset="0"/>
                <a:ea typeface="Calibri" pitchFamily="34" charset="-122"/>
                <a:cs typeface="Calibri" pitchFamily="34" charset="-120"/>
              </a:rPr>
              <a:t>Because policy is configuration rather than code, the same platform serves another institution without modification.</a:t>
            </a:r>
            <a:endParaRPr lang="en-US" sz="1200" dirty="0"/>
          </a:p>
          <a:p>
            <a:pPr indent="0" marL="0">
              <a:lnSpc>
                <a:spcPts val="1650"/>
              </a:lnSpc>
              <a:buNone/>
            </a:pPr>
            <a:endParaRPr lang="en-US" sz="1200" dirty="0"/>
          </a:p>
          <a:p>
            <a:pPr indent="0" marL="0">
              <a:lnSpc>
                <a:spcPts val="1650"/>
              </a:lnSpc>
              <a:buNone/>
            </a:pPr>
            <a:r>
              <a:rPr lang="en-US" sz="1200" dirty="0">
                <a:solidFill>
                  <a:srgbClr val="6E1B1C"/>
                </a:solidFill>
                <a:latin typeface="Calibri" pitchFamily="34" charset="0"/>
                <a:ea typeface="Calibri" pitchFamily="34" charset="-122"/>
                <a:cs typeface="Calibri" pitchFamily="34" charset="-120"/>
              </a:rPr>
              <a:t>A per-institution subscription, with near-zero marginal cost for a small deployment.</a:t>
            </a:r>
            <a:endParaRPr lang="en-US" sz="1200" dirty="0"/>
          </a:p>
          <a:p>
            <a:pPr indent="0" marL="0">
              <a:lnSpc>
                <a:spcPts val="1650"/>
              </a:lnSpc>
              <a:buNone/>
            </a:pPr>
            <a:endParaRPr lang="en-US" sz="1200" dirty="0"/>
          </a:p>
          <a:p>
            <a:pPr indent="0" marL="0">
              <a:lnSpc>
                <a:spcPts val="1650"/>
              </a:lnSpc>
              <a:buNone/>
            </a:pPr>
            <a:r>
              <a:rPr lang="en-US" sz="1200" dirty="0">
                <a:solidFill>
                  <a:srgbClr val="6E1B1C"/>
                </a:solidFill>
                <a:latin typeface="Calibri" pitchFamily="34" charset="0"/>
                <a:ea typeface="Calibri" pitchFamily="34" charset="-122"/>
                <a:cs typeface="Calibri" pitchFamily="34" charset="-120"/>
              </a:rPr>
              <a:t>Corporate room-booking products exist, but campus needs — student roles, mixed facility types, approval hierarchies — are underserved. Private colleges first: shorter procurement.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48640" cy="548640"/>
          </a:xfrm>
          <a:prstGeom prst="ellipse">
            <a:avLst/>
          </a:prstGeom>
          <a:solidFill>
            <a:srgbClr val="9E2A2B"/>
          </a:solidFill>
          <a:ln/>
        </p:spPr>
      </p:sp>
      <p:sp>
        <p:nvSpPr>
          <p:cNvPr id="3" name="Text 1"/>
          <p:cNvSpPr/>
          <p:nvPr/>
        </p:nvSpPr>
        <p:spPr>
          <a:xfrm>
            <a:off x="566928" y="384048"/>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16</a:t>
            </a:r>
            <a:endParaRPr lang="en-US" sz="1900" dirty="0"/>
          </a:p>
        </p:txBody>
      </p:sp>
      <p:sp>
        <p:nvSpPr>
          <p:cNvPr id="4" name="Text 2"/>
          <p:cNvSpPr/>
          <p:nvPr/>
        </p:nvSpPr>
        <p:spPr>
          <a:xfrm>
            <a:off x="1298448" y="329184"/>
            <a:ext cx="10241280" cy="256032"/>
          </a:xfrm>
          <a:prstGeom prst="rect">
            <a:avLst/>
          </a:prstGeom>
          <a:noFill/>
          <a:ln/>
        </p:spPr>
        <p:txBody>
          <a:bodyPr wrap="square" lIns="0" tIns="0" rIns="0" bIns="0" rtlCol="0" anchor="ctr"/>
          <a:lstStyle/>
          <a:p>
            <a:pPr indent="0" marL="0">
              <a:buNone/>
            </a:pPr>
            <a:r>
              <a:rPr lang="en-US" sz="1100" spc="200" kern="0" dirty="0">
                <a:solidFill>
                  <a:srgbClr val="9E2A2B"/>
                </a:solidFill>
                <a:latin typeface="Calibri" pitchFamily="34" charset="0"/>
                <a:ea typeface="Calibri" pitchFamily="34" charset="-122"/>
                <a:cs typeface="Calibri" pitchFamily="34" charset="-120"/>
              </a:rPr>
              <a:t>CONCLUSION</a:t>
            </a:r>
            <a:endParaRPr lang="en-US" sz="1100" dirty="0"/>
          </a:p>
        </p:txBody>
      </p:sp>
      <p:sp>
        <p:nvSpPr>
          <p:cNvPr id="5" name="Text 3"/>
          <p:cNvSpPr/>
          <p:nvPr/>
        </p:nvSpPr>
        <p:spPr>
          <a:xfrm>
            <a:off x="1298448" y="566928"/>
            <a:ext cx="10241280" cy="502920"/>
          </a:xfrm>
          <a:prstGeom prst="rect">
            <a:avLst/>
          </a:prstGeom>
          <a:noFill/>
          <a:ln/>
        </p:spPr>
        <p:txBody>
          <a:bodyPr wrap="square" lIns="0" tIns="0" rIns="0" bIns="0" rtlCol="0" anchor="ctr"/>
          <a:lstStyle/>
          <a:p>
            <a:pPr indent="0" marL="0">
              <a:buNone/>
            </a:pPr>
            <a:r>
              <a:rPr lang="en-US" sz="2900" b="1" dirty="0">
                <a:solidFill>
                  <a:srgbClr val="1F2430"/>
                </a:solidFill>
                <a:latin typeface="Cambria" pitchFamily="34" charset="0"/>
                <a:ea typeface="Cambria" pitchFamily="34" charset="-122"/>
                <a:cs typeface="Cambria" pitchFamily="34" charset="-120"/>
              </a:rPr>
              <a:t>Current status and Phase 2</a:t>
            </a:r>
            <a:endParaRPr lang="en-US" sz="2900" dirty="0"/>
          </a:p>
        </p:txBody>
      </p:sp>
      <p:sp>
        <p:nvSpPr>
          <p:cNvPr id="6" name="Text 4"/>
          <p:cNvSpPr/>
          <p:nvPr/>
        </p:nvSpPr>
        <p:spPr>
          <a:xfrm>
            <a:off x="685800" y="1316736"/>
            <a:ext cx="5257800" cy="329184"/>
          </a:xfrm>
          <a:prstGeom prst="rect">
            <a:avLst/>
          </a:prstGeom>
          <a:noFill/>
          <a:ln/>
        </p:spPr>
        <p:txBody>
          <a:bodyPr wrap="square" lIns="0" tIns="0" rIns="0" bIns="0" rtlCol="0" anchor="ctr"/>
          <a:lstStyle/>
          <a:p>
            <a:pPr indent="0" marL="0">
              <a:buNone/>
            </a:pPr>
            <a:r>
              <a:rPr lang="en-US" sz="1800" b="1" dirty="0">
                <a:solidFill>
                  <a:srgbClr val="9E2A2B"/>
                </a:solidFill>
                <a:latin typeface="Cambria" pitchFamily="34" charset="0"/>
                <a:ea typeface="Cambria" pitchFamily="34" charset="-122"/>
                <a:cs typeface="Cambria" pitchFamily="34" charset="-120"/>
              </a:rPr>
              <a:t>Completed in Phase 1</a:t>
            </a:r>
            <a:endParaRPr lang="en-US" sz="1800" dirty="0"/>
          </a:p>
        </p:txBody>
      </p:sp>
      <p:sp>
        <p:nvSpPr>
          <p:cNvPr id="7" name="Shape 5"/>
          <p:cNvSpPr/>
          <p:nvPr/>
        </p:nvSpPr>
        <p:spPr>
          <a:xfrm>
            <a:off x="685800" y="1755648"/>
            <a:ext cx="5257800" cy="786384"/>
          </a:xfrm>
          <a:prstGeom prst="roundRect">
            <a:avLst>
              <a:gd name="adj" fmla="val 10465"/>
            </a:avLst>
          </a:prstGeom>
          <a:solidFill>
            <a:srgbClr val="F4F5F7"/>
          </a:solidFill>
          <a:ln w="9525">
            <a:solidFill>
              <a:srgbClr val="E2E4E8"/>
            </a:solidFill>
            <a:prstDash val="solid"/>
          </a:ln>
        </p:spPr>
      </p:sp>
      <p:sp>
        <p:nvSpPr>
          <p:cNvPr id="8" name="Text 6"/>
          <p:cNvSpPr/>
          <p:nvPr/>
        </p:nvSpPr>
        <p:spPr>
          <a:xfrm>
            <a:off x="932688" y="1828800"/>
            <a:ext cx="4800600" cy="640080"/>
          </a:xfrm>
          <a:prstGeom prst="rect">
            <a:avLst/>
          </a:prstGeom>
          <a:noFill/>
          <a:ln/>
        </p:spPr>
        <p:txBody>
          <a:bodyPr wrap="square" lIns="0" tIns="0" rIns="0" bIns="0" rtlCol="0" anchor="ctr"/>
          <a:lstStyle/>
          <a:p>
            <a:pPr indent="0" marL="0">
              <a:lnSpc>
                <a:spcPts val="1700"/>
              </a:lnSpc>
              <a:buNone/>
            </a:pPr>
            <a:r>
              <a:rPr lang="en-US" sz="1300" dirty="0">
                <a:solidFill>
                  <a:srgbClr val="1F2430"/>
                </a:solidFill>
                <a:latin typeface="Calibri" pitchFamily="34" charset="0"/>
                <a:ea typeface="Calibri" pitchFamily="34" charset="-122"/>
                <a:cs typeface="Calibri" pitchFamily="34" charset="-120"/>
              </a:rPr>
              <a:t>Eleven papers reviewed and verified; research gap established</a:t>
            </a:r>
            <a:endParaRPr lang="en-US" sz="1300" dirty="0"/>
          </a:p>
        </p:txBody>
      </p:sp>
      <p:sp>
        <p:nvSpPr>
          <p:cNvPr id="9" name="Shape 7"/>
          <p:cNvSpPr/>
          <p:nvPr/>
        </p:nvSpPr>
        <p:spPr>
          <a:xfrm>
            <a:off x="685800" y="2615184"/>
            <a:ext cx="5257800" cy="786384"/>
          </a:xfrm>
          <a:prstGeom prst="roundRect">
            <a:avLst>
              <a:gd name="adj" fmla="val 10465"/>
            </a:avLst>
          </a:prstGeom>
          <a:solidFill>
            <a:srgbClr val="F4F5F7"/>
          </a:solidFill>
          <a:ln w="9525">
            <a:solidFill>
              <a:srgbClr val="E2E4E8"/>
            </a:solidFill>
            <a:prstDash val="solid"/>
          </a:ln>
        </p:spPr>
      </p:sp>
      <p:sp>
        <p:nvSpPr>
          <p:cNvPr id="10" name="Text 8"/>
          <p:cNvSpPr/>
          <p:nvPr/>
        </p:nvSpPr>
        <p:spPr>
          <a:xfrm>
            <a:off x="932688" y="2688336"/>
            <a:ext cx="4800600" cy="640080"/>
          </a:xfrm>
          <a:prstGeom prst="rect">
            <a:avLst/>
          </a:prstGeom>
          <a:noFill/>
          <a:ln/>
        </p:spPr>
        <p:txBody>
          <a:bodyPr wrap="square" lIns="0" tIns="0" rIns="0" bIns="0" rtlCol="0" anchor="ctr"/>
          <a:lstStyle/>
          <a:p>
            <a:pPr indent="0" marL="0">
              <a:lnSpc>
                <a:spcPts val="1700"/>
              </a:lnSpc>
              <a:buNone/>
            </a:pPr>
            <a:r>
              <a:rPr lang="en-US" sz="1300" dirty="0">
                <a:solidFill>
                  <a:srgbClr val="1F2430"/>
                </a:solidFill>
                <a:latin typeface="Calibri" pitchFamily="34" charset="0"/>
                <a:ea typeface="Calibri" pitchFamily="34" charset="-122"/>
                <a:cs typeface="Calibri" pitchFamily="34" charset="-120"/>
              </a:rPr>
              <a:t>Concept design complete: architecture, twelve tables, derived rules</a:t>
            </a:r>
            <a:endParaRPr lang="en-US" sz="1300" dirty="0"/>
          </a:p>
        </p:txBody>
      </p:sp>
      <p:sp>
        <p:nvSpPr>
          <p:cNvPr id="11" name="Shape 9"/>
          <p:cNvSpPr/>
          <p:nvPr/>
        </p:nvSpPr>
        <p:spPr>
          <a:xfrm>
            <a:off x="685800" y="3474720"/>
            <a:ext cx="5257800" cy="786384"/>
          </a:xfrm>
          <a:prstGeom prst="roundRect">
            <a:avLst>
              <a:gd name="adj" fmla="val 10465"/>
            </a:avLst>
          </a:prstGeom>
          <a:solidFill>
            <a:srgbClr val="F4F5F7"/>
          </a:solidFill>
          <a:ln w="9525">
            <a:solidFill>
              <a:srgbClr val="E2E4E8"/>
            </a:solidFill>
            <a:prstDash val="solid"/>
          </a:ln>
        </p:spPr>
      </p:sp>
      <p:sp>
        <p:nvSpPr>
          <p:cNvPr id="12" name="Text 10"/>
          <p:cNvSpPr/>
          <p:nvPr/>
        </p:nvSpPr>
        <p:spPr>
          <a:xfrm>
            <a:off x="932688" y="3547872"/>
            <a:ext cx="4800600" cy="640080"/>
          </a:xfrm>
          <a:prstGeom prst="rect">
            <a:avLst/>
          </a:prstGeom>
          <a:noFill/>
          <a:ln/>
        </p:spPr>
        <p:txBody>
          <a:bodyPr wrap="square" lIns="0" tIns="0" rIns="0" bIns="0" rtlCol="0" anchor="ctr"/>
          <a:lstStyle/>
          <a:p>
            <a:pPr indent="0" marL="0">
              <a:lnSpc>
                <a:spcPts val="1700"/>
              </a:lnSpc>
              <a:buNone/>
            </a:pPr>
            <a:r>
              <a:rPr lang="en-US" sz="1300" dirty="0">
                <a:solidFill>
                  <a:srgbClr val="1F2430"/>
                </a:solidFill>
                <a:latin typeface="Calibri" pitchFamily="34" charset="0"/>
                <a:ea typeface="Calibri" pitchFamily="34" charset="-122"/>
                <a:cs typeface="Calibri" pitchFamily="34" charset="-120"/>
              </a:rPr>
              <a:t>Working prototype: booking, rule engine, recommender, assistant, analytics</a:t>
            </a:r>
            <a:endParaRPr lang="en-US" sz="1300" dirty="0"/>
          </a:p>
        </p:txBody>
      </p:sp>
      <p:sp>
        <p:nvSpPr>
          <p:cNvPr id="13" name="Shape 11"/>
          <p:cNvSpPr/>
          <p:nvPr/>
        </p:nvSpPr>
        <p:spPr>
          <a:xfrm>
            <a:off x="685800" y="4334256"/>
            <a:ext cx="5257800" cy="786384"/>
          </a:xfrm>
          <a:prstGeom prst="roundRect">
            <a:avLst>
              <a:gd name="adj" fmla="val 10465"/>
            </a:avLst>
          </a:prstGeom>
          <a:solidFill>
            <a:srgbClr val="F4F5F7"/>
          </a:solidFill>
          <a:ln w="9525">
            <a:solidFill>
              <a:srgbClr val="E2E4E8"/>
            </a:solidFill>
            <a:prstDash val="solid"/>
          </a:ln>
        </p:spPr>
      </p:sp>
      <p:sp>
        <p:nvSpPr>
          <p:cNvPr id="14" name="Text 12"/>
          <p:cNvSpPr/>
          <p:nvPr/>
        </p:nvSpPr>
        <p:spPr>
          <a:xfrm>
            <a:off x="932688" y="4407408"/>
            <a:ext cx="4800600" cy="640080"/>
          </a:xfrm>
          <a:prstGeom prst="rect">
            <a:avLst/>
          </a:prstGeom>
          <a:noFill/>
          <a:ln/>
        </p:spPr>
        <p:txBody>
          <a:bodyPr wrap="square" lIns="0" tIns="0" rIns="0" bIns="0" rtlCol="0" anchor="ctr"/>
          <a:lstStyle/>
          <a:p>
            <a:pPr indent="0" marL="0">
              <a:lnSpc>
                <a:spcPts val="1700"/>
              </a:lnSpc>
              <a:buNone/>
            </a:pPr>
            <a:r>
              <a:rPr lang="en-US" sz="1300" dirty="0">
                <a:solidFill>
                  <a:srgbClr val="1F2430"/>
                </a:solidFill>
                <a:latin typeface="Calibri" pitchFamily="34" charset="0"/>
                <a:ea typeface="Calibri" pitchFamily="34" charset="-122"/>
                <a:cs typeface="Calibri" pitchFamily="34" charset="-120"/>
              </a:rPr>
              <a:t>15 automated tests passing on the recommendation engine</a:t>
            </a:r>
            <a:endParaRPr lang="en-US" sz="1300" dirty="0"/>
          </a:p>
        </p:txBody>
      </p:sp>
      <p:sp>
        <p:nvSpPr>
          <p:cNvPr id="15" name="Text 13"/>
          <p:cNvSpPr/>
          <p:nvPr/>
        </p:nvSpPr>
        <p:spPr>
          <a:xfrm>
            <a:off x="6217920" y="1316736"/>
            <a:ext cx="5257800" cy="329184"/>
          </a:xfrm>
          <a:prstGeom prst="rect">
            <a:avLst/>
          </a:prstGeom>
          <a:noFill/>
          <a:ln/>
        </p:spPr>
        <p:txBody>
          <a:bodyPr wrap="square" lIns="0" tIns="0" rIns="0" bIns="0" rtlCol="0" anchor="ctr"/>
          <a:lstStyle/>
          <a:p>
            <a:pPr indent="0" marL="0">
              <a:buNone/>
            </a:pPr>
            <a:r>
              <a:rPr lang="en-US" sz="1800" b="1" dirty="0">
                <a:solidFill>
                  <a:srgbClr val="9E2A2B"/>
                </a:solidFill>
                <a:latin typeface="Cambria" pitchFamily="34" charset="0"/>
                <a:ea typeface="Cambria" pitchFamily="34" charset="-122"/>
                <a:cs typeface="Cambria" pitchFamily="34" charset="-120"/>
              </a:rPr>
              <a:t>Not yet claimed</a:t>
            </a:r>
            <a:endParaRPr lang="en-US" sz="1800" dirty="0"/>
          </a:p>
        </p:txBody>
      </p:sp>
      <p:sp>
        <p:nvSpPr>
          <p:cNvPr id="16" name="Shape 14"/>
          <p:cNvSpPr/>
          <p:nvPr/>
        </p:nvSpPr>
        <p:spPr>
          <a:xfrm>
            <a:off x="6217920" y="1755648"/>
            <a:ext cx="5257800" cy="786384"/>
          </a:xfrm>
          <a:prstGeom prst="roundRect">
            <a:avLst>
              <a:gd name="adj" fmla="val 10465"/>
            </a:avLst>
          </a:prstGeom>
          <a:solidFill>
            <a:srgbClr val="F3E4E4"/>
          </a:solidFill>
          <a:ln w="9525">
            <a:solidFill>
              <a:srgbClr val="E2E4E8"/>
            </a:solidFill>
            <a:prstDash val="solid"/>
          </a:ln>
        </p:spPr>
      </p:sp>
      <p:sp>
        <p:nvSpPr>
          <p:cNvPr id="17" name="Text 15"/>
          <p:cNvSpPr/>
          <p:nvPr/>
        </p:nvSpPr>
        <p:spPr>
          <a:xfrm>
            <a:off x="6464808" y="1828800"/>
            <a:ext cx="4800600" cy="640080"/>
          </a:xfrm>
          <a:prstGeom prst="rect">
            <a:avLst/>
          </a:prstGeom>
          <a:noFill/>
          <a:ln/>
        </p:spPr>
        <p:txBody>
          <a:bodyPr wrap="square" lIns="0" tIns="0" rIns="0" bIns="0" rtlCol="0" anchor="ctr"/>
          <a:lstStyle/>
          <a:p>
            <a:pPr indent="0" marL="0">
              <a:lnSpc>
                <a:spcPts val="1700"/>
              </a:lnSpc>
              <a:buNone/>
            </a:pPr>
            <a:r>
              <a:rPr lang="en-US" sz="1300" dirty="0">
                <a:solidFill>
                  <a:srgbClr val="6E1B1C"/>
                </a:solidFill>
                <a:latin typeface="Calibri" pitchFamily="34" charset="0"/>
                <a:ea typeface="Calibri" pitchFamily="34" charset="-122"/>
                <a:cs typeface="Calibri" pitchFamily="34" charset="-120"/>
              </a:rPr>
              <a:t>Recommendation quality is untested with real students until ethics clears</a:t>
            </a:r>
            <a:endParaRPr lang="en-US" sz="1300" dirty="0"/>
          </a:p>
        </p:txBody>
      </p:sp>
      <p:sp>
        <p:nvSpPr>
          <p:cNvPr id="18" name="Shape 16"/>
          <p:cNvSpPr/>
          <p:nvPr/>
        </p:nvSpPr>
        <p:spPr>
          <a:xfrm>
            <a:off x="6217920" y="2615184"/>
            <a:ext cx="5257800" cy="786384"/>
          </a:xfrm>
          <a:prstGeom prst="roundRect">
            <a:avLst>
              <a:gd name="adj" fmla="val 10465"/>
            </a:avLst>
          </a:prstGeom>
          <a:solidFill>
            <a:srgbClr val="F3E4E4"/>
          </a:solidFill>
          <a:ln w="9525">
            <a:solidFill>
              <a:srgbClr val="E2E4E8"/>
            </a:solidFill>
            <a:prstDash val="solid"/>
          </a:ln>
        </p:spPr>
      </p:sp>
      <p:sp>
        <p:nvSpPr>
          <p:cNvPr id="19" name="Text 17"/>
          <p:cNvSpPr/>
          <p:nvPr/>
        </p:nvSpPr>
        <p:spPr>
          <a:xfrm>
            <a:off x="6464808" y="2688336"/>
            <a:ext cx="4800600" cy="640080"/>
          </a:xfrm>
          <a:prstGeom prst="rect">
            <a:avLst/>
          </a:prstGeom>
          <a:noFill/>
          <a:ln/>
        </p:spPr>
        <p:txBody>
          <a:bodyPr wrap="square" lIns="0" tIns="0" rIns="0" bIns="0" rtlCol="0" anchor="ctr"/>
          <a:lstStyle/>
          <a:p>
            <a:pPr indent="0" marL="0">
              <a:lnSpc>
                <a:spcPts val="1700"/>
              </a:lnSpc>
              <a:buNone/>
            </a:pPr>
            <a:r>
              <a:rPr lang="en-US" sz="1300" dirty="0">
                <a:solidFill>
                  <a:srgbClr val="6E1B1C"/>
                </a:solidFill>
                <a:latin typeface="Calibri" pitchFamily="34" charset="0"/>
                <a:ea typeface="Calibri" pitchFamily="34" charset="-122"/>
                <a:cs typeface="Calibri" pitchFamily="34" charset="-120"/>
              </a:rPr>
              <a:t>Peak periods are fixed in code, not yet learned from booking history</a:t>
            </a:r>
            <a:endParaRPr lang="en-US" sz="1300" dirty="0"/>
          </a:p>
        </p:txBody>
      </p:sp>
      <p:sp>
        <p:nvSpPr>
          <p:cNvPr id="20" name="Shape 18"/>
          <p:cNvSpPr/>
          <p:nvPr/>
        </p:nvSpPr>
        <p:spPr>
          <a:xfrm>
            <a:off x="6217920" y="3474720"/>
            <a:ext cx="5257800" cy="786384"/>
          </a:xfrm>
          <a:prstGeom prst="roundRect">
            <a:avLst>
              <a:gd name="adj" fmla="val 10465"/>
            </a:avLst>
          </a:prstGeom>
          <a:solidFill>
            <a:srgbClr val="F3E4E4"/>
          </a:solidFill>
          <a:ln w="9525">
            <a:solidFill>
              <a:srgbClr val="E2E4E8"/>
            </a:solidFill>
            <a:prstDash val="solid"/>
          </a:ln>
        </p:spPr>
      </p:sp>
      <p:sp>
        <p:nvSpPr>
          <p:cNvPr id="21" name="Text 19"/>
          <p:cNvSpPr/>
          <p:nvPr/>
        </p:nvSpPr>
        <p:spPr>
          <a:xfrm>
            <a:off x="6464808" y="3547872"/>
            <a:ext cx="4800600" cy="640080"/>
          </a:xfrm>
          <a:prstGeom prst="rect">
            <a:avLst/>
          </a:prstGeom>
          <a:noFill/>
          <a:ln/>
        </p:spPr>
        <p:txBody>
          <a:bodyPr wrap="square" lIns="0" tIns="0" rIns="0" bIns="0" rtlCol="0" anchor="ctr"/>
          <a:lstStyle/>
          <a:p>
            <a:pPr indent="0" marL="0">
              <a:lnSpc>
                <a:spcPts val="1700"/>
              </a:lnSpc>
              <a:buNone/>
            </a:pPr>
            <a:r>
              <a:rPr lang="en-US" sz="1300" dirty="0">
                <a:solidFill>
                  <a:srgbClr val="6E1B1C"/>
                </a:solidFill>
                <a:latin typeface="Calibri" pitchFamily="34" charset="0"/>
                <a:ea typeface="Calibri" pitchFamily="34" charset="-122"/>
                <a:cs typeface="Calibri" pitchFamily="34" charset="-120"/>
              </a:rPr>
              <a:t>The cross-facility claim is proven in the schema, demonstrated on seven facilities</a:t>
            </a:r>
            <a:endParaRPr lang="en-US" sz="1300" dirty="0"/>
          </a:p>
        </p:txBody>
      </p:sp>
      <p:sp>
        <p:nvSpPr>
          <p:cNvPr id="22" name="Text 20"/>
          <p:cNvSpPr/>
          <p:nvPr/>
        </p:nvSpPr>
        <p:spPr>
          <a:xfrm>
            <a:off x="685800" y="5230368"/>
            <a:ext cx="10789920" cy="310896"/>
          </a:xfrm>
          <a:prstGeom prst="rect">
            <a:avLst/>
          </a:prstGeom>
          <a:noFill/>
          <a:ln/>
        </p:spPr>
        <p:txBody>
          <a:bodyPr wrap="square" lIns="0" tIns="0" rIns="0" bIns="0" rtlCol="0" anchor="ctr"/>
          <a:lstStyle/>
          <a:p>
            <a:pPr indent="0" marL="0">
              <a:buNone/>
            </a:pPr>
            <a:r>
              <a:rPr lang="en-US" sz="1500" b="1" dirty="0">
                <a:solidFill>
                  <a:srgbClr val="1F2430"/>
                </a:solidFill>
                <a:latin typeface="Calibri" pitchFamily="34" charset="0"/>
                <a:ea typeface="Calibri" pitchFamily="34" charset="-122"/>
                <a:cs typeface="Calibri" pitchFamily="34" charset="-120"/>
              </a:rPr>
              <a:t>Phase 2: evaluation, not implementation</a:t>
            </a:r>
            <a:endParaRPr lang="en-US" sz="1500" dirty="0"/>
          </a:p>
        </p:txBody>
      </p:sp>
      <p:sp>
        <p:nvSpPr>
          <p:cNvPr id="23" name="Shape 21"/>
          <p:cNvSpPr/>
          <p:nvPr/>
        </p:nvSpPr>
        <p:spPr>
          <a:xfrm>
            <a:off x="685800" y="5577840"/>
            <a:ext cx="2048256" cy="1005840"/>
          </a:xfrm>
          <a:prstGeom prst="roundRect">
            <a:avLst>
              <a:gd name="adj" fmla="val 8182"/>
            </a:avLst>
          </a:prstGeom>
          <a:solidFill>
            <a:srgbClr val="F4F5F7"/>
          </a:solidFill>
          <a:ln w="9525">
            <a:solidFill>
              <a:srgbClr val="E2E4E8"/>
            </a:solidFill>
            <a:prstDash val="solid"/>
          </a:ln>
        </p:spPr>
      </p:sp>
      <p:sp>
        <p:nvSpPr>
          <p:cNvPr id="24" name="Text 22"/>
          <p:cNvSpPr/>
          <p:nvPr/>
        </p:nvSpPr>
        <p:spPr>
          <a:xfrm>
            <a:off x="832104" y="5650992"/>
            <a:ext cx="1737360" cy="219456"/>
          </a:xfrm>
          <a:prstGeom prst="rect">
            <a:avLst/>
          </a:prstGeom>
          <a:noFill/>
          <a:ln/>
        </p:spPr>
        <p:txBody>
          <a:bodyPr wrap="square" lIns="0" tIns="0" rIns="0" bIns="0" rtlCol="0" anchor="ctr"/>
          <a:lstStyle/>
          <a:p>
            <a:pPr indent="0" marL="0">
              <a:buNone/>
            </a:pPr>
            <a:r>
              <a:rPr lang="en-US" sz="1100" b="1" dirty="0">
                <a:solidFill>
                  <a:srgbClr val="9E2A2B"/>
                </a:solidFill>
                <a:latin typeface="Calibri" pitchFamily="34" charset="0"/>
                <a:ea typeface="Calibri" pitchFamily="34" charset="-122"/>
                <a:cs typeface="Calibri" pitchFamily="34" charset="-120"/>
              </a:rPr>
              <a:t>Sep</a:t>
            </a:r>
            <a:endParaRPr lang="en-US" sz="1100" dirty="0"/>
          </a:p>
        </p:txBody>
      </p:sp>
      <p:sp>
        <p:nvSpPr>
          <p:cNvPr id="25" name="Text 23"/>
          <p:cNvSpPr/>
          <p:nvPr/>
        </p:nvSpPr>
        <p:spPr>
          <a:xfrm>
            <a:off x="832104" y="5870448"/>
            <a:ext cx="1773936" cy="365760"/>
          </a:xfrm>
          <a:prstGeom prst="rect">
            <a:avLst/>
          </a:prstGeom>
          <a:noFill/>
          <a:ln/>
        </p:spPr>
        <p:txBody>
          <a:bodyPr wrap="square" lIns="0" tIns="0" rIns="0" bIns="0" rtlCol="0" anchor="t"/>
          <a:lstStyle/>
          <a:p>
            <a:pPr indent="0" marL="0">
              <a:lnSpc>
                <a:spcPts val="1400"/>
              </a:lnSpc>
              <a:buNone/>
            </a:pPr>
            <a:r>
              <a:rPr lang="en-US" sz="1150" b="1" dirty="0">
                <a:solidFill>
                  <a:srgbClr val="1F2430"/>
                </a:solidFill>
                <a:latin typeface="Calibri" pitchFamily="34" charset="0"/>
                <a:ea typeface="Calibri" pitchFamily="34" charset="-122"/>
                <a:cs typeface="Calibri" pitchFamily="34" charset="-120"/>
              </a:rPr>
              <a:t>Ethics approval</a:t>
            </a:r>
            <a:endParaRPr lang="en-US" sz="1150" dirty="0"/>
          </a:p>
        </p:txBody>
      </p:sp>
      <p:sp>
        <p:nvSpPr>
          <p:cNvPr id="26" name="Text 24"/>
          <p:cNvSpPr/>
          <p:nvPr/>
        </p:nvSpPr>
        <p:spPr>
          <a:xfrm>
            <a:off x="832104" y="6254496"/>
            <a:ext cx="1773936" cy="256032"/>
          </a:xfrm>
          <a:prstGeom prst="rect">
            <a:avLst/>
          </a:prstGeom>
          <a:noFill/>
          <a:ln/>
        </p:spPr>
        <p:txBody>
          <a:bodyPr wrap="square" lIns="0" tIns="0" rIns="0" bIns="0" rtlCol="0" anchor="t"/>
          <a:lstStyle/>
          <a:p>
            <a:pPr indent="0" marL="0">
              <a:lnSpc>
                <a:spcPts val="1300"/>
              </a:lnSpc>
              <a:buNone/>
            </a:pPr>
            <a:r>
              <a:rPr lang="en-US" sz="1000" dirty="0">
                <a:solidFill>
                  <a:srgbClr val="6E7079"/>
                </a:solidFill>
                <a:latin typeface="Calibri" pitchFamily="34" charset="0"/>
                <a:ea typeface="Calibri" pitchFamily="34" charset="-122"/>
                <a:cs typeface="Calibri" pitchFamily="34" charset="-120"/>
              </a:rPr>
              <a:t>Gates everything below</a:t>
            </a:r>
            <a:endParaRPr lang="en-US" sz="1000" dirty="0"/>
          </a:p>
        </p:txBody>
      </p:sp>
      <p:sp>
        <p:nvSpPr>
          <p:cNvPr id="27" name="Shape 25"/>
          <p:cNvSpPr/>
          <p:nvPr/>
        </p:nvSpPr>
        <p:spPr>
          <a:xfrm>
            <a:off x="2880360" y="5577840"/>
            <a:ext cx="2048256" cy="1005840"/>
          </a:xfrm>
          <a:prstGeom prst="roundRect">
            <a:avLst>
              <a:gd name="adj" fmla="val 8182"/>
            </a:avLst>
          </a:prstGeom>
          <a:solidFill>
            <a:srgbClr val="F4F5F7"/>
          </a:solidFill>
          <a:ln w="9525">
            <a:solidFill>
              <a:srgbClr val="E2E4E8"/>
            </a:solidFill>
            <a:prstDash val="solid"/>
          </a:ln>
        </p:spPr>
      </p:sp>
      <p:sp>
        <p:nvSpPr>
          <p:cNvPr id="28" name="Text 26"/>
          <p:cNvSpPr/>
          <p:nvPr/>
        </p:nvSpPr>
        <p:spPr>
          <a:xfrm>
            <a:off x="3026664" y="5650992"/>
            <a:ext cx="1737360" cy="219456"/>
          </a:xfrm>
          <a:prstGeom prst="rect">
            <a:avLst/>
          </a:prstGeom>
          <a:noFill/>
          <a:ln/>
        </p:spPr>
        <p:txBody>
          <a:bodyPr wrap="square" lIns="0" tIns="0" rIns="0" bIns="0" rtlCol="0" anchor="ctr"/>
          <a:lstStyle/>
          <a:p>
            <a:pPr indent="0" marL="0">
              <a:buNone/>
            </a:pPr>
            <a:r>
              <a:rPr lang="en-US" sz="1100" b="1" dirty="0">
                <a:solidFill>
                  <a:srgbClr val="9E2A2B"/>
                </a:solidFill>
                <a:latin typeface="Calibri" pitchFamily="34" charset="0"/>
                <a:ea typeface="Calibri" pitchFamily="34" charset="-122"/>
                <a:cs typeface="Calibri" pitchFamily="34" charset="-120"/>
              </a:rPr>
              <a:t>Oct–Nov</a:t>
            </a:r>
            <a:endParaRPr lang="en-US" sz="1100" dirty="0"/>
          </a:p>
        </p:txBody>
      </p:sp>
      <p:sp>
        <p:nvSpPr>
          <p:cNvPr id="29" name="Text 27"/>
          <p:cNvSpPr/>
          <p:nvPr/>
        </p:nvSpPr>
        <p:spPr>
          <a:xfrm>
            <a:off x="3026664" y="5870448"/>
            <a:ext cx="1773936" cy="365760"/>
          </a:xfrm>
          <a:prstGeom prst="rect">
            <a:avLst/>
          </a:prstGeom>
          <a:noFill/>
          <a:ln/>
        </p:spPr>
        <p:txBody>
          <a:bodyPr wrap="square" lIns="0" tIns="0" rIns="0" bIns="0" rtlCol="0" anchor="t"/>
          <a:lstStyle/>
          <a:p>
            <a:pPr indent="0" marL="0">
              <a:lnSpc>
                <a:spcPts val="1400"/>
              </a:lnSpc>
              <a:buNone/>
            </a:pPr>
            <a:r>
              <a:rPr lang="en-US" sz="1150" b="1" dirty="0">
                <a:solidFill>
                  <a:srgbClr val="1F2430"/>
                </a:solidFill>
                <a:latin typeface="Calibri" pitchFamily="34" charset="0"/>
                <a:ea typeface="Calibri" pitchFamily="34" charset="-122"/>
                <a:cs typeface="Calibri" pitchFamily="34" charset="-120"/>
              </a:rPr>
              <a:t>Harden and instrument</a:t>
            </a:r>
            <a:endParaRPr lang="en-US" sz="1150" dirty="0"/>
          </a:p>
        </p:txBody>
      </p:sp>
      <p:sp>
        <p:nvSpPr>
          <p:cNvPr id="30" name="Text 28"/>
          <p:cNvSpPr/>
          <p:nvPr/>
        </p:nvSpPr>
        <p:spPr>
          <a:xfrm>
            <a:off x="3026664" y="6254496"/>
            <a:ext cx="1773936" cy="256032"/>
          </a:xfrm>
          <a:prstGeom prst="rect">
            <a:avLst/>
          </a:prstGeom>
          <a:noFill/>
          <a:ln/>
        </p:spPr>
        <p:txBody>
          <a:bodyPr wrap="square" lIns="0" tIns="0" rIns="0" bIns="0" rtlCol="0" anchor="t"/>
          <a:lstStyle/>
          <a:p>
            <a:pPr indent="0" marL="0">
              <a:lnSpc>
                <a:spcPts val="1300"/>
              </a:lnSpc>
              <a:buNone/>
            </a:pPr>
            <a:r>
              <a:rPr lang="en-US" sz="1000" dirty="0">
                <a:solidFill>
                  <a:srgbClr val="6E7079"/>
                </a:solidFill>
                <a:latin typeface="Calibri" pitchFamily="34" charset="0"/>
                <a:ea typeface="Calibri" pitchFamily="34" charset="-122"/>
                <a:cs typeface="Calibri" pitchFamily="34" charset="-120"/>
              </a:rPr>
              <a:t>Seed data, edge cases, logging</a:t>
            </a:r>
            <a:endParaRPr lang="en-US" sz="1000" dirty="0"/>
          </a:p>
        </p:txBody>
      </p:sp>
      <p:sp>
        <p:nvSpPr>
          <p:cNvPr id="31" name="Shape 29"/>
          <p:cNvSpPr/>
          <p:nvPr/>
        </p:nvSpPr>
        <p:spPr>
          <a:xfrm>
            <a:off x="5074920" y="5577840"/>
            <a:ext cx="2048256" cy="1005840"/>
          </a:xfrm>
          <a:prstGeom prst="roundRect">
            <a:avLst>
              <a:gd name="adj" fmla="val 8182"/>
            </a:avLst>
          </a:prstGeom>
          <a:solidFill>
            <a:srgbClr val="F4F5F7"/>
          </a:solidFill>
          <a:ln w="9525">
            <a:solidFill>
              <a:srgbClr val="E2E4E8"/>
            </a:solidFill>
            <a:prstDash val="solid"/>
          </a:ln>
        </p:spPr>
      </p:sp>
      <p:sp>
        <p:nvSpPr>
          <p:cNvPr id="32" name="Text 30"/>
          <p:cNvSpPr/>
          <p:nvPr/>
        </p:nvSpPr>
        <p:spPr>
          <a:xfrm>
            <a:off x="5221224" y="5650992"/>
            <a:ext cx="1737360" cy="219456"/>
          </a:xfrm>
          <a:prstGeom prst="rect">
            <a:avLst/>
          </a:prstGeom>
          <a:noFill/>
          <a:ln/>
        </p:spPr>
        <p:txBody>
          <a:bodyPr wrap="square" lIns="0" tIns="0" rIns="0" bIns="0" rtlCol="0" anchor="ctr"/>
          <a:lstStyle/>
          <a:p>
            <a:pPr indent="0" marL="0">
              <a:buNone/>
            </a:pPr>
            <a:r>
              <a:rPr lang="en-US" sz="1100" b="1" dirty="0">
                <a:solidFill>
                  <a:srgbClr val="9E2A2B"/>
                </a:solidFill>
                <a:latin typeface="Calibri" pitchFamily="34" charset="0"/>
                <a:ea typeface="Calibri" pitchFamily="34" charset="-122"/>
                <a:cs typeface="Calibri" pitchFamily="34" charset="-120"/>
              </a:rPr>
              <a:t>Nov–Dec</a:t>
            </a:r>
            <a:endParaRPr lang="en-US" sz="1100" dirty="0"/>
          </a:p>
        </p:txBody>
      </p:sp>
      <p:sp>
        <p:nvSpPr>
          <p:cNvPr id="33" name="Text 31"/>
          <p:cNvSpPr/>
          <p:nvPr/>
        </p:nvSpPr>
        <p:spPr>
          <a:xfrm>
            <a:off x="5221224" y="5870448"/>
            <a:ext cx="1773936" cy="365760"/>
          </a:xfrm>
          <a:prstGeom prst="rect">
            <a:avLst/>
          </a:prstGeom>
          <a:noFill/>
          <a:ln/>
        </p:spPr>
        <p:txBody>
          <a:bodyPr wrap="square" lIns="0" tIns="0" rIns="0" bIns="0" rtlCol="0" anchor="t"/>
          <a:lstStyle/>
          <a:p>
            <a:pPr indent="0" marL="0">
              <a:lnSpc>
                <a:spcPts val="1400"/>
              </a:lnSpc>
              <a:buNone/>
            </a:pPr>
            <a:r>
              <a:rPr lang="en-US" sz="1150" b="1" dirty="0">
                <a:solidFill>
                  <a:srgbClr val="1F2430"/>
                </a:solidFill>
                <a:latin typeface="Calibri" pitchFamily="34" charset="0"/>
                <a:ea typeface="Calibri" pitchFamily="34" charset="-122"/>
                <a:cs typeface="Calibri" pitchFamily="34" charset="-120"/>
              </a:rPr>
              <a:t>User acceptance testing</a:t>
            </a:r>
            <a:endParaRPr lang="en-US" sz="1150" dirty="0"/>
          </a:p>
        </p:txBody>
      </p:sp>
      <p:sp>
        <p:nvSpPr>
          <p:cNvPr id="34" name="Text 32"/>
          <p:cNvSpPr/>
          <p:nvPr/>
        </p:nvSpPr>
        <p:spPr>
          <a:xfrm>
            <a:off x="5221224" y="6254496"/>
            <a:ext cx="1773936" cy="256032"/>
          </a:xfrm>
          <a:prstGeom prst="rect">
            <a:avLst/>
          </a:prstGeom>
          <a:noFill/>
          <a:ln/>
        </p:spPr>
        <p:txBody>
          <a:bodyPr wrap="square" lIns="0" tIns="0" rIns="0" bIns="0" rtlCol="0" anchor="t"/>
          <a:lstStyle/>
          <a:p>
            <a:pPr indent="0" marL="0">
              <a:lnSpc>
                <a:spcPts val="1300"/>
              </a:lnSpc>
              <a:buNone/>
            </a:pPr>
            <a:r>
              <a:rPr lang="en-US" sz="1000" dirty="0">
                <a:solidFill>
                  <a:srgbClr val="6E7079"/>
                </a:solidFill>
                <a:latin typeface="Calibri" pitchFamily="34" charset="0"/>
                <a:ea typeface="Calibri" pitchFamily="34" charset="-122"/>
                <a:cs typeface="Calibri" pitchFamily="34" charset="-120"/>
              </a:rPr>
              <a:t>All five targets measured</a:t>
            </a:r>
            <a:endParaRPr lang="en-US" sz="1000" dirty="0"/>
          </a:p>
        </p:txBody>
      </p:sp>
      <p:sp>
        <p:nvSpPr>
          <p:cNvPr id="35" name="Shape 33"/>
          <p:cNvSpPr/>
          <p:nvPr/>
        </p:nvSpPr>
        <p:spPr>
          <a:xfrm>
            <a:off x="7269480" y="5577840"/>
            <a:ext cx="2048256" cy="1005840"/>
          </a:xfrm>
          <a:prstGeom prst="roundRect">
            <a:avLst>
              <a:gd name="adj" fmla="val 8182"/>
            </a:avLst>
          </a:prstGeom>
          <a:solidFill>
            <a:srgbClr val="F4F5F7"/>
          </a:solidFill>
          <a:ln w="9525">
            <a:solidFill>
              <a:srgbClr val="E2E4E8"/>
            </a:solidFill>
            <a:prstDash val="solid"/>
          </a:ln>
        </p:spPr>
      </p:sp>
      <p:sp>
        <p:nvSpPr>
          <p:cNvPr id="36" name="Text 34"/>
          <p:cNvSpPr/>
          <p:nvPr/>
        </p:nvSpPr>
        <p:spPr>
          <a:xfrm>
            <a:off x="7415784" y="5650992"/>
            <a:ext cx="1737360" cy="219456"/>
          </a:xfrm>
          <a:prstGeom prst="rect">
            <a:avLst/>
          </a:prstGeom>
          <a:noFill/>
          <a:ln/>
        </p:spPr>
        <p:txBody>
          <a:bodyPr wrap="square" lIns="0" tIns="0" rIns="0" bIns="0" rtlCol="0" anchor="ctr"/>
          <a:lstStyle/>
          <a:p>
            <a:pPr indent="0" marL="0">
              <a:buNone/>
            </a:pPr>
            <a:r>
              <a:rPr lang="en-US" sz="1100" b="1" dirty="0">
                <a:solidFill>
                  <a:srgbClr val="9E2A2B"/>
                </a:solidFill>
                <a:latin typeface="Calibri" pitchFamily="34" charset="0"/>
                <a:ea typeface="Calibri" pitchFamily="34" charset="-122"/>
                <a:cs typeface="Calibri" pitchFamily="34" charset="-120"/>
              </a:rPr>
              <a:t>Dec–Jan</a:t>
            </a:r>
            <a:endParaRPr lang="en-US" sz="1100" dirty="0"/>
          </a:p>
        </p:txBody>
      </p:sp>
      <p:sp>
        <p:nvSpPr>
          <p:cNvPr id="37" name="Text 35"/>
          <p:cNvSpPr/>
          <p:nvPr/>
        </p:nvSpPr>
        <p:spPr>
          <a:xfrm>
            <a:off x="7415784" y="5870448"/>
            <a:ext cx="1773936" cy="365760"/>
          </a:xfrm>
          <a:prstGeom prst="rect">
            <a:avLst/>
          </a:prstGeom>
          <a:noFill/>
          <a:ln/>
        </p:spPr>
        <p:txBody>
          <a:bodyPr wrap="square" lIns="0" tIns="0" rIns="0" bIns="0" rtlCol="0" anchor="t"/>
          <a:lstStyle/>
          <a:p>
            <a:pPr indent="0" marL="0">
              <a:lnSpc>
                <a:spcPts val="1400"/>
              </a:lnSpc>
              <a:buNone/>
            </a:pPr>
            <a:r>
              <a:rPr lang="en-US" sz="1150" b="1" dirty="0">
                <a:solidFill>
                  <a:srgbClr val="1F2430"/>
                </a:solidFill>
                <a:latin typeface="Calibri" pitchFamily="34" charset="0"/>
                <a:ea typeface="Calibri" pitchFamily="34" charset="-122"/>
                <a:cs typeface="Calibri" pitchFamily="34" charset="-120"/>
              </a:rPr>
              <a:t>Analyse and write up</a:t>
            </a:r>
            <a:endParaRPr lang="en-US" sz="1150" dirty="0"/>
          </a:p>
        </p:txBody>
      </p:sp>
      <p:sp>
        <p:nvSpPr>
          <p:cNvPr id="38" name="Text 36"/>
          <p:cNvSpPr/>
          <p:nvPr/>
        </p:nvSpPr>
        <p:spPr>
          <a:xfrm>
            <a:off x="7415784" y="6254496"/>
            <a:ext cx="1773936" cy="256032"/>
          </a:xfrm>
          <a:prstGeom prst="rect">
            <a:avLst/>
          </a:prstGeom>
          <a:noFill/>
          <a:ln/>
        </p:spPr>
        <p:txBody>
          <a:bodyPr wrap="square" lIns="0" tIns="0" rIns="0" bIns="0" rtlCol="0" anchor="t"/>
          <a:lstStyle/>
          <a:p>
            <a:pPr indent="0" marL="0">
              <a:lnSpc>
                <a:spcPts val="1300"/>
              </a:lnSpc>
              <a:buNone/>
            </a:pPr>
            <a:r>
              <a:rPr lang="en-US" sz="1000" dirty="0">
                <a:solidFill>
                  <a:srgbClr val="6E7079"/>
                </a:solidFill>
                <a:latin typeface="Calibri" pitchFamily="34" charset="0"/>
                <a:ea typeface="Calibri" pitchFamily="34" charset="-122"/>
                <a:cs typeface="Calibri" pitchFamily="34" charset="-120"/>
              </a:rPr>
              <a:t>Measured values, not estimates</a:t>
            </a:r>
            <a:endParaRPr lang="en-US" sz="1000" dirty="0"/>
          </a:p>
        </p:txBody>
      </p:sp>
      <p:sp>
        <p:nvSpPr>
          <p:cNvPr id="39" name="Shape 37"/>
          <p:cNvSpPr/>
          <p:nvPr/>
        </p:nvSpPr>
        <p:spPr>
          <a:xfrm>
            <a:off x="9464040" y="5577840"/>
            <a:ext cx="2048256" cy="1005840"/>
          </a:xfrm>
          <a:prstGeom prst="roundRect">
            <a:avLst>
              <a:gd name="adj" fmla="val 8182"/>
            </a:avLst>
          </a:prstGeom>
          <a:solidFill>
            <a:srgbClr val="F4F5F7"/>
          </a:solidFill>
          <a:ln w="9525">
            <a:solidFill>
              <a:srgbClr val="E2E4E8"/>
            </a:solidFill>
            <a:prstDash val="solid"/>
          </a:ln>
        </p:spPr>
      </p:sp>
      <p:sp>
        <p:nvSpPr>
          <p:cNvPr id="40" name="Text 38"/>
          <p:cNvSpPr/>
          <p:nvPr/>
        </p:nvSpPr>
        <p:spPr>
          <a:xfrm>
            <a:off x="9610344" y="5650992"/>
            <a:ext cx="1737360" cy="219456"/>
          </a:xfrm>
          <a:prstGeom prst="rect">
            <a:avLst/>
          </a:prstGeom>
          <a:noFill/>
          <a:ln/>
        </p:spPr>
        <p:txBody>
          <a:bodyPr wrap="square" lIns="0" tIns="0" rIns="0" bIns="0" rtlCol="0" anchor="ctr"/>
          <a:lstStyle/>
          <a:p>
            <a:pPr indent="0" marL="0">
              <a:buNone/>
            </a:pPr>
            <a:r>
              <a:rPr lang="en-US" sz="1100" b="1" dirty="0">
                <a:solidFill>
                  <a:srgbClr val="9E2A2B"/>
                </a:solidFill>
                <a:latin typeface="Calibri" pitchFamily="34" charset="0"/>
                <a:ea typeface="Calibri" pitchFamily="34" charset="-122"/>
                <a:cs typeface="Calibri" pitchFamily="34" charset="-120"/>
              </a:rPr>
              <a:t>Jan</a:t>
            </a:r>
            <a:endParaRPr lang="en-US" sz="1100" dirty="0"/>
          </a:p>
        </p:txBody>
      </p:sp>
      <p:sp>
        <p:nvSpPr>
          <p:cNvPr id="41" name="Text 39"/>
          <p:cNvSpPr/>
          <p:nvPr/>
        </p:nvSpPr>
        <p:spPr>
          <a:xfrm>
            <a:off x="9610344" y="5870448"/>
            <a:ext cx="1773936" cy="365760"/>
          </a:xfrm>
          <a:prstGeom prst="rect">
            <a:avLst/>
          </a:prstGeom>
          <a:noFill/>
          <a:ln/>
        </p:spPr>
        <p:txBody>
          <a:bodyPr wrap="square" lIns="0" tIns="0" rIns="0" bIns="0" rtlCol="0" anchor="t"/>
          <a:lstStyle/>
          <a:p>
            <a:pPr indent="0" marL="0">
              <a:lnSpc>
                <a:spcPts val="1400"/>
              </a:lnSpc>
              <a:buNone/>
            </a:pPr>
            <a:r>
              <a:rPr lang="en-US" sz="1150" b="1" dirty="0">
                <a:solidFill>
                  <a:srgbClr val="1F2430"/>
                </a:solidFill>
                <a:latin typeface="Calibri" pitchFamily="34" charset="0"/>
                <a:ea typeface="Calibri" pitchFamily="34" charset="-122"/>
                <a:cs typeface="Calibri" pitchFamily="34" charset="-120"/>
              </a:rPr>
              <a:t>Final report, poster, viva</a:t>
            </a:r>
            <a:endParaRPr lang="en-US" sz="1150" dirty="0"/>
          </a:p>
        </p:txBody>
      </p:sp>
      <p:sp>
        <p:nvSpPr>
          <p:cNvPr id="42" name="Text 40"/>
          <p:cNvSpPr/>
          <p:nvPr/>
        </p:nvSpPr>
        <p:spPr>
          <a:xfrm>
            <a:off x="9610344" y="6254496"/>
            <a:ext cx="1773936" cy="256032"/>
          </a:xfrm>
          <a:prstGeom prst="rect">
            <a:avLst/>
          </a:prstGeom>
          <a:noFill/>
          <a:ln/>
        </p:spPr>
        <p:txBody>
          <a:bodyPr wrap="square" lIns="0" tIns="0" rIns="0" bIns="0" rtlCol="0" anchor="t"/>
          <a:lstStyle/>
          <a:p>
            <a:pPr indent="0" marL="0">
              <a:lnSpc>
                <a:spcPts val="1300"/>
              </a:lnSpc>
              <a:buNone/>
            </a:pPr>
            <a:r>
              <a:rPr lang="en-US" sz="1000" dirty="0">
                <a:solidFill>
                  <a:srgbClr val="6E7079"/>
                </a:solidFill>
                <a:latin typeface="Calibri" pitchFamily="34" charset="0"/>
                <a:ea typeface="Calibri" pitchFamily="34" charset="-122"/>
                <a:cs typeface="Calibri" pitchFamily="34" charset="-120"/>
              </a:rPr>
              <a:t>Hardbound submission</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48640" cy="548640"/>
          </a:xfrm>
          <a:prstGeom prst="ellipse">
            <a:avLst/>
          </a:prstGeom>
          <a:solidFill>
            <a:srgbClr val="9E2A2B"/>
          </a:solidFill>
          <a:ln/>
        </p:spPr>
      </p:sp>
      <p:sp>
        <p:nvSpPr>
          <p:cNvPr id="3" name="Text 1"/>
          <p:cNvSpPr/>
          <p:nvPr/>
        </p:nvSpPr>
        <p:spPr>
          <a:xfrm>
            <a:off x="566928" y="384048"/>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17</a:t>
            </a:r>
            <a:endParaRPr lang="en-US" sz="1900" dirty="0"/>
          </a:p>
        </p:txBody>
      </p:sp>
      <p:sp>
        <p:nvSpPr>
          <p:cNvPr id="4" name="Text 2"/>
          <p:cNvSpPr/>
          <p:nvPr/>
        </p:nvSpPr>
        <p:spPr>
          <a:xfrm>
            <a:off x="1298448" y="329184"/>
            <a:ext cx="10241280" cy="256032"/>
          </a:xfrm>
          <a:prstGeom prst="rect">
            <a:avLst/>
          </a:prstGeom>
          <a:noFill/>
          <a:ln/>
        </p:spPr>
        <p:txBody>
          <a:bodyPr wrap="square" lIns="0" tIns="0" rIns="0" bIns="0" rtlCol="0" anchor="ctr"/>
          <a:lstStyle/>
          <a:p>
            <a:pPr indent="0" marL="0">
              <a:buNone/>
            </a:pPr>
            <a:r>
              <a:rPr lang="en-US" sz="1100" spc="200" kern="0" dirty="0">
                <a:solidFill>
                  <a:srgbClr val="9E2A2B"/>
                </a:solidFill>
                <a:latin typeface="Calibri" pitchFamily="34" charset="0"/>
                <a:ea typeface="Calibri" pitchFamily="34" charset="-122"/>
                <a:cs typeface="Calibri" pitchFamily="34" charset="-120"/>
              </a:rPr>
              <a:t>REFERENCES</a:t>
            </a:r>
            <a:endParaRPr lang="en-US" sz="1100" dirty="0"/>
          </a:p>
        </p:txBody>
      </p:sp>
      <p:sp>
        <p:nvSpPr>
          <p:cNvPr id="5" name="Text 3"/>
          <p:cNvSpPr/>
          <p:nvPr/>
        </p:nvSpPr>
        <p:spPr>
          <a:xfrm>
            <a:off x="1298448" y="566928"/>
            <a:ext cx="10241280" cy="502920"/>
          </a:xfrm>
          <a:prstGeom prst="rect">
            <a:avLst/>
          </a:prstGeom>
          <a:noFill/>
          <a:ln/>
        </p:spPr>
        <p:txBody>
          <a:bodyPr wrap="square" lIns="0" tIns="0" rIns="0" bIns="0" rtlCol="0" anchor="ctr"/>
          <a:lstStyle/>
          <a:p>
            <a:pPr indent="0" marL="0">
              <a:buNone/>
            </a:pPr>
            <a:r>
              <a:rPr lang="en-US" sz="2900" b="1" dirty="0">
                <a:solidFill>
                  <a:srgbClr val="1F2430"/>
                </a:solidFill>
                <a:latin typeface="Cambria" pitchFamily="34" charset="0"/>
                <a:ea typeface="Cambria" pitchFamily="34" charset="-122"/>
                <a:cs typeface="Cambria" pitchFamily="34" charset="-120"/>
              </a:rPr>
              <a:t>References</a:t>
            </a:r>
            <a:endParaRPr lang="en-US" sz="2900" dirty="0"/>
          </a:p>
        </p:txBody>
      </p:sp>
      <p:sp>
        <p:nvSpPr>
          <p:cNvPr id="6" name="Text 4"/>
          <p:cNvSpPr/>
          <p:nvPr/>
        </p:nvSpPr>
        <p:spPr>
          <a:xfrm>
            <a:off x="685800" y="1280160"/>
            <a:ext cx="10789920" cy="4937760"/>
          </a:xfrm>
          <a:prstGeom prst="rect">
            <a:avLst/>
          </a:prstGeom>
          <a:noFill/>
          <a:ln/>
        </p:spPr>
        <p:txBody>
          <a:bodyPr wrap="square" lIns="0" tIns="0" rIns="0" bIns="0" rtlCol="0" anchor="t"/>
          <a:lstStyle/>
          <a:p>
            <a:pPr indent="0" marL="0">
              <a:spcAft>
                <a:spcPts val="700"/>
              </a:spcAft>
              <a:buNone/>
            </a:pPr>
            <a:r>
              <a:rPr lang="en-US" sz="1150" dirty="0">
                <a:solidFill>
                  <a:srgbClr val="1F2430"/>
                </a:solidFill>
                <a:latin typeface="Calibri" pitchFamily="34" charset="0"/>
                <a:ea typeface="Calibri" pitchFamily="34" charset="-122"/>
                <a:cs typeface="Calibri" pitchFamily="34" charset="-120"/>
              </a:rPr>
              <a:t>Antony, A., Maria Thomas, L., K Suresh, M., Sony, M., &amp; Saritha R, R. (2026). EDUNEXUS: College facility booking platform. IJOEST, 10(1), 36–38.</a:t>
            </a:r>
            <a:endParaRPr lang="en-US" sz="1150" dirty="0"/>
          </a:p>
          <a:p>
            <a:pPr indent="0" marL="0">
              <a:spcAft>
                <a:spcPts val="700"/>
              </a:spcAft>
              <a:buNone/>
            </a:pPr>
            <a:r>
              <a:rPr lang="en-US" sz="1150" dirty="0">
                <a:solidFill>
                  <a:srgbClr val="1F2430"/>
                </a:solidFill>
                <a:latin typeface="Calibri" pitchFamily="34" charset="0"/>
                <a:ea typeface="Calibri" pitchFamily="34" charset="-122"/>
                <a:cs typeface="Calibri" pitchFamily="34" charset="-120"/>
              </a:rPr>
              <a:t>Artes, A. L., Lorzano, E. R., Tayam, J. R., &amp; Intal, G. L. (2024). Cardinal Reserve: A proposed online room reservation system for a HEI. MSIE 2024, 108–118.</a:t>
            </a:r>
            <a:endParaRPr lang="en-US" sz="1150" dirty="0"/>
          </a:p>
          <a:p>
            <a:pPr indent="0" marL="0">
              <a:spcAft>
                <a:spcPts val="700"/>
              </a:spcAft>
              <a:buNone/>
            </a:pPr>
            <a:r>
              <a:rPr lang="en-US" sz="1150" dirty="0">
                <a:solidFill>
                  <a:srgbClr val="1F2430"/>
                </a:solidFill>
                <a:latin typeface="Calibri" pitchFamily="34" charset="0"/>
                <a:ea typeface="Calibri" pitchFamily="34" charset="-122"/>
                <a:cs typeface="Calibri" pitchFamily="34" charset="-120"/>
              </a:rPr>
              <a:t>Dempere, J., Modugu, K., Hesham, A., &amp; Ramasamy, L. K. (2023). The impact of ChatGPT on higher education. Frontiers in Education, 8, 1206936.</a:t>
            </a:r>
            <a:endParaRPr lang="en-US" sz="1150" dirty="0"/>
          </a:p>
          <a:p>
            <a:pPr indent="0" marL="0">
              <a:spcAft>
                <a:spcPts val="700"/>
              </a:spcAft>
              <a:buNone/>
            </a:pPr>
            <a:r>
              <a:rPr lang="en-US" sz="1150" dirty="0">
                <a:solidFill>
                  <a:srgbClr val="1F2430"/>
                </a:solidFill>
                <a:latin typeface="Calibri" pitchFamily="34" charset="0"/>
                <a:ea typeface="Calibri" pitchFamily="34" charset="-122"/>
                <a:cs typeface="Calibri" pitchFamily="34" charset="-120"/>
              </a:rPr>
              <a:t>Essel, H. B., Vlachopoulos, D., Tachie-Menson, A., Johnson, E. E., &amp; Baah, P. K. (2022). The impact of a virtual teaching assistant (chatbot) on students' learning. IJETHE, 19, 57.</a:t>
            </a:r>
            <a:endParaRPr lang="en-US" sz="1150" dirty="0"/>
          </a:p>
          <a:p>
            <a:pPr indent="0" marL="0">
              <a:spcAft>
                <a:spcPts val="700"/>
              </a:spcAft>
              <a:buNone/>
            </a:pPr>
            <a:r>
              <a:rPr lang="en-US" sz="1150" dirty="0">
                <a:solidFill>
                  <a:srgbClr val="1F2430"/>
                </a:solidFill>
                <a:latin typeface="Calibri" pitchFamily="34" charset="0"/>
                <a:ea typeface="Calibri" pitchFamily="34" charset="-122"/>
                <a:cs typeface="Calibri" pitchFamily="34" charset="-120"/>
              </a:rPr>
              <a:t>Hwang, K., Jung, I. H., &amp; Lee, J. M. (2022). Design and implementation of database for shared facility reservation system in school. JPSP, 6(8), 7033–7041.</a:t>
            </a:r>
            <a:endParaRPr lang="en-US" sz="1150" dirty="0"/>
          </a:p>
          <a:p>
            <a:pPr indent="0" marL="0">
              <a:spcAft>
                <a:spcPts val="700"/>
              </a:spcAft>
              <a:buNone/>
            </a:pPr>
            <a:r>
              <a:rPr lang="en-US" sz="1150" dirty="0">
                <a:solidFill>
                  <a:srgbClr val="1F2430"/>
                </a:solidFill>
                <a:latin typeface="Calibri" pitchFamily="34" charset="0"/>
                <a:ea typeface="Calibri" pitchFamily="34" charset="-122"/>
                <a:cs typeface="Calibri" pitchFamily="34" charset="-120"/>
              </a:rPr>
              <a:t>Lalitha, V., Magesh, K., Selvanarayanan, A., &amp; Keertheshwaran, G. (2022). Online college event-hall booking reservation system. ICCST 2022, 972–975.</a:t>
            </a:r>
            <a:endParaRPr lang="en-US" sz="1150" dirty="0"/>
          </a:p>
          <a:p>
            <a:pPr indent="0" marL="0">
              <a:spcAft>
                <a:spcPts val="700"/>
              </a:spcAft>
              <a:buNone/>
            </a:pPr>
            <a:r>
              <a:rPr lang="en-US" sz="1150" dirty="0">
                <a:solidFill>
                  <a:srgbClr val="1F2430"/>
                </a:solidFill>
                <a:latin typeface="Calibri" pitchFamily="34" charset="0"/>
                <a:ea typeface="Calibri" pitchFamily="34" charset="-122"/>
                <a:cs typeface="Calibri" pitchFamily="34" charset="-120"/>
              </a:rPr>
              <a:t>Okonkwo, C. W., &amp; Ade-Ibijola, A. (2021). Chatbots applications in education: A systematic review. Computers and Education: AI, 2, 100033.</a:t>
            </a:r>
            <a:endParaRPr lang="en-US" sz="1150" dirty="0"/>
          </a:p>
          <a:p>
            <a:pPr indent="0" marL="0">
              <a:spcAft>
                <a:spcPts val="700"/>
              </a:spcAft>
              <a:buNone/>
            </a:pPr>
            <a:r>
              <a:rPr lang="en-US" sz="1150" dirty="0">
                <a:solidFill>
                  <a:srgbClr val="1F2430"/>
                </a:solidFill>
                <a:latin typeface="Calibri" pitchFamily="34" charset="0"/>
                <a:ea typeface="Calibri" pitchFamily="34" charset="-122"/>
                <a:cs typeface="Calibri" pitchFamily="34" charset="-120"/>
              </a:rPr>
              <a:t>Rahim, N. I. M., Iahad, N. A., Yusof, A. F., &amp; Al-Sharafi, M. A. (2022). AI-chatbots adoption model for higher-education institutions. Sustainability, 14(19), 12726.</a:t>
            </a:r>
            <a:endParaRPr lang="en-US" sz="1150" dirty="0"/>
          </a:p>
          <a:p>
            <a:pPr indent="0" marL="0">
              <a:spcAft>
                <a:spcPts val="700"/>
              </a:spcAft>
              <a:buNone/>
            </a:pPr>
            <a:r>
              <a:rPr lang="en-US" sz="1150" dirty="0">
                <a:solidFill>
                  <a:srgbClr val="1F2430"/>
                </a:solidFill>
                <a:latin typeface="Calibri" pitchFamily="34" charset="0"/>
                <a:ea typeface="Calibri" pitchFamily="34" charset="-122"/>
                <a:cs typeface="Calibri" pitchFamily="34" charset="-120"/>
              </a:rPr>
              <a:t>Roy, D., &amp; Dutta, M. (2022). A systematic review and research perspective on recommender systems. Journal of Big Data, 9, 59.</a:t>
            </a:r>
            <a:endParaRPr lang="en-US" sz="1150" dirty="0"/>
          </a:p>
          <a:p>
            <a:pPr indent="0" marL="0">
              <a:spcAft>
                <a:spcPts val="700"/>
              </a:spcAft>
              <a:buNone/>
            </a:pPr>
            <a:r>
              <a:rPr lang="en-US" sz="1150" dirty="0">
                <a:solidFill>
                  <a:srgbClr val="1F2430"/>
                </a:solidFill>
                <a:latin typeface="Calibri" pitchFamily="34" charset="0"/>
                <a:ea typeface="Calibri" pitchFamily="34" charset="-122"/>
                <a:cs typeface="Calibri" pitchFamily="34" charset="-120"/>
              </a:rPr>
              <a:t>Valencia-Arias, A., et al. (2024). Artificial intelligence and recommender systems in e-commerce. Intelligent Systems with Applications, 24, 200435.</a:t>
            </a:r>
            <a:endParaRPr lang="en-US" sz="1150" dirty="0"/>
          </a:p>
          <a:p>
            <a:pPr indent="0" marL="0">
              <a:spcAft>
                <a:spcPts val="700"/>
              </a:spcAft>
              <a:buNone/>
            </a:pPr>
            <a:r>
              <a:rPr lang="en-US" sz="1150" dirty="0">
                <a:solidFill>
                  <a:srgbClr val="1F2430"/>
                </a:solidFill>
                <a:latin typeface="Calibri" pitchFamily="34" charset="0"/>
                <a:ea typeface="Calibri" pitchFamily="34" charset="-122"/>
                <a:cs typeface="Calibri" pitchFamily="34" charset="-120"/>
              </a:rPr>
              <a:t>Venkatesh, S., Pradeep, P., Balamurugan, M., Guhan, S., &amp; Niyasaju. (2026). Design and implementation of a web-based campus facility reservation system. IJERT, 15(3).</a:t>
            </a:r>
            <a:endParaRPr lang="en-US" sz="1150" dirty="0"/>
          </a:p>
        </p:txBody>
      </p:sp>
      <p:sp>
        <p:nvSpPr>
          <p:cNvPr id="7" name="Text 5"/>
          <p:cNvSpPr/>
          <p:nvPr/>
        </p:nvSpPr>
        <p:spPr>
          <a:xfrm>
            <a:off x="685800" y="6272784"/>
            <a:ext cx="10789920" cy="274320"/>
          </a:xfrm>
          <a:prstGeom prst="rect">
            <a:avLst/>
          </a:prstGeom>
          <a:noFill/>
          <a:ln/>
        </p:spPr>
        <p:txBody>
          <a:bodyPr wrap="square" lIns="0" tIns="0" rIns="0" bIns="0" rtlCol="0" anchor="ctr"/>
          <a:lstStyle/>
          <a:p>
            <a:pPr indent="0" marL="0">
              <a:buNone/>
            </a:pPr>
            <a:r>
              <a:rPr lang="en-US" sz="1100" i="1" dirty="0">
                <a:solidFill>
                  <a:srgbClr val="6E7079"/>
                </a:solidFill>
                <a:latin typeface="Calibri" pitchFamily="34" charset="0"/>
                <a:ea typeface="Calibri" pitchFamily="34" charset="-122"/>
                <a:cs typeface="Calibri" pitchFamily="34" charset="-120"/>
              </a:rPr>
              <a:t>All eleven verified against Crossref or the publisher's own article page.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9E2A2B"/>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6E1B1C"/>
          </a:solidFill>
          <a:ln/>
        </p:spPr>
      </p:sp>
      <p:sp>
        <p:nvSpPr>
          <p:cNvPr id="3" name="Text 1"/>
          <p:cNvSpPr/>
          <p:nvPr/>
        </p:nvSpPr>
        <p:spPr>
          <a:xfrm>
            <a:off x="914400" y="2286000"/>
            <a:ext cx="1033272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4" name="Text 2"/>
          <p:cNvSpPr/>
          <p:nvPr/>
        </p:nvSpPr>
        <p:spPr>
          <a:xfrm>
            <a:off x="914400" y="3291840"/>
            <a:ext cx="10332720" cy="640080"/>
          </a:xfrm>
          <a:prstGeom prst="rect">
            <a:avLst/>
          </a:prstGeom>
          <a:noFill/>
          <a:ln/>
        </p:spPr>
        <p:txBody>
          <a:bodyPr wrap="square" lIns="0" tIns="0" rIns="0" bIns="0" rtlCol="0" anchor="ctr"/>
          <a:lstStyle/>
          <a:p>
            <a:pPr indent="0" marL="0">
              <a:buNone/>
            </a:pPr>
            <a:r>
              <a:rPr lang="en-US" sz="2200" dirty="0">
                <a:solidFill>
                  <a:srgbClr val="F0D4D4"/>
                </a:solidFill>
                <a:latin typeface="Calibri" pitchFamily="34" charset="0"/>
                <a:ea typeface="Calibri" pitchFamily="34" charset="-122"/>
                <a:cs typeface="Calibri" pitchFamily="34" charset="-120"/>
              </a:rPr>
              <a:t>Questions</a:t>
            </a:r>
            <a:endParaRPr lang="en-US" sz="2200" dirty="0"/>
          </a:p>
        </p:txBody>
      </p:sp>
      <p:sp>
        <p:nvSpPr>
          <p:cNvPr id="5" name="Text 3"/>
          <p:cNvSpPr/>
          <p:nvPr/>
        </p:nvSpPr>
        <p:spPr>
          <a:xfrm>
            <a:off x="914400" y="4206240"/>
            <a:ext cx="9601200" cy="640080"/>
          </a:xfrm>
          <a:prstGeom prst="rect">
            <a:avLst/>
          </a:prstGeom>
          <a:noFill/>
          <a:ln/>
        </p:spPr>
        <p:txBody>
          <a:bodyPr wrap="square" lIns="0" tIns="0" rIns="0" bIns="0" rtlCol="0" anchor="ctr"/>
          <a:lstStyle/>
          <a:p>
            <a:pPr indent="0" marL="0">
              <a:lnSpc>
                <a:spcPts val="2000"/>
              </a:lnSpc>
              <a:buNone/>
            </a:pPr>
            <a:r>
              <a:rPr lang="en-US" sz="1450" i="1" dirty="0">
                <a:solidFill>
                  <a:srgbClr val="EBBFBF"/>
                </a:solidFill>
                <a:latin typeface="Calibri" pitchFamily="34" charset="0"/>
                <a:ea typeface="Calibri" pitchFamily="34" charset="-122"/>
                <a:cs typeface="Calibri" pitchFamily="34" charset="-120"/>
              </a:rPr>
              <a:t>The system is running if a live demonstration would be useful — a booking with an AI suggestion takes about thirty seconds.</a:t>
            </a:r>
            <a:endParaRPr lang="en-US" sz="1450" dirty="0"/>
          </a:p>
        </p:txBody>
      </p:sp>
      <p:sp>
        <p:nvSpPr>
          <p:cNvPr id="6" name="Text 4"/>
          <p:cNvSpPr/>
          <p:nvPr/>
        </p:nvSpPr>
        <p:spPr>
          <a:xfrm>
            <a:off x="914400" y="5943600"/>
            <a:ext cx="10332720" cy="365760"/>
          </a:xfrm>
          <a:prstGeom prst="rect">
            <a:avLst/>
          </a:prstGeom>
          <a:noFill/>
          <a:ln/>
        </p:spPr>
        <p:txBody>
          <a:bodyPr wrap="square" lIns="0" tIns="0" rIns="0" bIns="0" rtlCol="0" anchor="ctr"/>
          <a:lstStyle/>
          <a:p>
            <a:pPr indent="0" marL="0">
              <a:buNone/>
            </a:pPr>
            <a:r>
              <a:rPr lang="en-US" sz="1200" dirty="0">
                <a:solidFill>
                  <a:srgbClr val="D9A9A9"/>
                </a:solidFill>
                <a:latin typeface="Calibri" pitchFamily="34" charset="0"/>
                <a:ea typeface="Calibri" pitchFamily="34" charset="-122"/>
                <a:cs typeface="Calibri" pitchFamily="34" charset="-120"/>
              </a:rPr>
              <a:t>Amaan Rashid   |   Smart Campus Facility Reservation System with AI-Assisted Recommendations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Campus Facility Reservation System with AI-Assisted Recommendations</dc:title>
  <dc:subject>PptxGenJS Presentation</dc:subject>
  <dc:creator>Amaan Rashid</dc:creator>
  <cp:lastModifiedBy>Amaan Rashid</cp:lastModifiedBy>
  <cp:revision>1</cp:revision>
  <dcterms:created xsi:type="dcterms:W3CDTF">2026-09-29T06:20:42Z</dcterms:created>
  <dcterms:modified xsi:type="dcterms:W3CDTF">2026-09-29T06:20:42Z</dcterms:modified>
</cp:coreProperties>
</file>