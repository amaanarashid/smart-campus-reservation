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6f9810-1b72-232e-58f2-729366ec5ecf}">
          <p14:sldIdLst>
            <p14:sldId id="256"/>
          </p14:sldIdLst>
        </p14:section>
        <p14:section name="Progress" id="{0345e243-4f77-e612-647e-5457e0b32cd9}">
          <p14:sldIdLst>
            <p14:sldId id="257"/>
          </p14:sldIdLst>
        </p14:section>
        <p14:section name="What is built" id="{3e57442e-dc28-42b3-230c-3638938c8c19}">
          <p14:sldIdLst>
            <p14:sldId id="258"/>
            <p14:sldId id="259"/>
            <p14:sldId id="260"/>
            <p14:sldId id="261"/>
          </p14:sldIdLst>
        </p14:section>
        <p14:section name="Gaps and plan" id="{62f8ebf4-82b1-ba57-1fd9-9f8853fa32a7}">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633"/>
                </a:solidFill>
                <a:latin typeface="+mn-lt"/>
              </a:defRPr>
            </a:pPr>
            <a:r>
              <a:rPr sz="1200" b="0" i="0" u="none" strike="noStrike">
                <a:solidFill>
                  <a:srgbClr val="1F2633"/>
                </a:solidFill>
                <a:latin typeface="+mn-lt"/>
              </a:rPr>
              <a:t>Students who book one of the suggestions (simulation, last 20 attempts)</a:t>
            </a:r>
          </a:p>
        </c:rich>
      </c:tx>
      <c:layout/>
      <c:overlay val="0"/>
    </c:title>
    <c:autoTitleDeleted val="0"/>
    <c:plotArea>
      <c:layout/>
      <c:barChart>
        <c:barDir val="col"/>
        <c:grouping val="clustered"/>
        <c:varyColors val="0"/>
        <c:ser>
          <c:idx val="0"/>
          <c:order val="0"/>
          <c:tx>
            <c:strRef>
              <c:f>Sheet1!$B$1</c:f>
              <c:strCache>
                <c:ptCount val="1"/>
                <c:pt idx="0">
                  <c:v>Books a suggestion</c:v>
                </c:pt>
              </c:strCache>
            </c:strRef>
          </c:tx>
          <c:spPr>
            <a:solidFill>
              <a:srgbClr val="B9BEC7"/>
            </a:solidFill>
            <a:effectLst/>
          </c:spPr>
          <c:invertIfNegative val="0"/>
          <c:dLbls>
            <c:numFmt formatCode="0.0&quot;%&quot;" sourceLinked="0"/>
            <c:txPr>
              <a:bodyPr/>
              <a:lstStyle/>
              <a:p>
                <a:pPr>
                  <a:defRPr b="0" i="0" strike="noStrike" sz="1300" u="none">
                    <a:solidFill>
                      <a:srgbClr val="1F2633"/>
                    </a:solidFill>
                    <a:latin typeface="+mn-lt"/>
                  </a:defRPr>
                </a:pPr>
              </a:p>
            </c:txPr>
            <c:showLegendKey val="0"/>
            <c:showVal val="1"/>
            <c:showCatName val="0"/>
            <c:showSerName val="0"/>
            <c:showPercent val="0"/>
            <c:showBubbleSize val="0"/>
            <c:showLeaderLines val="0"/>
          </c:dLbls>
          <c:dPt>
            <c:idx val="0"/>
            <c:invertIfNegative val="0"/>
            <c:bubble3D val="0"/>
            <c:spPr>
              <a:solidFill>
                <a:srgbClr val="B9BEC7"/>
              </a:solidFill>
              <a:effectLst/>
            </c:spPr>
          </c:dPt>
          <c:dPt>
            <c:idx val="1"/>
            <c:invertIfNegative val="0"/>
            <c:bubble3D val="0"/>
            <c:spPr>
              <a:solidFill>
                <a:srgbClr val="B9BEC7"/>
              </a:solidFill>
              <a:effectLst/>
            </c:spPr>
          </c:dPt>
          <c:dPt>
            <c:idx val="2"/>
            <c:invertIfNegative val="0"/>
            <c:bubble3D val="0"/>
            <c:spPr>
              <a:solidFill>
                <a:srgbClr val="B9BEC7"/>
              </a:solidFill>
              <a:effectLst/>
            </c:spPr>
          </c:dPt>
          <c:dPt>
            <c:idx val="3"/>
            <c:invertIfNegative val="0"/>
            <c:bubble3D val="0"/>
            <c:spPr>
              <a:solidFill>
                <a:srgbClr val="9E1B24"/>
              </a:solidFill>
              <a:effectLst/>
            </c:spPr>
          </c:dPt>
          <c:cat>
            <c:multiLvlStrRef>
              <c:f>Sheet1!$A$2:$A$5</c:f>
              <c:multiLvlStrCache>
                <c:ptCount val="4"/>
                <c:lvl>
                  <c:pt idx="0">
                    <c:v>Random</c:v>
                  </c:pt>
                  <c:pt idx="1">
                    <c:v>Fixed scoring</c:v>
                  </c:pt>
                  <c:pt idx="2">
                    <c:v>Adaptive weights</c:v>
                  </c:pt>
                  <c:pt idx="3">
                    <c:v>LinUCB (ours)</c:v>
                  </c:pt>
                </c:lvl>
              </c:multiLvlStrCache>
            </c:multiLvlStrRef>
          </c:cat>
          <c:val>
            <c:numRef>
              <c:f>Sheet1!$B$2:$B$5</c:f>
              <c:numCache>
                <c:formatCode>General</c:formatCode>
                <c:ptCount val="4"/>
                <c:pt idx="0">
                  <c:v>68.4</c:v>
                </c:pt>
                <c:pt idx="1">
                  <c:v>71.1</c:v>
                </c:pt>
                <c:pt idx="2">
                  <c:v>72.6</c:v>
                </c:pt>
                <c:pt idx="3">
                  <c:v>79.6</c:v>
                </c:pt>
              </c:numCache>
            </c:numRef>
          </c:val>
        </c:ser>
        <c:dLbls>
          <c:numFmt formatCode="0.0&quot;%&quot;" sourceLinked="0"/>
          <c:txPr>
            <a:bodyPr/>
            <a:lstStyle/>
            <a:p>
              <a:pPr>
                <a:defRPr b="0" i="0" strike="noStrike" sz="1300" u="none">
                  <a:solidFill>
                    <a:srgbClr val="1F26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633"/>
                </a:solidFill>
                <a:latin typeface="+mn-lt"/>
              </a:defRPr>
            </a:pPr>
            <a:endParaRPr lang="en-US"/>
          </a:p>
        </c:txPr>
        <c:crossAx val="2094734552"/>
        <c:crosses val="autoZero"/>
        <c:auto val="1"/>
        <c:lblAlgn val="ctr"/>
        <c:noMultiLvlLbl val="1"/>
      </c:catAx>
      <c:valAx>
        <c:axId val="2094734552"/>
        <c:scaling>
          <c:orientation val="minMax"/>
          <c:max val="85"/>
          <c:min val="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 short update: what is built and working, what is built and being tested, and the plan to finish. I can show everything live after the slides.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modules in total. Six are done and verified: the booking engine and its rule model, the no-double-booking guarantee in the database, the three dashboards, the AI recommender, the grounded chatbot, and the smart door with room automation in Wokwi. Two more are built and being tested: the end-of-booking features and the 3D twin with energy figures. Remote control of the room is in progress. Three are planned: moving every booking rule into the database, the evaluation and user study, and the no-show model. So half is done and verified, and two thirds is built.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Users reach one Next.js web app on Vercel. The app and the room API both use Supabase. The no-double-booking rule is enforced by PostgreSQL itself, so it holds even for two requests at the same instant. The other booking rules, like opening hours and length, are checked by the app today; moving them into the database is the first item of the next phase. The ESP32 in Wokwi only talks to the room API, with its own device key.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part has two pieces. When a time is taken, the recommender offers ranked alternatives, each with a reason. A LinUCB bandit learns each student's preferences from what they accept. In a simulation with four kinds of students it raised acceptance from 71.1 to 79.6 percent; real acceptance will be measured in the user study. The chatbot only phrases answers from rows the database returns, shows a student only their own bookings, and suggests alternatives when a room is busy.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 extension. One library room is simulated on an ESP32 in Wokwi. The student's six-digit door code is derived from the booking id with HMAC, so codes are never stored. Typing it opens the servo lock and checks the student in; if nobody checks in, the slot is freed automatically. A noisy presence signal is cleaned by a low-pass filter with hysteresis, and drives the lights and air-con. On the right is the 3D twin of the room. It is built; live updates from Wokwi, the energy figures and the end-of-booking features are being tested now.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so far: 106 automated tests; the database migrations run on a real PostgreSQL 17 with permission checks; a simulation comparing four ranking methods; and a live Wokwi run where the door code unlocked the room and checked the booking in. The new features are grounded in eight papers, from LinUCB to campus digital twins.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open about where things stand, these are the gaps. The first three are about the database: today only the no-overlap rule is enforced there, all signed-in users can read all bookings through the API, and students can edit their own booking rows. All three are fixed in the hardening step with a trigger, a tighter read policy and checked functions. Then the firmware and the live twin need an end-to-end run, the formal evaluation scripts need writing, and the demo device gets a new key.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control is in progress. An admin taps a button next to the 3D twin, for example unlock or lights off. The API checks that the person is an admin or that room's manager, logs the command, and publishes it over MQTT with TLS to that device's topic. The ESP32 in Wokwi is subscribed, so it receives it within a second. It checks an HMAC signature with an expiry, so a copied message cannot be replayed, applies its safety rules, acts, and reports back so the log and the twin update. Overrides expire, and if the broker is down the device falls back to HTTP. This makes the twin two-way.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to finish. First, and before anything else, hardening: every booking rule enforced inside the database, students able to see only their own bookings, and booking changes only through checked functions. Second, remote control, which I have started: operate the room from its 3D view, so the twin works both ways. Third, the evaluation against the Phase 1 targets, including the user study and the SUS score. Fourth, the no-show model, batch allocation, and the report.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then I will show it running.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9E1B2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10515600" cy="365760"/>
          </a:xfrm>
          <a:prstGeom prst="rect">
            <a:avLst/>
          </a:prstGeom>
          <a:noFill/>
          <a:ln/>
        </p:spPr>
        <p:txBody>
          <a:bodyPr wrap="square" rtlCol="0"/>
          <a:lstStyle>
            <a:lvl1pPr indent="0" marL="0">
              <a:buNone/>
              <a:defRPr lang="en-US" sz="1200" b="1" spc="300" kern="0" dirty="0">
                <a:solidFill>
                  <a:schemeClr val="bg1"/>
                </a:solidFill>
              </a:defRPr>
            </a:lvl1pPr>
          </a:lstStyle>
          <a:p>
            <a:pPr indent="0" marL="0">
              <a:buNone/>
            </a:pPr>
            <a:endParaRPr lang="en-US" sz="1200" dirty="0"/>
          </a:p>
        </p:txBody>
      </p:sp>
      <p:sp>
        <p:nvSpPr>
          <p:cNvPr id="3" name="Text 0"/>
          <p:cNvSpPr/>
          <p:nvPr>
            <p:ph idx="101" type="title" hasCustomPrompt="1"/>
          </p:nvPr>
        </p:nvSpPr>
        <p:spPr>
          <a:xfrm>
            <a:off x="822960" y="2011680"/>
            <a:ext cx="10515600" cy="16459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822960" y="4206240"/>
            <a:ext cx="10515600" cy="128016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07008" y="347472"/>
            <a:ext cx="8229600" cy="274320"/>
          </a:xfrm>
          <a:prstGeom prst="rect">
            <a:avLst/>
          </a:prstGeom>
          <a:noFill/>
          <a:ln/>
        </p:spPr>
        <p:txBody>
          <a:bodyPr wrap="square" rtlCol="0"/>
          <a:lstStyle>
            <a:lvl1pPr indent="0" marL="0">
              <a:buNone/>
              <a:defRPr lang="en-US" sz="1000" b="1" spc="200" kern="0"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1207008" y="603504"/>
            <a:ext cx="10424160" cy="566928"/>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10515600" cy="365760"/>
          </a:xfrm>
          <a:prstGeom prst="rect">
            <a:avLst/>
          </a:prstGeom>
          <a:noFill/>
          <a:ln/>
        </p:spPr>
        <p:txBody>
          <a:bodyPr wrap="square" rtlCol="0"/>
          <a:lstStyle/>
          <a:p>
            <a:pPr indent="0" marL="0">
              <a:buNone/>
            </a:pPr>
            <a:r>
              <a:rPr lang="en-US" sz="1200" b="1" spc="300" kern="0" dirty="0">
                <a:solidFill>
                  <a:schemeClr val="bg1"/>
                </a:solidFill>
              </a:rPr>
              <a:t>FINAL YEAR PROJECT  |  PROGRESS MEETING</a:t>
            </a:r>
            <a:endParaRPr lang="en-US" sz="1200" dirty="0"/>
          </a:p>
        </p:txBody>
      </p:sp>
      <p:sp>
        <p:nvSpPr>
          <p:cNvPr id="3" name="Text 0"/>
          <p:cNvSpPr/>
          <p:nvPr>
            <p:ph idx="101" type="title" hasCustomPrompt="1"/>
          </p:nvPr>
        </p:nvSpPr>
        <p:spPr>
          <a:xfrm>
            <a:off x="822960" y="2011680"/>
            <a:ext cx="10515600" cy="164592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Smart Campus Facility Reservation System with AI-Assisted Recommendations</a:t>
            </a:r>
            <a:endParaRPr lang="en-US" sz="4000" dirty="0"/>
          </a:p>
        </p:txBody>
      </p:sp>
      <p:sp>
        <p:nvSpPr>
          <p:cNvPr id="4" name="Text 0"/>
          <p:cNvSpPr/>
          <p:nvPr>
            <p:ph idx="102" type="body" hasCustomPrompt="1"/>
          </p:nvPr>
        </p:nvSpPr>
        <p:spPr>
          <a:xfrm>
            <a:off x="822960" y="4206240"/>
            <a:ext cx="10515600" cy="1280160"/>
          </a:xfrm>
          <a:prstGeom prst="rect">
            <a:avLst/>
          </a:prstGeom>
          <a:noFill/>
          <a:ln/>
        </p:spPr>
        <p:txBody>
          <a:bodyPr wrap="square" rtlCol="0" anchor="t"/>
          <a:lstStyle/>
          <a:p>
            <a:pPr indent="0" marL="0">
              <a:buNone/>
            </a:pPr>
            <a:r>
              <a:rPr lang="en-US" sz="1600" dirty="0">
                <a:solidFill>
                  <a:schemeClr val="bg1"/>
                </a:solidFill>
              </a:rPr>
              <a:t>Amaan Rashid   |   TP073098   |   Computer Engineering   |   APU4F2605CE</a:t>
            </a:r>
            <a:endParaRPr lang="en-US" sz="1600" dirty="0"/>
          </a:p>
          <a:p>
            <a:pPr indent="0" marL="0">
              <a:buNone/>
            </a:pPr>
            <a:r>
              <a:rPr lang="en-US" sz="1600" dirty="0">
                <a:solidFill>
                  <a:schemeClr val="bg1"/>
                </a:solidFill>
              </a:rPr>
              <a:t>Supervisor: Dr Mukil Alagirisamy        Second Marker: Syed Mohd Bahrin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WHERE THE PROJECT STANDS</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Half the system is built and verified</a:t>
            </a:r>
            <a:endParaRPr lang="en-US" sz="3000" dirty="0"/>
          </a:p>
        </p:txBody>
      </p:sp>
      <p:sp>
        <p:nvSpPr>
          <p:cNvPr id="6" name="Text 4"/>
          <p:cNvSpPr txBox="1"/>
          <p:nvPr/>
        </p:nvSpPr>
        <p:spPr>
          <a:xfrm>
            <a:off x="548640" y="1463040"/>
            <a:ext cx="3291840" cy="109728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50%</a:t>
            </a:r>
            <a:endParaRPr lang="en-US" sz="6600" dirty="0"/>
          </a:p>
        </p:txBody>
      </p:sp>
      <p:sp>
        <p:nvSpPr>
          <p:cNvPr id="7" name="Text 5"/>
          <p:cNvSpPr txBox="1"/>
          <p:nvPr/>
        </p:nvSpPr>
        <p:spPr>
          <a:xfrm>
            <a:off x="548640" y="2560320"/>
            <a:ext cx="3291840" cy="640080"/>
          </a:xfrm>
          <a:prstGeom prst="rect">
            <a:avLst/>
          </a:prstGeom>
          <a:noFill/>
          <a:ln/>
        </p:spPr>
        <p:txBody>
          <a:bodyPr wrap="square" lIns="0" tIns="0" rIns="0" bIns="0" rtlCol="0" anchor="t"/>
          <a:lstStyle/>
          <a:p>
            <a:pPr indent="0" marL="0">
              <a:buNone/>
            </a:pPr>
            <a:r>
              <a:rPr lang="en-US" sz="1500" dirty="0">
                <a:solidFill>
                  <a:schemeClr val="tx1"/>
                </a:solidFill>
              </a:rPr>
              <a:t>of the planned modules done and verified</a:t>
            </a:r>
            <a:endParaRPr lang="en-US" sz="1500" dirty="0"/>
          </a:p>
        </p:txBody>
      </p:sp>
      <p:sp>
        <p:nvSpPr>
          <p:cNvPr id="8" name="progress-segment"/>
          <p:cNvSpPr/>
          <p:nvPr/>
        </p:nvSpPr>
        <p:spPr>
          <a:xfrm>
            <a:off x="548640" y="3337560"/>
            <a:ext cx="1645920" cy="292608"/>
          </a:xfrm>
          <a:prstGeom prst="rect">
            <a:avLst/>
          </a:prstGeom>
          <a:solidFill>
            <a:srgbClr val="9E1B24"/>
          </a:solidFill>
          <a:ln w="12700">
            <a:solidFill>
              <a:srgbClr val="FFFFFF"/>
            </a:solidFill>
            <a:prstDash val="solid"/>
          </a:ln>
        </p:spPr>
      </p:sp>
      <p:sp>
        <p:nvSpPr>
          <p:cNvPr id="9" name="progress-segment"/>
          <p:cNvSpPr/>
          <p:nvPr/>
        </p:nvSpPr>
        <p:spPr>
          <a:xfrm>
            <a:off x="2194560" y="3337560"/>
            <a:ext cx="548640" cy="292608"/>
          </a:xfrm>
          <a:prstGeom prst="rect">
            <a:avLst/>
          </a:prstGeom>
          <a:solidFill>
            <a:srgbClr val="D99A1E"/>
          </a:solidFill>
          <a:ln w="12700">
            <a:solidFill>
              <a:srgbClr val="FFFFFF"/>
            </a:solidFill>
            <a:prstDash val="solid"/>
          </a:ln>
        </p:spPr>
      </p:sp>
      <p:sp>
        <p:nvSpPr>
          <p:cNvPr id="10" name="progress-segment"/>
          <p:cNvSpPr/>
          <p:nvPr/>
        </p:nvSpPr>
        <p:spPr>
          <a:xfrm>
            <a:off x="2743200" y="3337560"/>
            <a:ext cx="274320" cy="292608"/>
          </a:xfrm>
          <a:prstGeom prst="rect">
            <a:avLst/>
          </a:prstGeom>
          <a:solidFill>
            <a:srgbClr val="2F4B7C"/>
          </a:solidFill>
          <a:ln w="12700">
            <a:solidFill>
              <a:srgbClr val="FFFFFF"/>
            </a:solidFill>
            <a:prstDash val="solid"/>
          </a:ln>
        </p:spPr>
      </p:sp>
      <p:sp>
        <p:nvSpPr>
          <p:cNvPr id="11" name="progress-segment"/>
          <p:cNvSpPr/>
          <p:nvPr/>
        </p:nvSpPr>
        <p:spPr>
          <a:xfrm>
            <a:off x="3017520" y="3337560"/>
            <a:ext cx="822960" cy="292608"/>
          </a:xfrm>
          <a:prstGeom prst="rect">
            <a:avLst/>
          </a:prstGeom>
          <a:solidFill>
            <a:srgbClr val="B9BEC7"/>
          </a:solidFill>
          <a:ln w="12700">
            <a:solidFill>
              <a:srgbClr val="FFFFFF"/>
            </a:solidFill>
            <a:prstDash val="solid"/>
          </a:ln>
        </p:spPr>
      </p:sp>
      <p:sp>
        <p:nvSpPr>
          <p:cNvPr id="12" name="Shape 10"/>
          <p:cNvSpPr/>
          <p:nvPr/>
        </p:nvSpPr>
        <p:spPr>
          <a:xfrm>
            <a:off x="548640" y="3913632"/>
            <a:ext cx="201168" cy="201168"/>
          </a:xfrm>
          <a:prstGeom prst="ellipse">
            <a:avLst/>
          </a:prstGeom>
          <a:solidFill>
            <a:srgbClr val="9E1B24"/>
          </a:solidFill>
          <a:ln w="12700">
            <a:solidFill>
              <a:srgbClr val="9E1B24"/>
            </a:solidFill>
            <a:prstDash val="solid"/>
          </a:ln>
        </p:spPr>
      </p:sp>
      <p:sp>
        <p:nvSpPr>
          <p:cNvPr id="13" name="Text 11"/>
          <p:cNvSpPr txBox="1"/>
          <p:nvPr/>
        </p:nvSpPr>
        <p:spPr>
          <a:xfrm>
            <a:off x="868680" y="3840480"/>
            <a:ext cx="3017520" cy="347472"/>
          </a:xfrm>
          <a:prstGeom prst="rect">
            <a:avLst/>
          </a:prstGeom>
          <a:noFill/>
          <a:ln/>
        </p:spPr>
        <p:txBody>
          <a:bodyPr wrap="square" lIns="0" tIns="0" rIns="0" bIns="0" rtlCol="0" anchor="ctr"/>
          <a:lstStyle/>
          <a:p>
            <a:pPr indent="0" marL="0">
              <a:buNone/>
            </a:pPr>
            <a:r>
              <a:rPr lang="en-US" sz="1400" dirty="0">
                <a:solidFill>
                  <a:schemeClr val="tx1"/>
                </a:solidFill>
              </a:rPr>
              <a:t>Done and verified  (6)</a:t>
            </a:r>
            <a:endParaRPr lang="en-US" sz="1400" dirty="0"/>
          </a:p>
        </p:txBody>
      </p:sp>
      <p:sp>
        <p:nvSpPr>
          <p:cNvPr id="14" name="Shape 12"/>
          <p:cNvSpPr/>
          <p:nvPr/>
        </p:nvSpPr>
        <p:spPr>
          <a:xfrm>
            <a:off x="548640" y="4370832"/>
            <a:ext cx="201168" cy="201168"/>
          </a:xfrm>
          <a:prstGeom prst="ellipse">
            <a:avLst/>
          </a:prstGeom>
          <a:solidFill>
            <a:srgbClr val="D99A1E"/>
          </a:solidFill>
          <a:ln w="12700">
            <a:solidFill>
              <a:srgbClr val="D99A1E"/>
            </a:solidFill>
            <a:prstDash val="solid"/>
          </a:ln>
        </p:spPr>
      </p:sp>
      <p:sp>
        <p:nvSpPr>
          <p:cNvPr id="15" name="Text 13"/>
          <p:cNvSpPr txBox="1"/>
          <p:nvPr/>
        </p:nvSpPr>
        <p:spPr>
          <a:xfrm>
            <a:off x="868680" y="4297680"/>
            <a:ext cx="3017520" cy="347472"/>
          </a:xfrm>
          <a:prstGeom prst="rect">
            <a:avLst/>
          </a:prstGeom>
          <a:noFill/>
          <a:ln/>
        </p:spPr>
        <p:txBody>
          <a:bodyPr wrap="square" lIns="0" tIns="0" rIns="0" bIns="0" rtlCol="0" anchor="ctr"/>
          <a:lstStyle/>
          <a:p>
            <a:pPr indent="0" marL="0">
              <a:buNone/>
            </a:pPr>
            <a:r>
              <a:rPr lang="en-US" sz="1400" dirty="0">
                <a:solidFill>
                  <a:schemeClr val="tx1"/>
                </a:solidFill>
              </a:rPr>
              <a:t>Built, in testing  (2)</a:t>
            </a:r>
            <a:endParaRPr lang="en-US" sz="1400" dirty="0"/>
          </a:p>
        </p:txBody>
      </p:sp>
      <p:sp>
        <p:nvSpPr>
          <p:cNvPr id="16" name="Shape 14"/>
          <p:cNvSpPr/>
          <p:nvPr/>
        </p:nvSpPr>
        <p:spPr>
          <a:xfrm>
            <a:off x="548640" y="4828032"/>
            <a:ext cx="201168" cy="201168"/>
          </a:xfrm>
          <a:prstGeom prst="ellipse">
            <a:avLst/>
          </a:prstGeom>
          <a:solidFill>
            <a:srgbClr val="2F4B7C"/>
          </a:solidFill>
          <a:ln w="12700">
            <a:solidFill>
              <a:srgbClr val="2F4B7C"/>
            </a:solidFill>
            <a:prstDash val="solid"/>
          </a:ln>
        </p:spPr>
      </p:sp>
      <p:sp>
        <p:nvSpPr>
          <p:cNvPr id="17" name="Text 15"/>
          <p:cNvSpPr txBox="1"/>
          <p:nvPr/>
        </p:nvSpPr>
        <p:spPr>
          <a:xfrm>
            <a:off x="868680" y="4754880"/>
            <a:ext cx="3017520" cy="347472"/>
          </a:xfrm>
          <a:prstGeom prst="rect">
            <a:avLst/>
          </a:prstGeom>
          <a:noFill/>
          <a:ln/>
        </p:spPr>
        <p:txBody>
          <a:bodyPr wrap="square" lIns="0" tIns="0" rIns="0" bIns="0" rtlCol="0" anchor="ctr"/>
          <a:lstStyle/>
          <a:p>
            <a:pPr indent="0" marL="0">
              <a:buNone/>
            </a:pPr>
            <a:r>
              <a:rPr lang="en-US" sz="1400" dirty="0">
                <a:solidFill>
                  <a:schemeClr val="tx1"/>
                </a:solidFill>
              </a:rPr>
              <a:t>In progress  (1)</a:t>
            </a:r>
            <a:endParaRPr lang="en-US" sz="1400" dirty="0"/>
          </a:p>
        </p:txBody>
      </p:sp>
      <p:sp>
        <p:nvSpPr>
          <p:cNvPr id="18" name="Shape 16"/>
          <p:cNvSpPr/>
          <p:nvPr/>
        </p:nvSpPr>
        <p:spPr>
          <a:xfrm>
            <a:off x="548640" y="5285232"/>
            <a:ext cx="201168" cy="201168"/>
          </a:xfrm>
          <a:prstGeom prst="ellipse">
            <a:avLst/>
          </a:prstGeom>
          <a:solidFill>
            <a:srgbClr val="B9BEC7"/>
          </a:solidFill>
          <a:ln w="12700">
            <a:solidFill>
              <a:srgbClr val="B9BEC7"/>
            </a:solidFill>
            <a:prstDash val="solid"/>
          </a:ln>
        </p:spPr>
      </p:sp>
      <p:sp>
        <p:nvSpPr>
          <p:cNvPr id="19" name="Text 17"/>
          <p:cNvSpPr txBox="1"/>
          <p:nvPr/>
        </p:nvSpPr>
        <p:spPr>
          <a:xfrm>
            <a:off x="868680" y="5212080"/>
            <a:ext cx="3017520" cy="347472"/>
          </a:xfrm>
          <a:prstGeom prst="rect">
            <a:avLst/>
          </a:prstGeom>
          <a:noFill/>
          <a:ln/>
        </p:spPr>
        <p:txBody>
          <a:bodyPr wrap="square" lIns="0" tIns="0" rIns="0" bIns="0" rtlCol="0" anchor="ctr"/>
          <a:lstStyle/>
          <a:p>
            <a:pPr indent="0" marL="0">
              <a:buNone/>
            </a:pPr>
            <a:r>
              <a:rPr lang="en-US" sz="1400" dirty="0">
                <a:solidFill>
                  <a:schemeClr val="tx1"/>
                </a:solidFill>
              </a:rPr>
              <a:t>Planned  (3)</a:t>
            </a:r>
            <a:endParaRPr lang="en-US" sz="1400" dirty="0"/>
          </a:p>
        </p:txBody>
      </p:sp>
      <p:sp>
        <p:nvSpPr>
          <p:cNvPr id="20" name="module-0"/>
          <p:cNvSpPr/>
          <p:nvPr/>
        </p:nvSpPr>
        <p:spPr>
          <a:xfrm>
            <a:off x="4343400" y="1463040"/>
            <a:ext cx="2331720" cy="987552"/>
          </a:xfrm>
          <a:prstGeom prst="roundRect">
            <a:avLst>
              <a:gd name="adj" fmla="val 7407"/>
            </a:avLst>
          </a:prstGeom>
          <a:solidFill>
            <a:srgbClr val="F6E3E3"/>
          </a:solidFill>
          <a:ln w="12700">
            <a:solidFill>
              <a:srgbClr val="F6E3E3"/>
            </a:solidFill>
            <a:prstDash val="solid"/>
          </a:ln>
        </p:spPr>
      </p:sp>
      <p:sp>
        <p:nvSpPr>
          <p:cNvPr id="21" name="Text 19"/>
          <p:cNvSpPr txBox="1"/>
          <p:nvPr/>
        </p:nvSpPr>
        <p:spPr>
          <a:xfrm>
            <a:off x="4507992" y="1572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22" name="Text 20"/>
          <p:cNvSpPr txBox="1"/>
          <p:nvPr/>
        </p:nvSpPr>
        <p:spPr>
          <a:xfrm>
            <a:off x="4507992" y="1810512"/>
            <a:ext cx="2057400" cy="566928"/>
          </a:xfrm>
          <a:prstGeom prst="rect">
            <a:avLst/>
          </a:prstGeom>
          <a:noFill/>
          <a:ln/>
        </p:spPr>
        <p:txBody>
          <a:bodyPr wrap="square" lIns="0" tIns="0" rIns="0" bIns="0" rtlCol="0" anchor="t"/>
          <a:lstStyle/>
          <a:p>
            <a:pPr indent="0" marL="0">
              <a:buNone/>
            </a:pPr>
            <a:r>
              <a:rPr lang="en-US" sz="1300" dirty="0">
                <a:solidFill>
                  <a:schemeClr val="tx1"/>
                </a:solidFill>
              </a:rPr>
              <a:t>Booking engine and rule model</a:t>
            </a:r>
            <a:endParaRPr lang="en-US" sz="1300" dirty="0"/>
          </a:p>
        </p:txBody>
      </p:sp>
      <p:sp>
        <p:nvSpPr>
          <p:cNvPr id="23" name="module-1"/>
          <p:cNvSpPr/>
          <p:nvPr/>
        </p:nvSpPr>
        <p:spPr>
          <a:xfrm>
            <a:off x="6830568" y="1463040"/>
            <a:ext cx="2331720" cy="987552"/>
          </a:xfrm>
          <a:prstGeom prst="roundRect">
            <a:avLst>
              <a:gd name="adj" fmla="val 7407"/>
            </a:avLst>
          </a:prstGeom>
          <a:solidFill>
            <a:srgbClr val="F6E3E3"/>
          </a:solidFill>
          <a:ln w="12700">
            <a:solidFill>
              <a:srgbClr val="F6E3E3"/>
            </a:solidFill>
            <a:prstDash val="solid"/>
          </a:ln>
        </p:spPr>
      </p:sp>
      <p:sp>
        <p:nvSpPr>
          <p:cNvPr id="24" name="Text 22"/>
          <p:cNvSpPr txBox="1"/>
          <p:nvPr/>
        </p:nvSpPr>
        <p:spPr>
          <a:xfrm>
            <a:off x="6995160" y="1572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25" name="Text 23"/>
          <p:cNvSpPr txBox="1"/>
          <p:nvPr/>
        </p:nvSpPr>
        <p:spPr>
          <a:xfrm>
            <a:off x="6995160" y="1810512"/>
            <a:ext cx="2057400" cy="566928"/>
          </a:xfrm>
          <a:prstGeom prst="rect">
            <a:avLst/>
          </a:prstGeom>
          <a:noFill/>
          <a:ln/>
        </p:spPr>
        <p:txBody>
          <a:bodyPr wrap="square" lIns="0" tIns="0" rIns="0" bIns="0" rtlCol="0" anchor="t"/>
          <a:lstStyle/>
          <a:p>
            <a:pPr indent="0" marL="0">
              <a:buNone/>
            </a:pPr>
            <a:r>
              <a:rPr lang="en-US" sz="1300" dirty="0">
                <a:solidFill>
                  <a:schemeClr val="tx1"/>
                </a:solidFill>
              </a:rPr>
              <a:t>No double booking (in the database)</a:t>
            </a:r>
            <a:endParaRPr lang="en-US" sz="1300" dirty="0"/>
          </a:p>
        </p:txBody>
      </p:sp>
      <p:sp>
        <p:nvSpPr>
          <p:cNvPr id="26" name="module-2"/>
          <p:cNvSpPr/>
          <p:nvPr/>
        </p:nvSpPr>
        <p:spPr>
          <a:xfrm>
            <a:off x="9317736" y="1463040"/>
            <a:ext cx="2331720" cy="987552"/>
          </a:xfrm>
          <a:prstGeom prst="roundRect">
            <a:avLst>
              <a:gd name="adj" fmla="val 7407"/>
            </a:avLst>
          </a:prstGeom>
          <a:solidFill>
            <a:srgbClr val="F6E3E3"/>
          </a:solidFill>
          <a:ln w="12700">
            <a:solidFill>
              <a:srgbClr val="F6E3E3"/>
            </a:solidFill>
            <a:prstDash val="solid"/>
          </a:ln>
        </p:spPr>
      </p:sp>
      <p:sp>
        <p:nvSpPr>
          <p:cNvPr id="27" name="Text 25"/>
          <p:cNvSpPr txBox="1"/>
          <p:nvPr/>
        </p:nvSpPr>
        <p:spPr>
          <a:xfrm>
            <a:off x="9482328" y="1572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28" name="Text 26"/>
          <p:cNvSpPr txBox="1"/>
          <p:nvPr/>
        </p:nvSpPr>
        <p:spPr>
          <a:xfrm>
            <a:off x="9482328" y="1810512"/>
            <a:ext cx="2057400" cy="566928"/>
          </a:xfrm>
          <a:prstGeom prst="rect">
            <a:avLst/>
          </a:prstGeom>
          <a:noFill/>
          <a:ln/>
        </p:spPr>
        <p:txBody>
          <a:bodyPr wrap="square" lIns="0" tIns="0" rIns="0" bIns="0" rtlCol="0" anchor="t"/>
          <a:lstStyle/>
          <a:p>
            <a:pPr indent="0" marL="0">
              <a:buNone/>
            </a:pPr>
            <a:r>
              <a:rPr lang="en-US" sz="1300" dirty="0">
                <a:solidFill>
                  <a:schemeClr val="tx1"/>
                </a:solidFill>
              </a:rPr>
              <a:t>Student, manager and admin dashboards</a:t>
            </a:r>
            <a:endParaRPr lang="en-US" sz="1300" dirty="0"/>
          </a:p>
        </p:txBody>
      </p:sp>
      <p:sp>
        <p:nvSpPr>
          <p:cNvPr id="29" name="module-3"/>
          <p:cNvSpPr/>
          <p:nvPr/>
        </p:nvSpPr>
        <p:spPr>
          <a:xfrm>
            <a:off x="4343400" y="2606040"/>
            <a:ext cx="2331720" cy="987552"/>
          </a:xfrm>
          <a:prstGeom prst="roundRect">
            <a:avLst>
              <a:gd name="adj" fmla="val 7407"/>
            </a:avLst>
          </a:prstGeom>
          <a:solidFill>
            <a:srgbClr val="F6E3E3"/>
          </a:solidFill>
          <a:ln w="12700">
            <a:solidFill>
              <a:srgbClr val="F6E3E3"/>
            </a:solidFill>
            <a:prstDash val="solid"/>
          </a:ln>
        </p:spPr>
      </p:sp>
      <p:sp>
        <p:nvSpPr>
          <p:cNvPr id="30" name="Text 28"/>
          <p:cNvSpPr txBox="1"/>
          <p:nvPr/>
        </p:nvSpPr>
        <p:spPr>
          <a:xfrm>
            <a:off x="4507992" y="2715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31" name="Text 29"/>
          <p:cNvSpPr txBox="1"/>
          <p:nvPr/>
        </p:nvSpPr>
        <p:spPr>
          <a:xfrm>
            <a:off x="4507992" y="2953512"/>
            <a:ext cx="2057400" cy="566928"/>
          </a:xfrm>
          <a:prstGeom prst="rect">
            <a:avLst/>
          </a:prstGeom>
          <a:noFill/>
          <a:ln/>
        </p:spPr>
        <p:txBody>
          <a:bodyPr wrap="square" lIns="0" tIns="0" rIns="0" bIns="0" rtlCol="0" anchor="t"/>
          <a:lstStyle/>
          <a:p>
            <a:pPr indent="0" marL="0">
              <a:buNone/>
            </a:pPr>
            <a:r>
              <a:rPr lang="en-US" sz="1300" dirty="0">
                <a:solidFill>
                  <a:schemeClr val="tx1"/>
                </a:solidFill>
              </a:rPr>
              <a:t>AI recommender (LinUCB)</a:t>
            </a:r>
            <a:endParaRPr lang="en-US" sz="1300" dirty="0"/>
          </a:p>
        </p:txBody>
      </p:sp>
      <p:sp>
        <p:nvSpPr>
          <p:cNvPr id="32" name="module-4"/>
          <p:cNvSpPr/>
          <p:nvPr/>
        </p:nvSpPr>
        <p:spPr>
          <a:xfrm>
            <a:off x="6830568" y="2606040"/>
            <a:ext cx="2331720" cy="987552"/>
          </a:xfrm>
          <a:prstGeom prst="roundRect">
            <a:avLst>
              <a:gd name="adj" fmla="val 7407"/>
            </a:avLst>
          </a:prstGeom>
          <a:solidFill>
            <a:srgbClr val="F6E3E3"/>
          </a:solidFill>
          <a:ln w="12700">
            <a:solidFill>
              <a:srgbClr val="F6E3E3"/>
            </a:solidFill>
            <a:prstDash val="solid"/>
          </a:ln>
        </p:spPr>
      </p:sp>
      <p:sp>
        <p:nvSpPr>
          <p:cNvPr id="33" name="Text 31"/>
          <p:cNvSpPr txBox="1"/>
          <p:nvPr/>
        </p:nvSpPr>
        <p:spPr>
          <a:xfrm>
            <a:off x="6995160" y="2715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34" name="Text 32"/>
          <p:cNvSpPr txBox="1"/>
          <p:nvPr/>
        </p:nvSpPr>
        <p:spPr>
          <a:xfrm>
            <a:off x="6995160" y="2953512"/>
            <a:ext cx="2057400" cy="566928"/>
          </a:xfrm>
          <a:prstGeom prst="rect">
            <a:avLst/>
          </a:prstGeom>
          <a:noFill/>
          <a:ln/>
        </p:spPr>
        <p:txBody>
          <a:bodyPr wrap="square" lIns="0" tIns="0" rIns="0" bIns="0" rtlCol="0" anchor="t"/>
          <a:lstStyle/>
          <a:p>
            <a:pPr indent="0" marL="0">
              <a:buNone/>
            </a:pPr>
            <a:r>
              <a:rPr lang="en-US" sz="1300" dirty="0">
                <a:solidFill>
                  <a:schemeClr val="tx1"/>
                </a:solidFill>
              </a:rPr>
              <a:t>Grounded chatbot</a:t>
            </a:r>
            <a:endParaRPr lang="en-US" sz="1300" dirty="0"/>
          </a:p>
        </p:txBody>
      </p:sp>
      <p:sp>
        <p:nvSpPr>
          <p:cNvPr id="35" name="module-5"/>
          <p:cNvSpPr/>
          <p:nvPr/>
        </p:nvSpPr>
        <p:spPr>
          <a:xfrm>
            <a:off x="9317736" y="2606040"/>
            <a:ext cx="2331720" cy="987552"/>
          </a:xfrm>
          <a:prstGeom prst="roundRect">
            <a:avLst>
              <a:gd name="adj" fmla="val 7407"/>
            </a:avLst>
          </a:prstGeom>
          <a:solidFill>
            <a:srgbClr val="F6E3E3"/>
          </a:solidFill>
          <a:ln w="12700">
            <a:solidFill>
              <a:srgbClr val="F6E3E3"/>
            </a:solidFill>
            <a:prstDash val="solid"/>
          </a:ln>
        </p:spPr>
      </p:sp>
      <p:sp>
        <p:nvSpPr>
          <p:cNvPr id="36" name="Text 34"/>
          <p:cNvSpPr txBox="1"/>
          <p:nvPr/>
        </p:nvSpPr>
        <p:spPr>
          <a:xfrm>
            <a:off x="9482328" y="2715768"/>
            <a:ext cx="2011680" cy="228600"/>
          </a:xfrm>
          <a:prstGeom prst="rect">
            <a:avLst/>
          </a:prstGeom>
          <a:noFill/>
          <a:ln/>
        </p:spPr>
        <p:txBody>
          <a:bodyPr wrap="square" lIns="0" tIns="0" rIns="0" bIns="0" rtlCol="0" anchor="ctr"/>
          <a:lstStyle/>
          <a:p>
            <a:pPr indent="0" marL="0">
              <a:buNone/>
            </a:pPr>
            <a:r>
              <a:rPr lang="en-US" sz="1000" b="1" spc="100" kern="0" dirty="0">
                <a:solidFill>
                  <a:srgbClr val="9E1B24"/>
                </a:solidFill>
              </a:rPr>
              <a:t>DONE</a:t>
            </a:r>
            <a:endParaRPr lang="en-US" sz="1000" dirty="0"/>
          </a:p>
        </p:txBody>
      </p:sp>
      <p:sp>
        <p:nvSpPr>
          <p:cNvPr id="37" name="Text 35"/>
          <p:cNvSpPr txBox="1"/>
          <p:nvPr/>
        </p:nvSpPr>
        <p:spPr>
          <a:xfrm>
            <a:off x="9482328" y="2953512"/>
            <a:ext cx="2057400" cy="566928"/>
          </a:xfrm>
          <a:prstGeom prst="rect">
            <a:avLst/>
          </a:prstGeom>
          <a:noFill/>
          <a:ln/>
        </p:spPr>
        <p:txBody>
          <a:bodyPr wrap="square" lIns="0" tIns="0" rIns="0" bIns="0" rtlCol="0" anchor="t"/>
          <a:lstStyle/>
          <a:p>
            <a:pPr indent="0" marL="0">
              <a:buNone/>
            </a:pPr>
            <a:r>
              <a:rPr lang="en-US" sz="1300" dirty="0">
                <a:solidFill>
                  <a:schemeClr val="tx1"/>
                </a:solidFill>
              </a:rPr>
              <a:t>Smart door and room automation (Wokwi)</a:t>
            </a:r>
            <a:endParaRPr lang="en-US" sz="1300" dirty="0"/>
          </a:p>
        </p:txBody>
      </p:sp>
      <p:sp>
        <p:nvSpPr>
          <p:cNvPr id="38" name="module-6"/>
          <p:cNvSpPr/>
          <p:nvPr/>
        </p:nvSpPr>
        <p:spPr>
          <a:xfrm>
            <a:off x="4343400" y="3749040"/>
            <a:ext cx="2331720" cy="987552"/>
          </a:xfrm>
          <a:prstGeom prst="roundRect">
            <a:avLst>
              <a:gd name="adj" fmla="val 7407"/>
            </a:avLst>
          </a:prstGeom>
          <a:solidFill>
            <a:srgbClr val="FBF0D9"/>
          </a:solidFill>
          <a:ln w="12700">
            <a:solidFill>
              <a:srgbClr val="FBF0D9"/>
            </a:solidFill>
            <a:prstDash val="solid"/>
          </a:ln>
        </p:spPr>
      </p:sp>
      <p:sp>
        <p:nvSpPr>
          <p:cNvPr id="39" name="Text 37"/>
          <p:cNvSpPr txBox="1"/>
          <p:nvPr/>
        </p:nvSpPr>
        <p:spPr>
          <a:xfrm>
            <a:off x="4507992" y="3858768"/>
            <a:ext cx="2011680" cy="228600"/>
          </a:xfrm>
          <a:prstGeom prst="rect">
            <a:avLst/>
          </a:prstGeom>
          <a:noFill/>
          <a:ln/>
        </p:spPr>
        <p:txBody>
          <a:bodyPr wrap="square" lIns="0" tIns="0" rIns="0" bIns="0" rtlCol="0" anchor="ctr"/>
          <a:lstStyle/>
          <a:p>
            <a:pPr indent="0" marL="0">
              <a:buNone/>
            </a:pPr>
            <a:r>
              <a:rPr lang="en-US" sz="1000" b="1" spc="100" kern="0" dirty="0">
                <a:solidFill>
                  <a:srgbClr val="9A6A0E"/>
                </a:solidFill>
              </a:rPr>
              <a:t>TESTING</a:t>
            </a:r>
            <a:endParaRPr lang="en-US" sz="1000" dirty="0"/>
          </a:p>
        </p:txBody>
      </p:sp>
      <p:sp>
        <p:nvSpPr>
          <p:cNvPr id="40" name="Text 38"/>
          <p:cNvSpPr txBox="1"/>
          <p:nvPr/>
        </p:nvSpPr>
        <p:spPr>
          <a:xfrm>
            <a:off x="4507992" y="4096512"/>
            <a:ext cx="2057400" cy="566928"/>
          </a:xfrm>
          <a:prstGeom prst="rect">
            <a:avLst/>
          </a:prstGeom>
          <a:noFill/>
          <a:ln/>
        </p:spPr>
        <p:txBody>
          <a:bodyPr wrap="square" lIns="0" tIns="0" rIns="0" bIns="0" rtlCol="0" anchor="t"/>
          <a:lstStyle/>
          <a:p>
            <a:pPr indent="0" marL="0">
              <a:buNone/>
            </a:pPr>
            <a:r>
              <a:rPr lang="en-US" sz="1300" dirty="0">
                <a:solidFill>
                  <a:schemeClr val="tx1"/>
                </a:solidFill>
              </a:rPr>
              <a:t>End of booking: reminder, extend, overstay</a:t>
            </a:r>
            <a:endParaRPr lang="en-US" sz="1300" dirty="0"/>
          </a:p>
        </p:txBody>
      </p:sp>
      <p:sp>
        <p:nvSpPr>
          <p:cNvPr id="41" name="module-7"/>
          <p:cNvSpPr/>
          <p:nvPr/>
        </p:nvSpPr>
        <p:spPr>
          <a:xfrm>
            <a:off x="6830568" y="3749040"/>
            <a:ext cx="2331720" cy="987552"/>
          </a:xfrm>
          <a:prstGeom prst="roundRect">
            <a:avLst>
              <a:gd name="adj" fmla="val 7407"/>
            </a:avLst>
          </a:prstGeom>
          <a:solidFill>
            <a:srgbClr val="FBF0D9"/>
          </a:solidFill>
          <a:ln w="12700">
            <a:solidFill>
              <a:srgbClr val="FBF0D9"/>
            </a:solidFill>
            <a:prstDash val="solid"/>
          </a:ln>
        </p:spPr>
      </p:sp>
      <p:sp>
        <p:nvSpPr>
          <p:cNvPr id="42" name="Text 40"/>
          <p:cNvSpPr txBox="1"/>
          <p:nvPr/>
        </p:nvSpPr>
        <p:spPr>
          <a:xfrm>
            <a:off x="6995160" y="3858768"/>
            <a:ext cx="2011680" cy="228600"/>
          </a:xfrm>
          <a:prstGeom prst="rect">
            <a:avLst/>
          </a:prstGeom>
          <a:noFill/>
          <a:ln/>
        </p:spPr>
        <p:txBody>
          <a:bodyPr wrap="square" lIns="0" tIns="0" rIns="0" bIns="0" rtlCol="0" anchor="ctr"/>
          <a:lstStyle/>
          <a:p>
            <a:pPr indent="0" marL="0">
              <a:buNone/>
            </a:pPr>
            <a:r>
              <a:rPr lang="en-US" sz="1000" b="1" spc="100" kern="0" dirty="0">
                <a:solidFill>
                  <a:srgbClr val="9A6A0E"/>
                </a:solidFill>
              </a:rPr>
              <a:t>TESTING</a:t>
            </a:r>
            <a:endParaRPr lang="en-US" sz="1000" dirty="0"/>
          </a:p>
        </p:txBody>
      </p:sp>
      <p:sp>
        <p:nvSpPr>
          <p:cNvPr id="43" name="Text 41"/>
          <p:cNvSpPr txBox="1"/>
          <p:nvPr/>
        </p:nvSpPr>
        <p:spPr>
          <a:xfrm>
            <a:off x="6995160" y="4096512"/>
            <a:ext cx="2057400" cy="566928"/>
          </a:xfrm>
          <a:prstGeom prst="rect">
            <a:avLst/>
          </a:prstGeom>
          <a:noFill/>
          <a:ln/>
        </p:spPr>
        <p:txBody>
          <a:bodyPr wrap="square" lIns="0" tIns="0" rIns="0" bIns="0" rtlCol="0" anchor="t"/>
          <a:lstStyle/>
          <a:p>
            <a:pPr indent="0" marL="0">
              <a:buNone/>
            </a:pPr>
            <a:r>
              <a:rPr lang="en-US" sz="1300" dirty="0">
                <a:solidFill>
                  <a:schemeClr val="tx1"/>
                </a:solidFill>
              </a:rPr>
              <a:t>3D digital twin and energy dashboard</a:t>
            </a:r>
            <a:endParaRPr lang="en-US" sz="1300" dirty="0"/>
          </a:p>
        </p:txBody>
      </p:sp>
      <p:sp>
        <p:nvSpPr>
          <p:cNvPr id="44" name="module-8"/>
          <p:cNvSpPr/>
          <p:nvPr/>
        </p:nvSpPr>
        <p:spPr>
          <a:xfrm>
            <a:off x="9317736" y="3749040"/>
            <a:ext cx="2331720" cy="987552"/>
          </a:xfrm>
          <a:prstGeom prst="roundRect">
            <a:avLst>
              <a:gd name="adj" fmla="val 7407"/>
            </a:avLst>
          </a:prstGeom>
          <a:solidFill>
            <a:srgbClr val="E3E9F3"/>
          </a:solidFill>
          <a:ln w="12700">
            <a:solidFill>
              <a:srgbClr val="E3E9F3"/>
            </a:solidFill>
            <a:prstDash val="solid"/>
          </a:ln>
        </p:spPr>
      </p:sp>
      <p:sp>
        <p:nvSpPr>
          <p:cNvPr id="45" name="Text 43"/>
          <p:cNvSpPr txBox="1"/>
          <p:nvPr/>
        </p:nvSpPr>
        <p:spPr>
          <a:xfrm>
            <a:off x="9482328" y="3858768"/>
            <a:ext cx="2011680" cy="228600"/>
          </a:xfrm>
          <a:prstGeom prst="rect">
            <a:avLst/>
          </a:prstGeom>
          <a:noFill/>
          <a:ln/>
        </p:spPr>
        <p:txBody>
          <a:bodyPr wrap="square" lIns="0" tIns="0" rIns="0" bIns="0" rtlCol="0" anchor="ctr"/>
          <a:lstStyle/>
          <a:p>
            <a:pPr indent="0" marL="0">
              <a:buNone/>
            </a:pPr>
            <a:r>
              <a:rPr lang="en-US" sz="1000" b="1" spc="100" kern="0" dirty="0">
                <a:solidFill>
                  <a:srgbClr val="2F4B7C"/>
                </a:solidFill>
              </a:rPr>
              <a:t>IN PROGRESS</a:t>
            </a:r>
            <a:endParaRPr lang="en-US" sz="1000" dirty="0"/>
          </a:p>
        </p:txBody>
      </p:sp>
      <p:sp>
        <p:nvSpPr>
          <p:cNvPr id="46" name="Text 44"/>
          <p:cNvSpPr txBox="1"/>
          <p:nvPr/>
        </p:nvSpPr>
        <p:spPr>
          <a:xfrm>
            <a:off x="9482328" y="4096512"/>
            <a:ext cx="2057400" cy="566928"/>
          </a:xfrm>
          <a:prstGeom prst="rect">
            <a:avLst/>
          </a:prstGeom>
          <a:noFill/>
          <a:ln/>
        </p:spPr>
        <p:txBody>
          <a:bodyPr wrap="square" lIns="0" tIns="0" rIns="0" bIns="0" rtlCol="0" anchor="t"/>
          <a:lstStyle/>
          <a:p>
            <a:pPr indent="0" marL="0">
              <a:buNone/>
            </a:pPr>
            <a:r>
              <a:rPr lang="en-US" sz="1300" dirty="0">
                <a:solidFill>
                  <a:schemeClr val="tx1"/>
                </a:solidFill>
              </a:rPr>
              <a:t>Remote control of the room</a:t>
            </a:r>
            <a:endParaRPr lang="en-US" sz="1300" dirty="0"/>
          </a:p>
        </p:txBody>
      </p:sp>
      <p:sp>
        <p:nvSpPr>
          <p:cNvPr id="47" name="module-9"/>
          <p:cNvSpPr/>
          <p:nvPr/>
        </p:nvSpPr>
        <p:spPr>
          <a:xfrm>
            <a:off x="4343400" y="4892040"/>
            <a:ext cx="2331720" cy="987552"/>
          </a:xfrm>
          <a:prstGeom prst="roundRect">
            <a:avLst>
              <a:gd name="adj" fmla="val 7407"/>
            </a:avLst>
          </a:prstGeom>
          <a:solidFill>
            <a:srgbClr val="F4F4F5"/>
          </a:solidFill>
          <a:ln w="12700">
            <a:solidFill>
              <a:srgbClr val="F4F4F5"/>
            </a:solidFill>
            <a:prstDash val="solid"/>
          </a:ln>
        </p:spPr>
      </p:sp>
      <p:sp>
        <p:nvSpPr>
          <p:cNvPr id="48" name="Text 46"/>
          <p:cNvSpPr txBox="1"/>
          <p:nvPr/>
        </p:nvSpPr>
        <p:spPr>
          <a:xfrm>
            <a:off x="4507992" y="5001768"/>
            <a:ext cx="2011680" cy="228600"/>
          </a:xfrm>
          <a:prstGeom prst="rect">
            <a:avLst/>
          </a:prstGeom>
          <a:noFill/>
          <a:ln/>
        </p:spPr>
        <p:txBody>
          <a:bodyPr wrap="square" lIns="0" tIns="0" rIns="0" bIns="0" rtlCol="0" anchor="ctr"/>
          <a:lstStyle/>
          <a:p>
            <a:pPr indent="0" marL="0">
              <a:buNone/>
            </a:pPr>
            <a:r>
              <a:rPr lang="en-US" sz="1000" b="1" spc="100" kern="0" dirty="0">
                <a:solidFill>
                  <a:srgbClr val="4B5563"/>
                </a:solidFill>
              </a:rPr>
              <a:t>PLANNED</a:t>
            </a:r>
            <a:endParaRPr lang="en-US" sz="1000" dirty="0"/>
          </a:p>
        </p:txBody>
      </p:sp>
      <p:sp>
        <p:nvSpPr>
          <p:cNvPr id="49" name="Text 47"/>
          <p:cNvSpPr txBox="1"/>
          <p:nvPr/>
        </p:nvSpPr>
        <p:spPr>
          <a:xfrm>
            <a:off x="4507992" y="5239512"/>
            <a:ext cx="2057400" cy="566928"/>
          </a:xfrm>
          <a:prstGeom prst="rect">
            <a:avLst/>
          </a:prstGeom>
          <a:noFill/>
          <a:ln/>
        </p:spPr>
        <p:txBody>
          <a:bodyPr wrap="square" lIns="0" tIns="0" rIns="0" bIns="0" rtlCol="0" anchor="t"/>
          <a:lstStyle/>
          <a:p>
            <a:pPr indent="0" marL="0">
              <a:buNone/>
            </a:pPr>
            <a:r>
              <a:rPr lang="en-US" sz="1300" dirty="0">
                <a:solidFill>
                  <a:schemeClr val="tx1"/>
                </a:solidFill>
              </a:rPr>
              <a:t>All booking rules and privacy in the database</a:t>
            </a:r>
            <a:endParaRPr lang="en-US" sz="1300" dirty="0"/>
          </a:p>
        </p:txBody>
      </p:sp>
      <p:sp>
        <p:nvSpPr>
          <p:cNvPr id="50" name="module-10"/>
          <p:cNvSpPr/>
          <p:nvPr/>
        </p:nvSpPr>
        <p:spPr>
          <a:xfrm>
            <a:off x="6830568" y="4892040"/>
            <a:ext cx="2331720" cy="987552"/>
          </a:xfrm>
          <a:prstGeom prst="roundRect">
            <a:avLst>
              <a:gd name="adj" fmla="val 7407"/>
            </a:avLst>
          </a:prstGeom>
          <a:solidFill>
            <a:srgbClr val="F4F4F5"/>
          </a:solidFill>
          <a:ln w="12700">
            <a:solidFill>
              <a:srgbClr val="F4F4F5"/>
            </a:solidFill>
            <a:prstDash val="solid"/>
          </a:ln>
        </p:spPr>
      </p:sp>
      <p:sp>
        <p:nvSpPr>
          <p:cNvPr id="51" name="Text 49"/>
          <p:cNvSpPr txBox="1"/>
          <p:nvPr/>
        </p:nvSpPr>
        <p:spPr>
          <a:xfrm>
            <a:off x="6995160" y="5001768"/>
            <a:ext cx="2011680" cy="228600"/>
          </a:xfrm>
          <a:prstGeom prst="rect">
            <a:avLst/>
          </a:prstGeom>
          <a:noFill/>
          <a:ln/>
        </p:spPr>
        <p:txBody>
          <a:bodyPr wrap="square" lIns="0" tIns="0" rIns="0" bIns="0" rtlCol="0" anchor="ctr"/>
          <a:lstStyle/>
          <a:p>
            <a:pPr indent="0" marL="0">
              <a:buNone/>
            </a:pPr>
            <a:r>
              <a:rPr lang="en-US" sz="1000" b="1" spc="100" kern="0" dirty="0">
                <a:solidFill>
                  <a:srgbClr val="4B5563"/>
                </a:solidFill>
              </a:rPr>
              <a:t>PLANNED</a:t>
            </a:r>
            <a:endParaRPr lang="en-US" sz="1000" dirty="0"/>
          </a:p>
        </p:txBody>
      </p:sp>
      <p:sp>
        <p:nvSpPr>
          <p:cNvPr id="52" name="Text 50"/>
          <p:cNvSpPr txBox="1"/>
          <p:nvPr/>
        </p:nvSpPr>
        <p:spPr>
          <a:xfrm>
            <a:off x="6995160" y="5239512"/>
            <a:ext cx="2057400" cy="566928"/>
          </a:xfrm>
          <a:prstGeom prst="rect">
            <a:avLst/>
          </a:prstGeom>
          <a:noFill/>
          <a:ln/>
        </p:spPr>
        <p:txBody>
          <a:bodyPr wrap="square" lIns="0" tIns="0" rIns="0" bIns="0" rtlCol="0" anchor="t"/>
          <a:lstStyle/>
          <a:p>
            <a:pPr indent="0" marL="0">
              <a:buNone/>
            </a:pPr>
            <a:r>
              <a:rPr lang="en-US" sz="1300" dirty="0">
                <a:solidFill>
                  <a:schemeClr val="tx1"/>
                </a:solidFill>
              </a:rPr>
              <a:t>Evaluation and user study</a:t>
            </a:r>
            <a:endParaRPr lang="en-US" sz="1300" dirty="0"/>
          </a:p>
        </p:txBody>
      </p:sp>
      <p:sp>
        <p:nvSpPr>
          <p:cNvPr id="53" name="module-11"/>
          <p:cNvSpPr/>
          <p:nvPr/>
        </p:nvSpPr>
        <p:spPr>
          <a:xfrm>
            <a:off x="9317736" y="4892040"/>
            <a:ext cx="2331720" cy="987552"/>
          </a:xfrm>
          <a:prstGeom prst="roundRect">
            <a:avLst>
              <a:gd name="adj" fmla="val 7407"/>
            </a:avLst>
          </a:prstGeom>
          <a:solidFill>
            <a:srgbClr val="F4F4F5"/>
          </a:solidFill>
          <a:ln w="12700">
            <a:solidFill>
              <a:srgbClr val="F4F4F5"/>
            </a:solidFill>
            <a:prstDash val="solid"/>
          </a:ln>
        </p:spPr>
      </p:sp>
      <p:sp>
        <p:nvSpPr>
          <p:cNvPr id="54" name="Text 52"/>
          <p:cNvSpPr txBox="1"/>
          <p:nvPr/>
        </p:nvSpPr>
        <p:spPr>
          <a:xfrm>
            <a:off x="9482328" y="5001768"/>
            <a:ext cx="2011680" cy="228600"/>
          </a:xfrm>
          <a:prstGeom prst="rect">
            <a:avLst/>
          </a:prstGeom>
          <a:noFill/>
          <a:ln/>
        </p:spPr>
        <p:txBody>
          <a:bodyPr wrap="square" lIns="0" tIns="0" rIns="0" bIns="0" rtlCol="0" anchor="ctr"/>
          <a:lstStyle/>
          <a:p>
            <a:pPr indent="0" marL="0">
              <a:buNone/>
            </a:pPr>
            <a:r>
              <a:rPr lang="en-US" sz="1000" b="1" spc="100" kern="0" dirty="0">
                <a:solidFill>
                  <a:srgbClr val="4B5563"/>
                </a:solidFill>
              </a:rPr>
              <a:t>PLANNED</a:t>
            </a:r>
            <a:endParaRPr lang="en-US" sz="1000" dirty="0"/>
          </a:p>
        </p:txBody>
      </p:sp>
      <p:sp>
        <p:nvSpPr>
          <p:cNvPr id="55" name="Text 53"/>
          <p:cNvSpPr txBox="1"/>
          <p:nvPr/>
        </p:nvSpPr>
        <p:spPr>
          <a:xfrm>
            <a:off x="9482328" y="5239512"/>
            <a:ext cx="2057400" cy="566928"/>
          </a:xfrm>
          <a:prstGeom prst="rect">
            <a:avLst/>
          </a:prstGeom>
          <a:noFill/>
          <a:ln/>
        </p:spPr>
        <p:txBody>
          <a:bodyPr wrap="square" lIns="0" tIns="0" rIns="0" bIns="0" rtlCol="0" anchor="t"/>
          <a:lstStyle/>
          <a:p>
            <a:pPr indent="0" marL="0">
              <a:buNone/>
            </a:pPr>
            <a:r>
              <a:rPr lang="en-US" sz="1300" dirty="0">
                <a:solidFill>
                  <a:schemeClr val="tx1"/>
                </a:solidFill>
              </a:rPr>
              <a:t>No-show prediction model</a:t>
            </a:r>
            <a:endParaRPr lang="en-US" sz="1300" dirty="0"/>
          </a:p>
        </p:txBody>
      </p:sp>
      <p:sp>
        <p:nvSpPr>
          <p:cNvPr id="56" name="Text 54"/>
          <p:cNvSpPr txBox="1"/>
          <p:nvPr/>
        </p:nvSpPr>
        <p:spPr>
          <a:xfrm>
            <a:off x="4343400" y="6035040"/>
            <a:ext cx="7315200" cy="365760"/>
          </a:xfrm>
          <a:prstGeom prst="rect">
            <a:avLst/>
          </a:prstGeom>
          <a:noFill/>
          <a:ln/>
        </p:spPr>
        <p:txBody>
          <a:bodyPr wrap="square" lIns="0" tIns="0" rIns="0" bIns="0" rtlCol="0" anchor="ctr"/>
          <a:lstStyle/>
          <a:p>
            <a:pPr indent="0" marL="0">
              <a:buNone/>
            </a:pPr>
            <a:r>
              <a:rPr lang="en-US" sz="1100" i="1" dirty="0">
                <a:solidFill>
                  <a:schemeClr val="tx2"/>
                </a:solidFill>
              </a:rPr>
              <a:t>Counted by module from the Phase 1 plan plus the smart-room extension. "Done" means built and checked by automated tests or a live run.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SYSTEM ARCHITECTURE</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web app, one database, one smart room</a:t>
            </a:r>
            <a:endParaRPr lang="en-US" sz="3000" dirty="0"/>
          </a:p>
        </p:txBody>
      </p:sp>
      <p:sp>
        <p:nvSpPr>
          <p:cNvPr id="6" name="users"/>
          <p:cNvSpPr/>
          <p:nvPr/>
        </p:nvSpPr>
        <p:spPr>
          <a:xfrm>
            <a:off x="548640" y="2514600"/>
            <a:ext cx="2377440" cy="2194560"/>
          </a:xfrm>
          <a:prstGeom prst="roundRect">
            <a:avLst>
              <a:gd name="adj" fmla="val 3333"/>
            </a:avLst>
          </a:prstGeom>
          <a:solidFill>
            <a:srgbClr val="F4F4F5"/>
          </a:solidFill>
          <a:ln w="12700">
            <a:solidFill>
              <a:srgbClr val="E5E7EB"/>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2624328"/>
            <a:ext cx="2011680" cy="365760"/>
          </a:xfrm>
          <a:prstGeom prst="rect">
            <a:avLst/>
          </a:prstGeom>
          <a:noFill/>
          <a:ln/>
        </p:spPr>
        <p:txBody>
          <a:bodyPr wrap="square" lIns="0" tIns="0" rIns="0" bIns="0" rtlCol="0" anchor="ctr"/>
          <a:lstStyle/>
          <a:p>
            <a:pPr indent="0" marL="0">
              <a:buNone/>
            </a:pPr>
            <a:r>
              <a:rPr lang="en-US" sz="1500" b="1" dirty="0">
                <a:solidFill>
                  <a:schemeClr val="tx1"/>
                </a:solidFill>
              </a:rPr>
              <a:t>Users</a:t>
            </a:r>
            <a:endParaRPr lang="en-US" sz="1500" dirty="0"/>
          </a:p>
        </p:txBody>
      </p:sp>
      <p:sp>
        <p:nvSpPr>
          <p:cNvPr id="8" name="Text 6"/>
          <p:cNvSpPr txBox="1"/>
          <p:nvPr/>
        </p:nvSpPr>
        <p:spPr>
          <a:xfrm>
            <a:off x="731520" y="3017520"/>
            <a:ext cx="2011680"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Student</a:t>
            </a:r>
            <a:endParaRPr lang="en-US" sz="1200" dirty="0"/>
          </a:p>
          <a:p>
            <a:pPr marL="342900" indent="-342900">
              <a:spcAft>
                <a:spcPts val="300"/>
              </a:spcAft>
              <a:buSzPct val="100000"/>
              <a:buChar char="•"/>
            </a:pPr>
            <a:r>
              <a:rPr lang="en-US" sz="1200" dirty="0">
                <a:solidFill>
                  <a:schemeClr val="tx1"/>
                </a:solidFill>
              </a:rPr>
              <a:t>Facility manager</a:t>
            </a:r>
            <a:endParaRPr lang="en-US" sz="1200" dirty="0"/>
          </a:p>
          <a:p>
            <a:pPr marL="342900" indent="-342900">
              <a:spcAft>
                <a:spcPts val="300"/>
              </a:spcAft>
              <a:buSzPct val="100000"/>
              <a:buChar char="•"/>
            </a:pPr>
            <a:r>
              <a:rPr lang="en-US" sz="1200" dirty="0">
                <a:solidFill>
                  <a:schemeClr val="tx1"/>
                </a:solidFill>
              </a:rPr>
              <a:t>Administrator</a:t>
            </a:r>
            <a:endParaRPr lang="en-US" sz="1200" dirty="0"/>
          </a:p>
          <a:p>
            <a:pPr marL="342900" indent="-342900">
              <a:spcAft>
                <a:spcPts val="300"/>
              </a:spcAft>
              <a:buSzPct val="100000"/>
              <a:buChar char="•"/>
            </a:pPr>
            <a:r>
              <a:rPr lang="en-US" sz="1200" dirty="0">
                <a:solidFill>
                  <a:schemeClr val="tx1"/>
                </a:solidFill>
              </a:rPr>
              <a:t>Browser or phone</a:t>
            </a:r>
            <a:endParaRPr lang="en-US" sz="1200" dirty="0"/>
          </a:p>
        </p:txBody>
      </p:sp>
      <p:sp>
        <p:nvSpPr>
          <p:cNvPr id="9" name="webapp"/>
          <p:cNvSpPr/>
          <p:nvPr/>
        </p:nvSpPr>
        <p:spPr>
          <a:xfrm>
            <a:off x="3657600" y="1554480"/>
            <a:ext cx="3840480" cy="1783080"/>
          </a:xfrm>
          <a:prstGeom prst="roundRect">
            <a:avLst>
              <a:gd name="adj" fmla="val 4103"/>
            </a:avLst>
          </a:prstGeom>
          <a:solidFill>
            <a:srgbClr val="FFFFFF"/>
          </a:solidFill>
          <a:ln w="12700">
            <a:solidFill>
              <a:srgbClr val="E5E7EB"/>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3840480" y="1664208"/>
            <a:ext cx="3474720" cy="365760"/>
          </a:xfrm>
          <a:prstGeom prst="rect">
            <a:avLst/>
          </a:prstGeom>
          <a:noFill/>
          <a:ln/>
        </p:spPr>
        <p:txBody>
          <a:bodyPr wrap="square" lIns="0" tIns="0" rIns="0" bIns="0" rtlCol="0" anchor="ctr"/>
          <a:lstStyle/>
          <a:p>
            <a:pPr indent="0" marL="0">
              <a:buNone/>
            </a:pPr>
            <a:r>
              <a:rPr lang="en-US" sz="1500" b="1" dirty="0">
                <a:solidFill>
                  <a:schemeClr val="accent1"/>
                </a:solidFill>
              </a:rPr>
              <a:t>Web app  (Next.js on Vercel)</a:t>
            </a:r>
            <a:endParaRPr lang="en-US" sz="1500" dirty="0"/>
          </a:p>
        </p:txBody>
      </p:sp>
      <p:sp>
        <p:nvSpPr>
          <p:cNvPr id="11" name="Text 9"/>
          <p:cNvSpPr txBox="1"/>
          <p:nvPr/>
        </p:nvSpPr>
        <p:spPr>
          <a:xfrm>
            <a:off x="3840480" y="2057400"/>
            <a:ext cx="347472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Booking, approvals, admin console</a:t>
            </a:r>
            <a:endParaRPr lang="en-US" sz="1200" dirty="0"/>
          </a:p>
          <a:p>
            <a:pPr marL="342900" indent="-342900">
              <a:spcAft>
                <a:spcPts val="300"/>
              </a:spcAft>
              <a:buSzPct val="100000"/>
              <a:buChar char="•"/>
            </a:pPr>
            <a:r>
              <a:rPr lang="en-US" sz="1200" dirty="0">
                <a:solidFill>
                  <a:schemeClr val="tx1"/>
                </a:solidFill>
              </a:rPr>
              <a:t>AI recommender + grounded chatbot</a:t>
            </a:r>
            <a:endParaRPr lang="en-US" sz="1200" dirty="0"/>
          </a:p>
          <a:p>
            <a:pPr marL="342900" indent="-342900">
              <a:spcAft>
                <a:spcPts val="300"/>
              </a:spcAft>
              <a:buSzPct val="100000"/>
              <a:buChar char="•"/>
            </a:pPr>
            <a:r>
              <a:rPr lang="en-US" sz="1200" dirty="0">
                <a:solidFill>
                  <a:schemeClr val="tx1"/>
                </a:solidFill>
              </a:rPr>
              <a:t>3D digital twin, energy dashboard</a:t>
            </a:r>
            <a:endParaRPr lang="en-US" sz="1200" dirty="0"/>
          </a:p>
        </p:txBody>
      </p:sp>
      <p:sp>
        <p:nvSpPr>
          <p:cNvPr id="12" name="roomapi"/>
          <p:cNvSpPr/>
          <p:nvPr/>
        </p:nvSpPr>
        <p:spPr>
          <a:xfrm>
            <a:off x="3657600" y="3886200"/>
            <a:ext cx="3840480" cy="1783080"/>
          </a:xfrm>
          <a:prstGeom prst="roundRect">
            <a:avLst>
              <a:gd name="adj" fmla="val 4103"/>
            </a:avLst>
          </a:prstGeom>
          <a:solidFill>
            <a:srgbClr val="FFFFFF"/>
          </a:solidFill>
          <a:ln w="12700">
            <a:solidFill>
              <a:srgbClr val="E5E7EB"/>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3840480" y="3995928"/>
            <a:ext cx="3474720" cy="365760"/>
          </a:xfrm>
          <a:prstGeom prst="rect">
            <a:avLst/>
          </a:prstGeom>
          <a:noFill/>
          <a:ln/>
        </p:spPr>
        <p:txBody>
          <a:bodyPr wrap="square" lIns="0" tIns="0" rIns="0" bIns="0" rtlCol="0" anchor="ctr"/>
          <a:lstStyle/>
          <a:p>
            <a:pPr indent="0" marL="0">
              <a:buNone/>
            </a:pPr>
            <a:r>
              <a:rPr lang="en-US" sz="1500" b="1" dirty="0">
                <a:solidFill>
                  <a:schemeClr val="accent1"/>
                </a:solidFill>
              </a:rPr>
              <a:t>Room API</a:t>
            </a:r>
            <a:endParaRPr lang="en-US" sz="1500" dirty="0"/>
          </a:p>
        </p:txBody>
      </p:sp>
      <p:sp>
        <p:nvSpPr>
          <p:cNvPr id="14" name="Text 12"/>
          <p:cNvSpPr txBox="1"/>
          <p:nvPr/>
        </p:nvSpPr>
        <p:spPr>
          <a:xfrm>
            <a:off x="3840480" y="4389120"/>
            <a:ext cx="347472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unlock, status, event, extend</a:t>
            </a:r>
            <a:endParaRPr lang="en-US" sz="1200" dirty="0"/>
          </a:p>
          <a:p>
            <a:pPr marL="342900" indent="-342900">
              <a:spcAft>
                <a:spcPts val="300"/>
              </a:spcAft>
              <a:buSzPct val="100000"/>
              <a:buChar char="•"/>
            </a:pPr>
            <a:r>
              <a:rPr lang="en-US" sz="1200" dirty="0">
                <a:solidFill>
                  <a:schemeClr val="tx1"/>
                </a:solidFill>
              </a:rPr>
              <a:t>Device key checked on every call</a:t>
            </a:r>
            <a:endParaRPr lang="en-US" sz="1200" dirty="0"/>
          </a:p>
          <a:p>
            <a:pPr marL="342900" indent="-342900">
              <a:spcAft>
                <a:spcPts val="300"/>
              </a:spcAft>
              <a:buSzPct val="100000"/>
              <a:buChar char="•"/>
            </a:pPr>
            <a:r>
              <a:rPr lang="en-US" sz="1200" dirty="0">
                <a:solidFill>
                  <a:schemeClr val="tx1"/>
                </a:solidFill>
              </a:rPr>
              <a:t>Door codes derived, never stored</a:t>
            </a:r>
            <a:endParaRPr lang="en-US" sz="1200" dirty="0"/>
          </a:p>
        </p:txBody>
      </p:sp>
      <p:sp>
        <p:nvSpPr>
          <p:cNvPr id="15" name="db"/>
          <p:cNvSpPr/>
          <p:nvPr/>
        </p:nvSpPr>
        <p:spPr>
          <a:xfrm>
            <a:off x="8229600" y="1554480"/>
            <a:ext cx="3429000" cy="1783080"/>
          </a:xfrm>
          <a:prstGeom prst="roundRect">
            <a:avLst>
              <a:gd name="adj" fmla="val 4103"/>
            </a:avLst>
          </a:prstGeom>
          <a:solidFill>
            <a:srgbClr val="F6E3E3"/>
          </a:solidFill>
          <a:ln w="12700">
            <a:solidFill>
              <a:srgbClr val="E5E7EB"/>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8412480" y="1664208"/>
            <a:ext cx="3063240" cy="365760"/>
          </a:xfrm>
          <a:prstGeom prst="rect">
            <a:avLst/>
          </a:prstGeom>
          <a:noFill/>
          <a:ln/>
        </p:spPr>
        <p:txBody>
          <a:bodyPr wrap="square" lIns="0" tIns="0" rIns="0" bIns="0" rtlCol="0" anchor="ctr"/>
          <a:lstStyle/>
          <a:p>
            <a:pPr indent="0" marL="0">
              <a:buNone/>
            </a:pPr>
            <a:r>
              <a:rPr lang="en-US" sz="1500" b="1" dirty="0">
                <a:solidFill>
                  <a:schemeClr val="accent1"/>
                </a:solidFill>
              </a:rPr>
              <a:t>Supabase  (PostgreSQL)</a:t>
            </a:r>
            <a:endParaRPr lang="en-US" sz="1500" dirty="0"/>
          </a:p>
        </p:txBody>
      </p:sp>
      <p:sp>
        <p:nvSpPr>
          <p:cNvPr id="17" name="Text 15"/>
          <p:cNvSpPr txBox="1"/>
          <p:nvPr/>
        </p:nvSpPr>
        <p:spPr>
          <a:xfrm>
            <a:off x="8412480" y="2057400"/>
            <a:ext cx="306324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No-overlap constraint, row-level security</a:t>
            </a:r>
            <a:endParaRPr lang="en-US" sz="1200" dirty="0"/>
          </a:p>
          <a:p>
            <a:pPr marL="342900" indent="-342900">
              <a:spcAft>
                <a:spcPts val="300"/>
              </a:spcAft>
              <a:buSzPct val="100000"/>
              <a:buChar char="•"/>
            </a:pPr>
            <a:r>
              <a:rPr lang="en-US" sz="1200" dirty="0">
                <a:solidFill>
                  <a:schemeClr val="tx1"/>
                </a:solidFill>
              </a:rPr>
              <a:t>pg_cron: release no-shows, reminders</a:t>
            </a:r>
            <a:endParaRPr lang="en-US" sz="1200" dirty="0"/>
          </a:p>
          <a:p>
            <a:pPr marL="342900" indent="-342900">
              <a:spcAft>
                <a:spcPts val="300"/>
              </a:spcAft>
              <a:buSzPct val="100000"/>
              <a:buChar char="•"/>
            </a:pPr>
            <a:r>
              <a:rPr lang="en-US" sz="1200" dirty="0">
                <a:solidFill>
                  <a:schemeClr val="tx1"/>
                </a:solidFill>
              </a:rPr>
              <a:t>Activity log written by triggers</a:t>
            </a:r>
            <a:endParaRPr lang="en-US" sz="1200" dirty="0"/>
          </a:p>
        </p:txBody>
      </p:sp>
      <p:sp>
        <p:nvSpPr>
          <p:cNvPr id="18" name="device"/>
          <p:cNvSpPr/>
          <p:nvPr/>
        </p:nvSpPr>
        <p:spPr>
          <a:xfrm>
            <a:off x="8229600" y="3886200"/>
            <a:ext cx="3429000" cy="1783080"/>
          </a:xfrm>
          <a:prstGeom prst="roundRect">
            <a:avLst>
              <a:gd name="adj" fmla="val 4103"/>
            </a:avLst>
          </a:prstGeom>
          <a:solidFill>
            <a:srgbClr val="F6E3E3"/>
          </a:solidFill>
          <a:ln w="12700">
            <a:solidFill>
              <a:srgbClr val="E5E7EB"/>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8412480" y="3995928"/>
            <a:ext cx="3063240" cy="365760"/>
          </a:xfrm>
          <a:prstGeom prst="rect">
            <a:avLst/>
          </a:prstGeom>
          <a:noFill/>
          <a:ln/>
        </p:spPr>
        <p:txBody>
          <a:bodyPr wrap="square" lIns="0" tIns="0" rIns="0" bIns="0" rtlCol="0" anchor="ctr"/>
          <a:lstStyle/>
          <a:p>
            <a:pPr indent="0" marL="0">
              <a:buNone/>
            </a:pPr>
            <a:r>
              <a:rPr lang="en-US" sz="1500" b="1" dirty="0">
                <a:solidFill>
                  <a:schemeClr val="accent1"/>
                </a:solidFill>
              </a:rPr>
              <a:t>ESP32 room device  (Wokwi)</a:t>
            </a:r>
            <a:endParaRPr lang="en-US" sz="1500" dirty="0"/>
          </a:p>
        </p:txBody>
      </p:sp>
      <p:sp>
        <p:nvSpPr>
          <p:cNvPr id="20" name="Text 18"/>
          <p:cNvSpPr txBox="1"/>
          <p:nvPr/>
        </p:nvSpPr>
        <p:spPr>
          <a:xfrm>
            <a:off x="8412480" y="4389120"/>
            <a:ext cx="306324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Keypad, OLED, servo lock</a:t>
            </a:r>
            <a:endParaRPr lang="en-US" sz="1200" dirty="0"/>
          </a:p>
          <a:p>
            <a:pPr marL="342900" indent="-342900">
              <a:spcAft>
                <a:spcPts val="300"/>
              </a:spcAft>
              <a:buSzPct val="100000"/>
              <a:buChar char="•"/>
            </a:pPr>
            <a:r>
              <a:rPr lang="en-US" sz="1200" dirty="0">
                <a:solidFill>
                  <a:schemeClr val="tx1"/>
                </a:solidFill>
              </a:rPr>
              <a:t>Presence sensor + noise</a:t>
            </a:r>
            <a:endParaRPr lang="en-US" sz="1200" dirty="0"/>
          </a:p>
          <a:p>
            <a:pPr marL="342900" indent="-342900">
              <a:spcAft>
                <a:spcPts val="300"/>
              </a:spcAft>
              <a:buSzPct val="100000"/>
              <a:buChar char="•"/>
            </a:pPr>
            <a:r>
              <a:rPr lang="en-US" sz="1200" dirty="0">
                <a:solidFill>
                  <a:schemeClr val="tx1"/>
                </a:solidFill>
              </a:rPr>
              <a:t>Lights and air-con outputs</a:t>
            </a:r>
            <a:endParaRPr lang="en-US" sz="1200" dirty="0"/>
          </a:p>
        </p:txBody>
      </p:sp>
      <p:sp>
        <p:nvSpPr>
          <p:cNvPr id="21" name="Shape 19"/>
          <p:cNvSpPr/>
          <p:nvPr/>
        </p:nvSpPr>
        <p:spPr>
          <a:xfrm>
            <a:off x="2971800" y="3611880"/>
            <a:ext cx="640080" cy="-1143000"/>
          </a:xfrm>
          <a:prstGeom prst="line">
            <a:avLst/>
          </a:prstGeom>
          <a:noFill/>
          <a:ln w="19050">
            <a:solidFill>
              <a:srgbClr val="6B7280"/>
            </a:solidFill>
            <a:prstDash val="solid"/>
            <a:headEnd type="triangle"/>
            <a:tailEnd type="triangle"/>
          </a:ln>
        </p:spPr>
      </p:sp>
      <p:sp>
        <p:nvSpPr>
          <p:cNvPr id="22" name="Shape 20"/>
          <p:cNvSpPr/>
          <p:nvPr/>
        </p:nvSpPr>
        <p:spPr>
          <a:xfrm>
            <a:off x="2971800" y="3611880"/>
            <a:ext cx="640080" cy="1143000"/>
          </a:xfrm>
          <a:prstGeom prst="line">
            <a:avLst/>
          </a:prstGeom>
          <a:noFill/>
          <a:ln w="19050">
            <a:solidFill>
              <a:srgbClr val="6B7280"/>
            </a:solidFill>
            <a:prstDash val="solid"/>
            <a:headEnd type="triangle"/>
            <a:tailEnd type="triangle"/>
          </a:ln>
        </p:spPr>
      </p:sp>
      <p:sp>
        <p:nvSpPr>
          <p:cNvPr id="23" name="Shape 21"/>
          <p:cNvSpPr/>
          <p:nvPr/>
        </p:nvSpPr>
        <p:spPr>
          <a:xfrm>
            <a:off x="7543800" y="2468880"/>
            <a:ext cx="640080" cy="0"/>
          </a:xfrm>
          <a:prstGeom prst="line">
            <a:avLst/>
          </a:prstGeom>
          <a:noFill/>
          <a:ln w="19050">
            <a:solidFill>
              <a:srgbClr val="6B7280"/>
            </a:solidFill>
            <a:prstDash val="solid"/>
            <a:headEnd type="triangle"/>
            <a:tailEnd type="triangle"/>
          </a:ln>
        </p:spPr>
      </p:sp>
      <p:sp>
        <p:nvSpPr>
          <p:cNvPr id="24" name="Shape 22"/>
          <p:cNvSpPr/>
          <p:nvPr/>
        </p:nvSpPr>
        <p:spPr>
          <a:xfrm>
            <a:off x="7543800" y="4069080"/>
            <a:ext cx="640080" cy="-868680"/>
          </a:xfrm>
          <a:prstGeom prst="line">
            <a:avLst/>
          </a:prstGeom>
          <a:noFill/>
          <a:ln w="19050">
            <a:solidFill>
              <a:srgbClr val="6B7280"/>
            </a:solidFill>
            <a:prstDash val="solid"/>
            <a:headEnd type="triangle"/>
            <a:tailEnd type="triangle"/>
          </a:ln>
        </p:spPr>
      </p:sp>
      <p:sp>
        <p:nvSpPr>
          <p:cNvPr id="25" name="Shape 23"/>
          <p:cNvSpPr/>
          <p:nvPr/>
        </p:nvSpPr>
        <p:spPr>
          <a:xfrm>
            <a:off x="8183880" y="4754880"/>
            <a:ext cx="-640080" cy="0"/>
          </a:xfrm>
          <a:prstGeom prst="line">
            <a:avLst/>
          </a:prstGeom>
          <a:noFill/>
          <a:ln w="19050">
            <a:solidFill>
              <a:srgbClr val="6B7280"/>
            </a:solidFill>
            <a:prstDash val="solid"/>
            <a:headEnd type="triangle"/>
            <a:tailEnd type="triangle"/>
          </a:ln>
        </p:spPr>
      </p:sp>
      <p:sp>
        <p:nvSpPr>
          <p:cNvPr id="26" name="Text 24"/>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tx2"/>
                </a:solidFill>
              </a:rPr>
              <a:t>Double booking is blocked by the database itself. The other booking rules are checked by the app today and move into the database next.</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AI RECOMMENDER AND CHATBOT</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Suggestions that learn, answers that come from real data</a:t>
            </a:r>
            <a:endParaRPr lang="en-US" sz="3000" dirty="0"/>
          </a:p>
        </p:txBody>
      </p:sp>
      <p:graphicFrame>
        <p:nvGraphicFramePr>
          <p:cNvPr id="6" name="acceptance-chart" descr=""/>
          <p:cNvGraphicFramePr/>
          <p:nvPr/>
        </p:nvGraphicFramePr>
        <p:xfrm>
          <a:off x="548640" y="141732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800600"/>
            <a:ext cx="585216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Every free slot is scored on time closeness, capacity fit and off-peak use, with a reason shown.</a:t>
            </a:r>
            <a:endParaRPr lang="en-US" sz="1300" dirty="0"/>
          </a:p>
          <a:p>
            <a:pPr marL="342900" indent="-342900">
              <a:spcAft>
                <a:spcPts val="500"/>
              </a:spcAft>
              <a:buSzPct val="100000"/>
              <a:buChar char="•"/>
            </a:pPr>
            <a:r>
              <a:rPr lang="en-US" sz="1300" dirty="0">
                <a:solidFill>
                  <a:schemeClr val="tx1"/>
                </a:solidFill>
              </a:rPr>
              <a:t>LinUCB re-ranks for each student; cascade feedback learns from what was taken and what was skipped.</a:t>
            </a:r>
            <a:endParaRPr lang="en-US" sz="1300" dirty="0"/>
          </a:p>
          <a:p>
            <a:pPr marL="342900" indent="-342900">
              <a:spcAft>
                <a:spcPts val="500"/>
              </a:spcAft>
              <a:buSzPct val="100000"/>
              <a:buChar char="•"/>
            </a:pPr>
            <a:r>
              <a:rPr lang="en-US" sz="1300" dirty="0">
                <a:solidFill>
                  <a:schemeClr val="tx1"/>
                </a:solidFill>
              </a:rPr>
              <a:t>Regret 5.8% against 14.3% for fixed scoring.</a:t>
            </a:r>
            <a:endParaRPr lang="en-US" sz="1300" dirty="0"/>
          </a:p>
        </p:txBody>
      </p:sp>
      <p:sp>
        <p:nvSpPr>
          <p:cNvPr id="8" name="chatbot-card"/>
          <p:cNvSpPr/>
          <p:nvPr/>
        </p:nvSpPr>
        <p:spPr>
          <a:xfrm>
            <a:off x="6720840" y="1417320"/>
            <a:ext cx="4937760" cy="4754880"/>
          </a:xfrm>
          <a:prstGeom prst="roundRect">
            <a:avLst>
              <a:gd name="adj" fmla="val 1538"/>
            </a:avLst>
          </a:prstGeom>
          <a:solidFill>
            <a:srgbClr val="F4F4F5"/>
          </a:solidFill>
          <a:ln w="12700">
            <a:solidFill>
              <a:srgbClr val="F4F4F5"/>
            </a:solidFill>
            <a:prstDash val="solid"/>
          </a:ln>
        </p:spPr>
      </p:sp>
      <p:sp>
        <p:nvSpPr>
          <p:cNvPr id="9" name="Text 6"/>
          <p:cNvSpPr txBox="1"/>
          <p:nvPr/>
        </p:nvSpPr>
        <p:spPr>
          <a:xfrm>
            <a:off x="6949440" y="1600200"/>
            <a:ext cx="448056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Grounded chatbot</a:t>
            </a:r>
            <a:endParaRPr lang="en-US" sz="1800" dirty="0"/>
          </a:p>
        </p:txBody>
      </p:sp>
      <p:sp>
        <p:nvSpPr>
          <p:cNvPr id="10" name="Shape 7"/>
          <p:cNvSpPr/>
          <p:nvPr/>
        </p:nvSpPr>
        <p:spPr>
          <a:xfrm>
            <a:off x="6949440" y="2176272"/>
            <a:ext cx="457200" cy="457200"/>
          </a:xfrm>
          <a:prstGeom prst="ellipse">
            <a:avLst/>
          </a:prstGeom>
          <a:solidFill>
            <a:srgbClr val="9E1B24"/>
          </a:solidFill>
          <a:ln w="12700">
            <a:solidFill>
              <a:srgbClr val="9E1B24"/>
            </a:solidFill>
            <a:prstDash val="solid"/>
          </a:ln>
        </p:spPr>
      </p:sp>
      <p:pic>
        <p:nvPicPr>
          <p:cNvPr id="11" name="Image 0" descr="preencoded.png">    </p:cNvPr>
          <p:cNvPicPr>
            <a:picLocks noChangeAspect="1"/>
          </p:cNvPicPr>
          <p:nvPr/>
        </p:nvPicPr>
        <p:blipFill>
          <a:blip r:embed="rId2"/>
          <a:stretch>
            <a:fillRect/>
          </a:stretch>
        </p:blipFill>
        <p:spPr>
          <a:xfrm>
            <a:off x="7059168" y="2286000"/>
            <a:ext cx="237744" cy="237744"/>
          </a:xfrm>
          <a:prstGeom prst="rect">
            <a:avLst/>
          </a:prstGeom>
        </p:spPr>
      </p:pic>
      <p:sp>
        <p:nvSpPr>
          <p:cNvPr id="12" name="Text 8"/>
          <p:cNvSpPr txBox="1"/>
          <p:nvPr/>
        </p:nvSpPr>
        <p:spPr>
          <a:xfrm>
            <a:off x="7589520" y="2148840"/>
            <a:ext cx="3931920" cy="320040"/>
          </a:xfrm>
          <a:prstGeom prst="rect">
            <a:avLst/>
          </a:prstGeom>
          <a:noFill/>
          <a:ln/>
        </p:spPr>
        <p:txBody>
          <a:bodyPr wrap="square" lIns="0" tIns="0" rIns="0" bIns="0" rtlCol="0" anchor="ctr"/>
          <a:lstStyle/>
          <a:p>
            <a:pPr indent="0" marL="0">
              <a:buNone/>
            </a:pPr>
            <a:r>
              <a:rPr lang="en-US" sz="1400" b="1" dirty="0">
                <a:solidFill>
                  <a:schemeClr val="tx1"/>
                </a:solidFill>
              </a:rPr>
              <a:t>Answers only from database rows</a:t>
            </a:r>
            <a:endParaRPr lang="en-US" sz="1400" dirty="0"/>
          </a:p>
        </p:txBody>
      </p:sp>
      <p:sp>
        <p:nvSpPr>
          <p:cNvPr id="13" name="Text 9"/>
          <p:cNvSpPr txBox="1"/>
          <p:nvPr/>
        </p:nvSpPr>
        <p:spPr>
          <a:xfrm>
            <a:off x="7589520" y="2468880"/>
            <a:ext cx="3931920" cy="548640"/>
          </a:xfrm>
          <a:prstGeom prst="rect">
            <a:avLst/>
          </a:prstGeom>
          <a:noFill/>
          <a:ln/>
        </p:spPr>
        <p:txBody>
          <a:bodyPr wrap="square" lIns="0" tIns="0" rIns="0" bIns="0" rtlCol="0" anchor="t"/>
          <a:lstStyle/>
          <a:p>
            <a:pPr indent="0" marL="0">
              <a:buNone/>
            </a:pPr>
            <a:r>
              <a:rPr lang="en-US" sz="1200" dirty="0">
                <a:solidFill>
                  <a:schemeClr val="tx2"/>
                </a:solidFill>
              </a:rPr>
              <a:t>Free times, rules, a specific time, follow-ups</a:t>
            </a:r>
            <a:endParaRPr lang="en-US" sz="1200" dirty="0"/>
          </a:p>
        </p:txBody>
      </p:sp>
      <p:sp>
        <p:nvSpPr>
          <p:cNvPr id="14" name="Shape 10"/>
          <p:cNvSpPr/>
          <p:nvPr/>
        </p:nvSpPr>
        <p:spPr>
          <a:xfrm>
            <a:off x="6949440" y="3163824"/>
            <a:ext cx="457200" cy="457200"/>
          </a:xfrm>
          <a:prstGeom prst="ellipse">
            <a:avLst/>
          </a:prstGeom>
          <a:solidFill>
            <a:srgbClr val="9E1B24"/>
          </a:solidFill>
          <a:ln w="12700">
            <a:solidFill>
              <a:srgbClr val="9E1B24"/>
            </a:solidFill>
            <a:prstDash val="solid"/>
          </a:ln>
        </p:spPr>
      </p:sp>
      <p:pic>
        <p:nvPicPr>
          <p:cNvPr id="15" name="Image 1" descr="preencoded.png">    </p:cNvPr>
          <p:cNvPicPr>
            <a:picLocks noChangeAspect="1"/>
          </p:cNvPicPr>
          <p:nvPr/>
        </p:nvPicPr>
        <p:blipFill>
          <a:blip r:embed="rId3"/>
          <a:stretch>
            <a:fillRect/>
          </a:stretch>
        </p:blipFill>
        <p:spPr>
          <a:xfrm>
            <a:off x="7059168" y="3273552"/>
            <a:ext cx="237744" cy="237744"/>
          </a:xfrm>
          <a:prstGeom prst="rect">
            <a:avLst/>
          </a:prstGeom>
        </p:spPr>
      </p:pic>
      <p:sp>
        <p:nvSpPr>
          <p:cNvPr id="16" name="Text 11"/>
          <p:cNvSpPr txBox="1"/>
          <p:nvPr/>
        </p:nvSpPr>
        <p:spPr>
          <a:xfrm>
            <a:off x="7589520" y="3136392"/>
            <a:ext cx="3931920" cy="320040"/>
          </a:xfrm>
          <a:prstGeom prst="rect">
            <a:avLst/>
          </a:prstGeom>
          <a:noFill/>
          <a:ln/>
        </p:spPr>
        <p:txBody>
          <a:bodyPr wrap="square" lIns="0" tIns="0" rIns="0" bIns="0" rtlCol="0" anchor="ctr"/>
          <a:lstStyle/>
          <a:p>
            <a:pPr indent="0" marL="0">
              <a:buNone/>
            </a:pPr>
            <a:r>
              <a:rPr lang="en-US" sz="1400" b="1" dirty="0">
                <a:solidFill>
                  <a:schemeClr val="tx1"/>
                </a:solidFill>
              </a:rPr>
              <a:t>Only your own bookings</a:t>
            </a:r>
            <a:endParaRPr lang="en-US" sz="1400" dirty="0"/>
          </a:p>
        </p:txBody>
      </p:sp>
      <p:sp>
        <p:nvSpPr>
          <p:cNvPr id="17" name="Text 12"/>
          <p:cNvSpPr txBox="1"/>
          <p:nvPr/>
        </p:nvSpPr>
        <p:spPr>
          <a:xfrm>
            <a:off x="7589520" y="3456432"/>
            <a:ext cx="3931920" cy="548640"/>
          </a:xfrm>
          <a:prstGeom prst="rect">
            <a:avLst/>
          </a:prstGeom>
          <a:noFill/>
          <a:ln/>
        </p:spPr>
        <p:txBody>
          <a:bodyPr wrap="square" lIns="0" tIns="0" rIns="0" bIns="0" rtlCol="0" anchor="t"/>
          <a:lstStyle/>
          <a:p>
            <a:pPr indent="0" marL="0">
              <a:buNone/>
            </a:pPr>
            <a:r>
              <a:rPr lang="en-US" sz="1200" dirty="0">
                <a:solidFill>
                  <a:schemeClr val="tx2"/>
                </a:solidFill>
              </a:rPr>
              <a:t>"My bookings" is filtered to the signed-in student</a:t>
            </a:r>
            <a:endParaRPr lang="en-US" sz="1200" dirty="0"/>
          </a:p>
        </p:txBody>
      </p:sp>
      <p:sp>
        <p:nvSpPr>
          <p:cNvPr id="18" name="Shape 13"/>
          <p:cNvSpPr/>
          <p:nvPr/>
        </p:nvSpPr>
        <p:spPr>
          <a:xfrm>
            <a:off x="6949440" y="4151376"/>
            <a:ext cx="457200" cy="457200"/>
          </a:xfrm>
          <a:prstGeom prst="ellipse">
            <a:avLst/>
          </a:prstGeom>
          <a:solidFill>
            <a:srgbClr val="9E1B24"/>
          </a:solidFill>
          <a:ln w="12700">
            <a:solidFill>
              <a:srgbClr val="9E1B24"/>
            </a:solidFill>
            <a:prstDash val="solid"/>
          </a:ln>
        </p:spPr>
      </p:sp>
      <p:pic>
        <p:nvPicPr>
          <p:cNvPr id="19" name="Image 2" descr="preencoded.png">    </p:cNvPr>
          <p:cNvPicPr>
            <a:picLocks noChangeAspect="1"/>
          </p:cNvPicPr>
          <p:nvPr/>
        </p:nvPicPr>
        <p:blipFill>
          <a:blip r:embed="rId4"/>
          <a:stretch>
            <a:fillRect/>
          </a:stretch>
        </p:blipFill>
        <p:spPr>
          <a:xfrm>
            <a:off x="7059168" y="4261104"/>
            <a:ext cx="237744" cy="237744"/>
          </a:xfrm>
          <a:prstGeom prst="rect">
            <a:avLst/>
          </a:prstGeom>
        </p:spPr>
      </p:pic>
      <p:sp>
        <p:nvSpPr>
          <p:cNvPr id="20" name="Text 14"/>
          <p:cNvSpPr txBox="1"/>
          <p:nvPr/>
        </p:nvSpPr>
        <p:spPr>
          <a:xfrm>
            <a:off x="7589520" y="4123944"/>
            <a:ext cx="3931920" cy="320040"/>
          </a:xfrm>
          <a:prstGeom prst="rect">
            <a:avLst/>
          </a:prstGeom>
          <a:noFill/>
          <a:ln/>
        </p:spPr>
        <p:txBody>
          <a:bodyPr wrap="square" lIns="0" tIns="0" rIns="0" bIns="0" rtlCol="0" anchor="ctr"/>
          <a:lstStyle/>
          <a:p>
            <a:pPr indent="0" marL="0">
              <a:buNone/>
            </a:pPr>
            <a:r>
              <a:rPr lang="en-US" sz="1400" b="1" dirty="0">
                <a:solidFill>
                  <a:schemeClr val="tx1"/>
                </a:solidFill>
              </a:rPr>
              <a:t>Offers alternatives</a:t>
            </a:r>
            <a:endParaRPr lang="en-US" sz="1400" dirty="0"/>
          </a:p>
        </p:txBody>
      </p:sp>
      <p:sp>
        <p:nvSpPr>
          <p:cNvPr id="21" name="Text 15"/>
          <p:cNvSpPr txBox="1"/>
          <p:nvPr/>
        </p:nvSpPr>
        <p:spPr>
          <a:xfrm>
            <a:off x="7589520" y="4443984"/>
            <a:ext cx="3931920" cy="548640"/>
          </a:xfrm>
          <a:prstGeom prst="rect">
            <a:avLst/>
          </a:prstGeom>
          <a:noFill/>
          <a:ln/>
        </p:spPr>
        <p:txBody>
          <a:bodyPr wrap="square" lIns="0" tIns="0" rIns="0" bIns="0" rtlCol="0" anchor="t"/>
          <a:lstStyle/>
          <a:p>
            <a:pPr indent="0" marL="0">
              <a:buNone/>
            </a:pPr>
            <a:r>
              <a:rPr lang="en-US" sz="1200" dirty="0">
                <a:solidFill>
                  <a:schemeClr val="tx2"/>
                </a:solidFill>
              </a:rPr>
              <a:t>If busy, asks the recommender for other rooms or days</a:t>
            </a:r>
            <a:endParaRPr lang="en-US" sz="1200" dirty="0"/>
          </a:p>
        </p:txBody>
      </p:sp>
      <p:sp>
        <p:nvSpPr>
          <p:cNvPr id="22" name="Shape 16"/>
          <p:cNvSpPr/>
          <p:nvPr/>
        </p:nvSpPr>
        <p:spPr>
          <a:xfrm>
            <a:off x="6949440" y="5138928"/>
            <a:ext cx="457200" cy="457200"/>
          </a:xfrm>
          <a:prstGeom prst="ellipse">
            <a:avLst/>
          </a:prstGeom>
          <a:solidFill>
            <a:srgbClr val="9E1B24"/>
          </a:solidFill>
          <a:ln w="12700">
            <a:solidFill>
              <a:srgbClr val="9E1B24"/>
            </a:solidFill>
            <a:prstDash val="solid"/>
          </a:ln>
        </p:spPr>
      </p:sp>
      <p:pic>
        <p:nvPicPr>
          <p:cNvPr id="23" name="Image 3" descr="preencoded.png">    </p:cNvPr>
          <p:cNvPicPr>
            <a:picLocks noChangeAspect="1"/>
          </p:cNvPicPr>
          <p:nvPr/>
        </p:nvPicPr>
        <p:blipFill>
          <a:blip r:embed="rId5"/>
          <a:stretch>
            <a:fillRect/>
          </a:stretch>
        </p:blipFill>
        <p:spPr>
          <a:xfrm>
            <a:off x="7059168" y="5248656"/>
            <a:ext cx="237744" cy="237744"/>
          </a:xfrm>
          <a:prstGeom prst="rect">
            <a:avLst/>
          </a:prstGeom>
        </p:spPr>
      </p:pic>
      <p:sp>
        <p:nvSpPr>
          <p:cNvPr id="24" name="Text 17"/>
          <p:cNvSpPr txBox="1"/>
          <p:nvPr/>
        </p:nvSpPr>
        <p:spPr>
          <a:xfrm>
            <a:off x="7589520" y="5111496"/>
            <a:ext cx="3931920" cy="320040"/>
          </a:xfrm>
          <a:prstGeom prst="rect">
            <a:avLst/>
          </a:prstGeom>
          <a:noFill/>
          <a:ln/>
        </p:spPr>
        <p:txBody>
          <a:bodyPr wrap="square" lIns="0" tIns="0" rIns="0" bIns="0" rtlCol="0" anchor="ctr"/>
          <a:lstStyle/>
          <a:p>
            <a:pPr indent="0" marL="0">
              <a:buNone/>
            </a:pPr>
            <a:r>
              <a:rPr lang="en-US" sz="1400" b="1" dirty="0">
                <a:solidFill>
                  <a:schemeClr val="tx1"/>
                </a:solidFill>
              </a:rPr>
              <a:t>Works offline</a:t>
            </a:r>
            <a:endParaRPr lang="en-US" sz="1400" dirty="0"/>
          </a:p>
        </p:txBody>
      </p:sp>
      <p:sp>
        <p:nvSpPr>
          <p:cNvPr id="25" name="Text 18"/>
          <p:cNvSpPr txBox="1"/>
          <p:nvPr/>
        </p:nvSpPr>
        <p:spPr>
          <a:xfrm>
            <a:off x="7589520" y="5431536"/>
            <a:ext cx="3931920" cy="548640"/>
          </a:xfrm>
          <a:prstGeom prst="rect">
            <a:avLst/>
          </a:prstGeom>
          <a:noFill/>
          <a:ln/>
        </p:spPr>
        <p:txBody>
          <a:bodyPr wrap="square" lIns="0" tIns="0" rIns="0" bIns="0" rtlCol="0" anchor="t"/>
          <a:lstStyle/>
          <a:p>
            <a:pPr indent="0" marL="0">
              <a:buNone/>
            </a:pPr>
            <a:r>
              <a:rPr lang="en-US" sz="1200" dirty="0">
                <a:solidFill>
                  <a:schemeClr val="tx2"/>
                </a:solidFill>
              </a:rPr>
              <a:t>Uses an AI provider when a key is set, rule-based otherwise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SMART LIBRARY ROOM AND 3D TWIN</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booking now controls a room, and you can see it</a:t>
            </a:r>
            <a:endParaRPr lang="en-US" sz="3000" dirty="0"/>
          </a:p>
        </p:txBody>
      </p:sp>
      <p:sp>
        <p:nvSpPr>
          <p:cNvPr id="6" name="Shape 4"/>
          <p:cNvSpPr/>
          <p:nvPr/>
        </p:nvSpPr>
        <p:spPr>
          <a:xfrm>
            <a:off x="548640" y="1453896"/>
            <a:ext cx="502920" cy="502920"/>
          </a:xfrm>
          <a:prstGeom prst="ellipse">
            <a:avLst/>
          </a:prstGeom>
          <a:solidFill>
            <a:srgbClr val="9E1B24"/>
          </a:solidFill>
          <a:ln w="12700">
            <a:solidFill>
              <a:srgbClr val="9E1B24"/>
            </a:solidFill>
            <a:prstDash val="solid"/>
          </a:ln>
        </p:spPr>
      </p:sp>
      <p:pic>
        <p:nvPicPr>
          <p:cNvPr id="7" name="Image 0" descr="preencoded.png">    </p:cNvPr>
          <p:cNvPicPr>
            <a:picLocks noChangeAspect="1"/>
          </p:cNvPicPr>
          <p:nvPr/>
        </p:nvPicPr>
        <p:blipFill>
          <a:blip r:embed="rId1"/>
          <a:stretch>
            <a:fillRect/>
          </a:stretch>
        </p:blipFill>
        <p:spPr>
          <a:xfrm>
            <a:off x="669341" y="1574597"/>
            <a:ext cx="261518" cy="261518"/>
          </a:xfrm>
          <a:prstGeom prst="rect">
            <a:avLst/>
          </a:prstGeom>
        </p:spPr>
      </p:pic>
      <p:sp>
        <p:nvSpPr>
          <p:cNvPr id="8" name="Text 5"/>
          <p:cNvSpPr txBox="1"/>
          <p:nvPr/>
        </p:nvSpPr>
        <p:spPr>
          <a:xfrm>
            <a:off x="1234440" y="1417320"/>
            <a:ext cx="3931920" cy="320040"/>
          </a:xfrm>
          <a:prstGeom prst="rect">
            <a:avLst/>
          </a:prstGeom>
          <a:noFill/>
          <a:ln/>
        </p:spPr>
        <p:txBody>
          <a:bodyPr wrap="square" lIns="0" tIns="0" rIns="0" bIns="0" rtlCol="0" anchor="ctr"/>
          <a:lstStyle/>
          <a:p>
            <a:pPr indent="0" marL="0">
              <a:buNone/>
            </a:pPr>
            <a:r>
              <a:rPr lang="en-US" sz="1500" b="1" dirty="0">
                <a:solidFill>
                  <a:schemeClr val="tx1"/>
                </a:solidFill>
              </a:rPr>
              <a:t>Get code</a:t>
            </a:r>
            <a:endParaRPr lang="en-US" sz="1500" dirty="0"/>
          </a:p>
        </p:txBody>
      </p:sp>
      <p:sp>
        <p:nvSpPr>
          <p:cNvPr id="9" name="Text 6"/>
          <p:cNvSpPr txBox="1"/>
          <p:nvPr/>
        </p:nvSpPr>
        <p:spPr>
          <a:xfrm>
            <a:off x="1234440" y="1737360"/>
            <a:ext cx="3931920" cy="411480"/>
          </a:xfrm>
          <a:prstGeom prst="rect">
            <a:avLst/>
          </a:prstGeom>
          <a:noFill/>
          <a:ln/>
        </p:spPr>
        <p:txBody>
          <a:bodyPr wrap="square" lIns="0" tIns="0" rIns="0" bIns="0" rtlCol="0" anchor="t"/>
          <a:lstStyle/>
          <a:p>
            <a:pPr indent="0" marL="0">
              <a:buNone/>
            </a:pPr>
            <a:r>
              <a:rPr lang="en-US" sz="1200" dirty="0">
                <a:solidFill>
                  <a:schemeClr val="tx2"/>
                </a:solidFill>
              </a:rPr>
              <a:t>6 digits from a secret, never stored</a:t>
            </a:r>
            <a:endParaRPr lang="en-US" sz="1200" dirty="0"/>
          </a:p>
        </p:txBody>
      </p:sp>
      <p:sp>
        <p:nvSpPr>
          <p:cNvPr id="10" name="Shape 7"/>
          <p:cNvSpPr/>
          <p:nvPr/>
        </p:nvSpPr>
        <p:spPr>
          <a:xfrm>
            <a:off x="548640" y="2350008"/>
            <a:ext cx="502920" cy="502920"/>
          </a:xfrm>
          <a:prstGeom prst="ellipse">
            <a:avLst/>
          </a:prstGeom>
          <a:solidFill>
            <a:srgbClr val="9E1B24"/>
          </a:solidFill>
          <a:ln w="12700">
            <a:solidFill>
              <a:srgbClr val="9E1B24"/>
            </a:solidFill>
            <a:prstDash val="solid"/>
          </a:ln>
        </p:spPr>
      </p:sp>
      <p:pic>
        <p:nvPicPr>
          <p:cNvPr id="11" name="Image 1" descr="preencoded.png">    </p:cNvPr>
          <p:cNvPicPr>
            <a:picLocks noChangeAspect="1"/>
          </p:cNvPicPr>
          <p:nvPr/>
        </p:nvPicPr>
        <p:blipFill>
          <a:blip r:embed="rId2"/>
          <a:stretch>
            <a:fillRect/>
          </a:stretch>
        </p:blipFill>
        <p:spPr>
          <a:xfrm>
            <a:off x="669341" y="2470709"/>
            <a:ext cx="261518" cy="261518"/>
          </a:xfrm>
          <a:prstGeom prst="rect">
            <a:avLst/>
          </a:prstGeom>
        </p:spPr>
      </p:pic>
      <p:sp>
        <p:nvSpPr>
          <p:cNvPr id="12" name="Text 8"/>
          <p:cNvSpPr txBox="1"/>
          <p:nvPr/>
        </p:nvSpPr>
        <p:spPr>
          <a:xfrm>
            <a:off x="1234440" y="2313432"/>
            <a:ext cx="3931920" cy="320040"/>
          </a:xfrm>
          <a:prstGeom prst="rect">
            <a:avLst/>
          </a:prstGeom>
          <a:noFill/>
          <a:ln/>
        </p:spPr>
        <p:txBody>
          <a:bodyPr wrap="square" lIns="0" tIns="0" rIns="0" bIns="0" rtlCol="0" anchor="ctr"/>
          <a:lstStyle/>
          <a:p>
            <a:pPr indent="0" marL="0">
              <a:buNone/>
            </a:pPr>
            <a:r>
              <a:rPr lang="en-US" sz="1500" b="1" dirty="0">
                <a:solidFill>
                  <a:schemeClr val="tx1"/>
                </a:solidFill>
              </a:rPr>
              <a:t>Unlock</a:t>
            </a:r>
            <a:endParaRPr lang="en-US" sz="1500" dirty="0"/>
          </a:p>
        </p:txBody>
      </p:sp>
      <p:sp>
        <p:nvSpPr>
          <p:cNvPr id="13" name="Text 9"/>
          <p:cNvSpPr txBox="1"/>
          <p:nvPr/>
        </p:nvSpPr>
        <p:spPr>
          <a:xfrm>
            <a:off x="1234440" y="2633472"/>
            <a:ext cx="3931920" cy="411480"/>
          </a:xfrm>
          <a:prstGeom prst="rect">
            <a:avLst/>
          </a:prstGeom>
          <a:noFill/>
          <a:ln/>
        </p:spPr>
        <p:txBody>
          <a:bodyPr wrap="square" lIns="0" tIns="0" rIns="0" bIns="0" rtlCol="0" anchor="t"/>
          <a:lstStyle/>
          <a:p>
            <a:pPr indent="0" marL="0">
              <a:buNone/>
            </a:pPr>
            <a:r>
              <a:rPr lang="en-US" sz="1200" dirty="0">
                <a:solidFill>
                  <a:schemeClr val="tx2"/>
                </a:solidFill>
              </a:rPr>
              <a:t>keypad opens the lock and checks in</a:t>
            </a:r>
            <a:endParaRPr lang="en-US" sz="1200" dirty="0"/>
          </a:p>
        </p:txBody>
      </p:sp>
      <p:sp>
        <p:nvSpPr>
          <p:cNvPr id="14" name="Shape 10"/>
          <p:cNvSpPr/>
          <p:nvPr/>
        </p:nvSpPr>
        <p:spPr>
          <a:xfrm>
            <a:off x="548640" y="3246120"/>
            <a:ext cx="502920" cy="502920"/>
          </a:xfrm>
          <a:prstGeom prst="ellipse">
            <a:avLst/>
          </a:prstGeom>
          <a:solidFill>
            <a:srgbClr val="9E1B24"/>
          </a:solidFill>
          <a:ln w="12700">
            <a:solidFill>
              <a:srgbClr val="9E1B24"/>
            </a:solidFill>
            <a:prstDash val="solid"/>
          </a:ln>
        </p:spPr>
      </p:sp>
      <p:pic>
        <p:nvPicPr>
          <p:cNvPr id="15" name="Image 2" descr="preencoded.png">    </p:cNvPr>
          <p:cNvPicPr>
            <a:picLocks noChangeAspect="1"/>
          </p:cNvPicPr>
          <p:nvPr/>
        </p:nvPicPr>
        <p:blipFill>
          <a:blip r:embed="rId3"/>
          <a:stretch>
            <a:fillRect/>
          </a:stretch>
        </p:blipFill>
        <p:spPr>
          <a:xfrm>
            <a:off x="669341" y="3366821"/>
            <a:ext cx="261518" cy="261518"/>
          </a:xfrm>
          <a:prstGeom prst="rect">
            <a:avLst/>
          </a:prstGeom>
        </p:spPr>
      </p:pic>
      <p:sp>
        <p:nvSpPr>
          <p:cNvPr id="16" name="Text 11"/>
          <p:cNvSpPr txBox="1"/>
          <p:nvPr/>
        </p:nvSpPr>
        <p:spPr>
          <a:xfrm>
            <a:off x="1234440" y="3209544"/>
            <a:ext cx="3931920" cy="320040"/>
          </a:xfrm>
          <a:prstGeom prst="rect">
            <a:avLst/>
          </a:prstGeom>
          <a:noFill/>
          <a:ln/>
        </p:spPr>
        <p:txBody>
          <a:bodyPr wrap="square" lIns="0" tIns="0" rIns="0" bIns="0" rtlCol="0" anchor="ctr"/>
          <a:lstStyle/>
          <a:p>
            <a:pPr indent="0" marL="0">
              <a:buNone/>
            </a:pPr>
            <a:r>
              <a:rPr lang="en-US" sz="1500" b="1" dirty="0">
                <a:solidFill>
                  <a:schemeClr val="tx1"/>
                </a:solidFill>
              </a:rPr>
              <a:t>Room runs</a:t>
            </a:r>
            <a:endParaRPr lang="en-US" sz="1500" dirty="0"/>
          </a:p>
        </p:txBody>
      </p:sp>
      <p:sp>
        <p:nvSpPr>
          <p:cNvPr id="17" name="Text 12"/>
          <p:cNvSpPr txBox="1"/>
          <p:nvPr/>
        </p:nvSpPr>
        <p:spPr>
          <a:xfrm>
            <a:off x="1234440" y="3529584"/>
            <a:ext cx="3931920" cy="411480"/>
          </a:xfrm>
          <a:prstGeom prst="rect">
            <a:avLst/>
          </a:prstGeom>
          <a:noFill/>
          <a:ln/>
        </p:spPr>
        <p:txBody>
          <a:bodyPr wrap="square" lIns="0" tIns="0" rIns="0" bIns="0" rtlCol="0" anchor="t"/>
          <a:lstStyle/>
          <a:p>
            <a:pPr indent="0" marL="0">
              <a:buNone/>
            </a:pPr>
            <a:r>
              <a:rPr lang="en-US" sz="1200" dirty="0">
                <a:solidFill>
                  <a:schemeClr val="tx2"/>
                </a:solidFill>
              </a:rPr>
              <a:t>presence drives lights and air-con</a:t>
            </a:r>
            <a:endParaRPr lang="en-US" sz="1200" dirty="0"/>
          </a:p>
        </p:txBody>
      </p:sp>
      <p:sp>
        <p:nvSpPr>
          <p:cNvPr id="18" name="Shape 13"/>
          <p:cNvSpPr/>
          <p:nvPr/>
        </p:nvSpPr>
        <p:spPr>
          <a:xfrm>
            <a:off x="548640" y="4142232"/>
            <a:ext cx="502920" cy="502920"/>
          </a:xfrm>
          <a:prstGeom prst="ellipse">
            <a:avLst/>
          </a:prstGeom>
          <a:solidFill>
            <a:srgbClr val="9E1B24"/>
          </a:solidFill>
          <a:ln w="12700">
            <a:solidFill>
              <a:srgbClr val="9E1B24"/>
            </a:solidFill>
            <a:prstDash val="solid"/>
          </a:ln>
        </p:spPr>
      </p:sp>
      <p:pic>
        <p:nvPicPr>
          <p:cNvPr id="19" name="Image 3" descr="preencoded.png">    </p:cNvPr>
          <p:cNvPicPr>
            <a:picLocks noChangeAspect="1"/>
          </p:cNvPicPr>
          <p:nvPr/>
        </p:nvPicPr>
        <p:blipFill>
          <a:blip r:embed="rId4"/>
          <a:stretch>
            <a:fillRect/>
          </a:stretch>
        </p:blipFill>
        <p:spPr>
          <a:xfrm>
            <a:off x="669341" y="4262933"/>
            <a:ext cx="261518" cy="261518"/>
          </a:xfrm>
          <a:prstGeom prst="rect">
            <a:avLst/>
          </a:prstGeom>
        </p:spPr>
      </p:pic>
      <p:sp>
        <p:nvSpPr>
          <p:cNvPr id="20" name="Text 14"/>
          <p:cNvSpPr txBox="1"/>
          <p:nvPr/>
        </p:nvSpPr>
        <p:spPr>
          <a:xfrm>
            <a:off x="1234440" y="4105656"/>
            <a:ext cx="3931920" cy="320040"/>
          </a:xfrm>
          <a:prstGeom prst="rect">
            <a:avLst/>
          </a:prstGeom>
          <a:noFill/>
          <a:ln/>
        </p:spPr>
        <p:txBody>
          <a:bodyPr wrap="square" lIns="0" tIns="0" rIns="0" bIns="0" rtlCol="0" anchor="ctr"/>
          <a:lstStyle/>
          <a:p>
            <a:pPr indent="0" marL="0">
              <a:buNone/>
            </a:pPr>
            <a:r>
              <a:rPr lang="en-US" sz="1500" b="1" dirty="0">
                <a:solidFill>
                  <a:schemeClr val="tx1"/>
                </a:solidFill>
              </a:rPr>
              <a:t>No-show</a:t>
            </a:r>
            <a:endParaRPr lang="en-US" sz="1500" dirty="0"/>
          </a:p>
        </p:txBody>
      </p:sp>
      <p:sp>
        <p:nvSpPr>
          <p:cNvPr id="21" name="Text 15"/>
          <p:cNvSpPr txBox="1"/>
          <p:nvPr/>
        </p:nvSpPr>
        <p:spPr>
          <a:xfrm>
            <a:off x="1234440" y="4425696"/>
            <a:ext cx="3931920" cy="411480"/>
          </a:xfrm>
          <a:prstGeom prst="rect">
            <a:avLst/>
          </a:prstGeom>
          <a:noFill/>
          <a:ln/>
        </p:spPr>
        <p:txBody>
          <a:bodyPr wrap="square" lIns="0" tIns="0" rIns="0" bIns="0" rtlCol="0" anchor="t"/>
          <a:lstStyle/>
          <a:p>
            <a:pPr indent="0" marL="0">
              <a:buNone/>
            </a:pPr>
            <a:r>
              <a:rPr lang="en-US" sz="1200" dirty="0">
                <a:solidFill>
                  <a:schemeClr val="tx2"/>
                </a:solidFill>
              </a:rPr>
              <a:t>not checked in: slot freed automatically</a:t>
            </a:r>
            <a:endParaRPr lang="en-US" sz="1200" dirty="0"/>
          </a:p>
        </p:txBody>
      </p:sp>
      <p:sp>
        <p:nvSpPr>
          <p:cNvPr id="22" name="signal-card"/>
          <p:cNvSpPr/>
          <p:nvPr/>
        </p:nvSpPr>
        <p:spPr>
          <a:xfrm>
            <a:off x="548640" y="5029200"/>
            <a:ext cx="4754880" cy="1005840"/>
          </a:xfrm>
          <a:prstGeom prst="roundRect">
            <a:avLst>
              <a:gd name="adj" fmla="val 7273"/>
            </a:avLst>
          </a:prstGeom>
          <a:solidFill>
            <a:srgbClr val="F6E3E3"/>
          </a:solidFill>
          <a:ln w="12700">
            <a:solidFill>
              <a:srgbClr val="F6E3E3"/>
            </a:solidFill>
            <a:prstDash val="solid"/>
          </a:ln>
        </p:spPr>
      </p:sp>
      <p:sp>
        <p:nvSpPr>
          <p:cNvPr id="23" name="Text 17"/>
          <p:cNvSpPr txBox="1"/>
          <p:nvPr/>
        </p:nvSpPr>
        <p:spPr>
          <a:xfrm>
            <a:off x="731520" y="5120640"/>
            <a:ext cx="4434840" cy="10972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y[n] = 0.1 · x[n] + 0.9 · y[n−1]</a:t>
            </a:r>
            <a:endParaRPr lang="en-US" sz="1800" dirty="0"/>
          </a:p>
          <a:p>
            <a:pPr indent="0" marL="0">
              <a:buNone/>
            </a:pPr>
            <a:r>
              <a:rPr lang="en-US" sz="1200" dirty="0">
                <a:solidFill>
                  <a:schemeClr val="tx1"/>
                </a:solidFill>
              </a:rPr>
              <a:t>Low-pass filter (τ ≈ 1.9 s) with hysteresis 0.35 / 0.08 stops lights flickering on a noisy sensor</a:t>
            </a:r>
            <a:endParaRPr lang="en-US" sz="1800" dirty="0"/>
          </a:p>
        </p:txBody>
      </p:sp>
      <p:pic>
        <p:nvPicPr>
          <p:cNvPr id="24" name="twin-render" descr="/tmp/deck/img/twin-room-live.png">    </p:cNvPr>
          <p:cNvPicPr>
            <a:picLocks noChangeAspect="1"/>
          </p:cNvPicPr>
          <p:nvPr/>
        </p:nvPicPr>
        <p:blipFill>
          <a:blip r:embed="rId5"/>
          <a:stretch>
            <a:fillRect/>
          </a:stretch>
        </p:blipFill>
        <p:spPr>
          <a:xfrm>
            <a:off x="5577840" y="1325880"/>
            <a:ext cx="6080760" cy="4315968"/>
          </a:xfrm>
          <a:prstGeom prst="rect">
            <a:avLst/>
          </a:prstGeom>
        </p:spPr>
      </p:pic>
      <p:sp>
        <p:nvSpPr>
          <p:cNvPr id="25" name="Text 18"/>
          <p:cNvSpPr txBox="1"/>
          <p:nvPr/>
        </p:nvSpPr>
        <p:spPr>
          <a:xfrm>
            <a:off x="5577840" y="5669280"/>
            <a:ext cx="6080760" cy="685800"/>
          </a:xfrm>
          <a:prstGeom prst="rect">
            <a:avLst/>
          </a:prstGeom>
          <a:noFill/>
          <a:ln/>
        </p:spPr>
        <p:txBody>
          <a:bodyPr wrap="square" lIns="0" tIns="0" rIns="0" bIns="0" rtlCol="0" anchor="t"/>
          <a:lstStyle/>
          <a:p>
            <a:pPr indent="0" marL="0">
              <a:buNone/>
            </a:pPr>
            <a:r>
              <a:rPr lang="en-US" sz="1100" b="1" dirty="0">
                <a:solidFill>
                  <a:schemeClr val="tx2"/>
                </a:solidFill>
              </a:rPr>
              <a:t>3D twin, rendered from the room's state: </a:t>
            </a:r>
            <a:pPr indent="0" marL="0">
              <a:buNone/>
            </a:pPr>
            <a:r>
              <a:rPr lang="en-US" sz="1100" dirty="0">
                <a:solidFill>
                  <a:schemeClr val="tx2"/>
                </a:solidFill>
              </a:rPr>
              <a:t>lights, air-con, door, lock, people and booking status. In testing: live updates from Wokwi every 5 s, the energy dashboard, and the end-of-booking reminder, extend and overstay alert.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EVIDENCE SO FAR</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Tested in code, grounded in literature</a:t>
            </a:r>
            <a:endParaRPr lang="en-US" sz="3000" dirty="0"/>
          </a:p>
        </p:txBody>
      </p:sp>
      <p:sp>
        <p:nvSpPr>
          <p:cNvPr id="6" name="verify-0"/>
          <p:cNvSpPr/>
          <p:nvPr/>
        </p:nvSpPr>
        <p:spPr>
          <a:xfrm>
            <a:off x="548640" y="1463040"/>
            <a:ext cx="2743200" cy="2057400"/>
          </a:xfrm>
          <a:prstGeom prst="roundRect">
            <a:avLst>
              <a:gd name="adj" fmla="val 3556"/>
            </a:avLst>
          </a:prstGeom>
          <a:solidFill>
            <a:srgbClr val="F4F4F5"/>
          </a:solidFill>
          <a:ln w="12700">
            <a:solidFill>
              <a:srgbClr val="F4F4F5"/>
            </a:solidFill>
            <a:prstDash val="solid"/>
          </a:ln>
        </p:spPr>
      </p:sp>
      <p:sp>
        <p:nvSpPr>
          <p:cNvPr id="7" name="Shape 5"/>
          <p:cNvSpPr/>
          <p:nvPr/>
        </p:nvSpPr>
        <p:spPr>
          <a:xfrm>
            <a:off x="777240" y="1691640"/>
            <a:ext cx="502920" cy="502920"/>
          </a:xfrm>
          <a:prstGeom prst="ellipse">
            <a:avLst/>
          </a:prstGeom>
          <a:solidFill>
            <a:srgbClr val="9E1B24"/>
          </a:solidFill>
          <a:ln w="12700">
            <a:solidFill>
              <a:srgbClr val="9E1B24"/>
            </a:solidFill>
            <a:prstDash val="solid"/>
          </a:ln>
        </p:spPr>
      </p:sp>
      <p:pic>
        <p:nvPicPr>
          <p:cNvPr id="8" name="Image 0" descr="preencoded.png">    </p:cNvPr>
          <p:cNvPicPr>
            <a:picLocks noChangeAspect="1"/>
          </p:cNvPicPr>
          <p:nvPr/>
        </p:nvPicPr>
        <p:blipFill>
          <a:blip r:embed="rId1"/>
          <a:stretch>
            <a:fillRect/>
          </a:stretch>
        </p:blipFill>
        <p:spPr>
          <a:xfrm>
            <a:off x="897941" y="1812341"/>
            <a:ext cx="261518" cy="261518"/>
          </a:xfrm>
          <a:prstGeom prst="rect">
            <a:avLst/>
          </a:prstGeom>
        </p:spPr>
      </p:pic>
      <p:sp>
        <p:nvSpPr>
          <p:cNvPr id="9" name="Text 6"/>
          <p:cNvSpPr txBox="1"/>
          <p:nvPr/>
        </p:nvSpPr>
        <p:spPr>
          <a:xfrm>
            <a:off x="777240" y="2286000"/>
            <a:ext cx="23317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106</a:t>
            </a:r>
            <a:endParaRPr lang="en-US" sz="2000" dirty="0"/>
          </a:p>
        </p:txBody>
      </p:sp>
      <p:sp>
        <p:nvSpPr>
          <p:cNvPr id="10" name="Text 7"/>
          <p:cNvSpPr txBox="1"/>
          <p:nvPr/>
        </p:nvSpPr>
        <p:spPr>
          <a:xfrm>
            <a:off x="777240" y="2697480"/>
            <a:ext cx="2331720" cy="731520"/>
          </a:xfrm>
          <a:prstGeom prst="rect">
            <a:avLst/>
          </a:prstGeom>
          <a:noFill/>
          <a:ln/>
        </p:spPr>
        <p:txBody>
          <a:bodyPr wrap="square" lIns="0" tIns="0" rIns="0" bIns="0" rtlCol="0" anchor="t"/>
          <a:lstStyle/>
          <a:p>
            <a:pPr indent="0" marL="0">
              <a:buNone/>
            </a:pPr>
            <a:r>
              <a:rPr lang="en-US" sz="1200" dirty="0">
                <a:solidFill>
                  <a:schemeClr val="tx2"/>
                </a:solidFill>
              </a:rPr>
              <a:t>automated tests: time, recommender, bandit, chatbot, door logic, energy, twin</a:t>
            </a:r>
            <a:endParaRPr lang="en-US" sz="1200" dirty="0"/>
          </a:p>
        </p:txBody>
      </p:sp>
      <p:sp>
        <p:nvSpPr>
          <p:cNvPr id="11" name="verify-1"/>
          <p:cNvSpPr/>
          <p:nvPr/>
        </p:nvSpPr>
        <p:spPr>
          <a:xfrm>
            <a:off x="3474720" y="1463040"/>
            <a:ext cx="2743200" cy="2057400"/>
          </a:xfrm>
          <a:prstGeom prst="roundRect">
            <a:avLst>
              <a:gd name="adj" fmla="val 3556"/>
            </a:avLst>
          </a:prstGeom>
          <a:solidFill>
            <a:srgbClr val="F4F4F5"/>
          </a:solidFill>
          <a:ln w="12700">
            <a:solidFill>
              <a:srgbClr val="F4F4F5"/>
            </a:solidFill>
            <a:prstDash val="solid"/>
          </a:ln>
        </p:spPr>
      </p:sp>
      <p:sp>
        <p:nvSpPr>
          <p:cNvPr id="12" name="Shape 9"/>
          <p:cNvSpPr/>
          <p:nvPr/>
        </p:nvSpPr>
        <p:spPr>
          <a:xfrm>
            <a:off x="3703320" y="1691640"/>
            <a:ext cx="502920" cy="502920"/>
          </a:xfrm>
          <a:prstGeom prst="ellipse">
            <a:avLst/>
          </a:prstGeom>
          <a:solidFill>
            <a:srgbClr val="9E1B24"/>
          </a:solidFill>
          <a:ln w="12700">
            <a:solidFill>
              <a:srgbClr val="9E1B24"/>
            </a:solidFill>
            <a:prstDash val="solid"/>
          </a:ln>
        </p:spPr>
      </p:sp>
      <p:pic>
        <p:nvPicPr>
          <p:cNvPr id="13" name="Image 1" descr="preencoded.png">    </p:cNvPr>
          <p:cNvPicPr>
            <a:picLocks noChangeAspect="1"/>
          </p:cNvPicPr>
          <p:nvPr/>
        </p:nvPicPr>
        <p:blipFill>
          <a:blip r:embed="rId2"/>
          <a:stretch>
            <a:fillRect/>
          </a:stretch>
        </p:blipFill>
        <p:spPr>
          <a:xfrm>
            <a:off x="3824021" y="1812341"/>
            <a:ext cx="261518" cy="261518"/>
          </a:xfrm>
          <a:prstGeom prst="rect">
            <a:avLst/>
          </a:prstGeom>
        </p:spPr>
      </p:pic>
      <p:sp>
        <p:nvSpPr>
          <p:cNvPr id="14" name="Text 10"/>
          <p:cNvSpPr txBox="1"/>
          <p:nvPr/>
        </p:nvSpPr>
        <p:spPr>
          <a:xfrm>
            <a:off x="3703320" y="2286000"/>
            <a:ext cx="23317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PostgreSQL 17</a:t>
            </a:r>
            <a:endParaRPr lang="en-US" sz="2000" dirty="0"/>
          </a:p>
        </p:txBody>
      </p:sp>
      <p:sp>
        <p:nvSpPr>
          <p:cNvPr id="15" name="Text 11"/>
          <p:cNvSpPr txBox="1"/>
          <p:nvPr/>
        </p:nvSpPr>
        <p:spPr>
          <a:xfrm>
            <a:off x="3703320" y="2697480"/>
            <a:ext cx="2331720" cy="731520"/>
          </a:xfrm>
          <a:prstGeom prst="rect">
            <a:avLst/>
          </a:prstGeom>
          <a:noFill/>
          <a:ln/>
        </p:spPr>
        <p:txBody>
          <a:bodyPr wrap="square" lIns="0" tIns="0" rIns="0" bIns="0" rtlCol="0" anchor="t"/>
          <a:lstStyle/>
          <a:p>
            <a:pPr indent="0" marL="0">
              <a:buNone/>
            </a:pPr>
            <a:r>
              <a:rPr lang="en-US" sz="1200" dirty="0">
                <a:solidFill>
                  <a:schemeClr val="tx2"/>
                </a:solidFill>
              </a:rPr>
              <a:t>migrations run on a real database, with permission checks</a:t>
            </a:r>
            <a:endParaRPr lang="en-US" sz="1200" dirty="0"/>
          </a:p>
        </p:txBody>
      </p:sp>
      <p:sp>
        <p:nvSpPr>
          <p:cNvPr id="16" name="verify-2"/>
          <p:cNvSpPr/>
          <p:nvPr/>
        </p:nvSpPr>
        <p:spPr>
          <a:xfrm>
            <a:off x="548640" y="3749040"/>
            <a:ext cx="2743200" cy="2057400"/>
          </a:xfrm>
          <a:prstGeom prst="roundRect">
            <a:avLst>
              <a:gd name="adj" fmla="val 3556"/>
            </a:avLst>
          </a:prstGeom>
          <a:solidFill>
            <a:srgbClr val="F4F4F5"/>
          </a:solidFill>
          <a:ln w="12700">
            <a:solidFill>
              <a:srgbClr val="F4F4F5"/>
            </a:solidFill>
            <a:prstDash val="solid"/>
          </a:ln>
        </p:spPr>
      </p:sp>
      <p:sp>
        <p:nvSpPr>
          <p:cNvPr id="17" name="Shape 13"/>
          <p:cNvSpPr/>
          <p:nvPr/>
        </p:nvSpPr>
        <p:spPr>
          <a:xfrm>
            <a:off x="777240" y="3977640"/>
            <a:ext cx="502920" cy="502920"/>
          </a:xfrm>
          <a:prstGeom prst="ellipse">
            <a:avLst/>
          </a:prstGeom>
          <a:solidFill>
            <a:srgbClr val="9E1B24"/>
          </a:solidFill>
          <a:ln w="12700">
            <a:solidFill>
              <a:srgbClr val="9E1B24"/>
            </a:solidFill>
            <a:prstDash val="solid"/>
          </a:ln>
        </p:spPr>
      </p:sp>
      <p:pic>
        <p:nvPicPr>
          <p:cNvPr id="18" name="Image 2" descr="preencoded.png">    </p:cNvPr>
          <p:cNvPicPr>
            <a:picLocks noChangeAspect="1"/>
          </p:cNvPicPr>
          <p:nvPr/>
        </p:nvPicPr>
        <p:blipFill>
          <a:blip r:embed="rId3"/>
          <a:stretch>
            <a:fillRect/>
          </a:stretch>
        </p:blipFill>
        <p:spPr>
          <a:xfrm>
            <a:off x="897941" y="4098341"/>
            <a:ext cx="261518" cy="261518"/>
          </a:xfrm>
          <a:prstGeom prst="rect">
            <a:avLst/>
          </a:prstGeom>
        </p:spPr>
      </p:pic>
      <p:sp>
        <p:nvSpPr>
          <p:cNvPr id="19" name="Text 14"/>
          <p:cNvSpPr txBox="1"/>
          <p:nvPr/>
        </p:nvSpPr>
        <p:spPr>
          <a:xfrm>
            <a:off x="777240" y="4572000"/>
            <a:ext cx="23317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4 methods</a:t>
            </a:r>
            <a:endParaRPr lang="en-US" sz="2000" dirty="0"/>
          </a:p>
        </p:txBody>
      </p:sp>
      <p:sp>
        <p:nvSpPr>
          <p:cNvPr id="20" name="Text 15"/>
          <p:cNvSpPr txBox="1"/>
          <p:nvPr/>
        </p:nvSpPr>
        <p:spPr>
          <a:xfrm>
            <a:off x="777240" y="4983480"/>
            <a:ext cx="2331720" cy="731520"/>
          </a:xfrm>
          <a:prstGeom prst="rect">
            <a:avLst/>
          </a:prstGeom>
          <a:noFill/>
          <a:ln/>
        </p:spPr>
        <p:txBody>
          <a:bodyPr wrap="square" lIns="0" tIns="0" rIns="0" bIns="0" rtlCol="0" anchor="t"/>
          <a:lstStyle/>
          <a:p>
            <a:pPr indent="0" marL="0">
              <a:buNone/>
            </a:pPr>
            <a:r>
              <a:rPr lang="en-US" sz="1200" dirty="0">
                <a:solidFill>
                  <a:schemeClr val="tx2"/>
                </a:solidFill>
              </a:rPr>
              <a:t>compared in a simulation on the same students</a:t>
            </a:r>
            <a:endParaRPr lang="en-US" sz="1200" dirty="0"/>
          </a:p>
        </p:txBody>
      </p:sp>
      <p:sp>
        <p:nvSpPr>
          <p:cNvPr id="21" name="verify-3"/>
          <p:cNvSpPr/>
          <p:nvPr/>
        </p:nvSpPr>
        <p:spPr>
          <a:xfrm>
            <a:off x="3474720" y="3749040"/>
            <a:ext cx="2743200" cy="2057400"/>
          </a:xfrm>
          <a:prstGeom prst="roundRect">
            <a:avLst>
              <a:gd name="adj" fmla="val 3556"/>
            </a:avLst>
          </a:prstGeom>
          <a:solidFill>
            <a:srgbClr val="F4F4F5"/>
          </a:solidFill>
          <a:ln w="12700">
            <a:solidFill>
              <a:srgbClr val="F4F4F5"/>
            </a:solidFill>
            <a:prstDash val="solid"/>
          </a:ln>
        </p:spPr>
      </p:sp>
      <p:sp>
        <p:nvSpPr>
          <p:cNvPr id="22" name="Shape 17"/>
          <p:cNvSpPr/>
          <p:nvPr/>
        </p:nvSpPr>
        <p:spPr>
          <a:xfrm>
            <a:off x="3703320" y="3977640"/>
            <a:ext cx="502920" cy="502920"/>
          </a:xfrm>
          <a:prstGeom prst="ellipse">
            <a:avLst/>
          </a:prstGeom>
          <a:solidFill>
            <a:srgbClr val="9E1B24"/>
          </a:solidFill>
          <a:ln w="12700">
            <a:solidFill>
              <a:srgbClr val="9E1B24"/>
            </a:solidFill>
            <a:prstDash val="solid"/>
          </a:ln>
        </p:spPr>
      </p:sp>
      <p:pic>
        <p:nvPicPr>
          <p:cNvPr id="23" name="Image 3" descr="preencoded.png">    </p:cNvPr>
          <p:cNvPicPr>
            <a:picLocks noChangeAspect="1"/>
          </p:cNvPicPr>
          <p:nvPr/>
        </p:nvPicPr>
        <p:blipFill>
          <a:blip r:embed="rId4"/>
          <a:stretch>
            <a:fillRect/>
          </a:stretch>
        </p:blipFill>
        <p:spPr>
          <a:xfrm>
            <a:off x="3824021" y="4098341"/>
            <a:ext cx="261518" cy="261518"/>
          </a:xfrm>
          <a:prstGeom prst="rect">
            <a:avLst/>
          </a:prstGeom>
        </p:spPr>
      </p:pic>
      <p:sp>
        <p:nvSpPr>
          <p:cNvPr id="24" name="Text 18"/>
          <p:cNvSpPr txBox="1"/>
          <p:nvPr/>
        </p:nvSpPr>
        <p:spPr>
          <a:xfrm>
            <a:off x="3703320" y="4572000"/>
            <a:ext cx="23317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Live run</a:t>
            </a:r>
            <a:endParaRPr lang="en-US" sz="2000" dirty="0"/>
          </a:p>
        </p:txBody>
      </p:sp>
      <p:sp>
        <p:nvSpPr>
          <p:cNvPr id="25" name="Text 19"/>
          <p:cNvSpPr txBox="1"/>
          <p:nvPr/>
        </p:nvSpPr>
        <p:spPr>
          <a:xfrm>
            <a:off x="3703320" y="4983480"/>
            <a:ext cx="2331720" cy="731520"/>
          </a:xfrm>
          <a:prstGeom prst="rect">
            <a:avLst/>
          </a:prstGeom>
          <a:noFill/>
          <a:ln/>
        </p:spPr>
        <p:txBody>
          <a:bodyPr wrap="square" lIns="0" tIns="0" rIns="0" bIns="0" rtlCol="0" anchor="t"/>
          <a:lstStyle/>
          <a:p>
            <a:pPr indent="0" marL="0">
              <a:buNone/>
            </a:pPr>
            <a:r>
              <a:rPr lang="en-US" sz="1200" dirty="0">
                <a:solidFill>
                  <a:schemeClr val="tx2"/>
                </a:solidFill>
              </a:rPr>
              <a:t>door code to unlock and check-in confirmed working in Wokwi</a:t>
            </a:r>
            <a:endParaRPr lang="en-US" sz="1200" dirty="0"/>
          </a:p>
        </p:txBody>
      </p:sp>
      <p:sp>
        <p:nvSpPr>
          <p:cNvPr id="26" name="Text 20"/>
          <p:cNvSpPr txBox="1"/>
          <p:nvPr/>
        </p:nvSpPr>
        <p:spPr>
          <a:xfrm>
            <a:off x="6629400" y="1463040"/>
            <a:ext cx="50292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Literature for the new features</a:t>
            </a:r>
            <a:endParaRPr lang="en-US" sz="1800" dirty="0"/>
          </a:p>
        </p:txBody>
      </p:sp>
      <p:sp>
        <p:nvSpPr>
          <p:cNvPr id="27" name="Text 21"/>
          <p:cNvSpPr txBox="1"/>
          <p:nvPr/>
        </p:nvSpPr>
        <p:spPr>
          <a:xfrm>
            <a:off x="6629400" y="1920240"/>
            <a:ext cx="1463040" cy="685800"/>
          </a:xfrm>
          <a:prstGeom prst="rect">
            <a:avLst/>
          </a:prstGeom>
          <a:noFill/>
          <a:ln/>
        </p:spPr>
        <p:txBody>
          <a:bodyPr wrap="square" lIns="0" tIns="0" rIns="0" bIns="0" rtlCol="0" anchor="t"/>
          <a:lstStyle/>
          <a:p>
            <a:pPr indent="0" marL="0">
              <a:buNone/>
            </a:pPr>
            <a:r>
              <a:rPr lang="en-US" sz="1300" b="1" dirty="0">
                <a:solidFill>
                  <a:schemeClr val="accent1"/>
                </a:solidFill>
              </a:rPr>
              <a:t>Recommender</a:t>
            </a:r>
            <a:endParaRPr lang="en-US" sz="1300" dirty="0"/>
          </a:p>
        </p:txBody>
      </p:sp>
      <p:sp>
        <p:nvSpPr>
          <p:cNvPr id="28" name="Text 22"/>
          <p:cNvSpPr txBox="1"/>
          <p:nvPr/>
        </p:nvSpPr>
        <p:spPr>
          <a:xfrm>
            <a:off x="8138160" y="1920240"/>
            <a:ext cx="3520440" cy="685800"/>
          </a:xfrm>
          <a:prstGeom prst="rect">
            <a:avLst/>
          </a:prstGeom>
          <a:noFill/>
          <a:ln/>
        </p:spPr>
        <p:txBody>
          <a:bodyPr wrap="square" lIns="0" tIns="0" rIns="0" bIns="0" rtlCol="0" anchor="t"/>
          <a:lstStyle/>
          <a:p>
            <a:pPr indent="0" marL="0">
              <a:buNone/>
            </a:pPr>
            <a:r>
              <a:rPr lang="en-US" sz="1300" dirty="0">
                <a:solidFill>
                  <a:schemeClr val="tx1"/>
                </a:solidFill>
              </a:rPr>
              <a:t>Li et al. (2010) LinUCB; Kveton et al. (2015) cascading bandits</a:t>
            </a:r>
            <a:endParaRPr lang="en-US" sz="1300" dirty="0"/>
          </a:p>
        </p:txBody>
      </p:sp>
      <p:sp>
        <p:nvSpPr>
          <p:cNvPr id="29" name="Text 23"/>
          <p:cNvSpPr txBox="1"/>
          <p:nvPr/>
        </p:nvSpPr>
        <p:spPr>
          <a:xfrm>
            <a:off x="6629400" y="2706624"/>
            <a:ext cx="1463040" cy="685800"/>
          </a:xfrm>
          <a:prstGeom prst="rect">
            <a:avLst/>
          </a:prstGeom>
          <a:noFill/>
          <a:ln/>
        </p:spPr>
        <p:txBody>
          <a:bodyPr wrap="square" lIns="0" tIns="0" rIns="0" bIns="0" rtlCol="0" anchor="t"/>
          <a:lstStyle/>
          <a:p>
            <a:pPr indent="0" marL="0">
              <a:buNone/>
            </a:pPr>
            <a:r>
              <a:rPr lang="en-US" sz="1300" b="1" dirty="0">
                <a:solidFill>
                  <a:schemeClr val="accent1"/>
                </a:solidFill>
              </a:rPr>
              <a:t>Smart room</a:t>
            </a:r>
            <a:endParaRPr lang="en-US" sz="1300" dirty="0"/>
          </a:p>
        </p:txBody>
      </p:sp>
      <p:sp>
        <p:nvSpPr>
          <p:cNvPr id="30" name="Text 24"/>
          <p:cNvSpPr txBox="1"/>
          <p:nvPr/>
        </p:nvSpPr>
        <p:spPr>
          <a:xfrm>
            <a:off x="8138160" y="2706624"/>
            <a:ext cx="3520440" cy="685800"/>
          </a:xfrm>
          <a:prstGeom prst="rect">
            <a:avLst/>
          </a:prstGeom>
          <a:noFill/>
          <a:ln/>
        </p:spPr>
        <p:txBody>
          <a:bodyPr wrap="square" lIns="0" tIns="0" rIns="0" bIns="0" rtlCol="0" anchor="t"/>
          <a:lstStyle/>
          <a:p>
            <a:pPr indent="0" marL="0">
              <a:buNone/>
            </a:pPr>
            <a:r>
              <a:rPr lang="en-US" sz="1300" dirty="0">
                <a:solidFill>
                  <a:schemeClr val="tx1"/>
                </a:solidFill>
              </a:rPr>
              <a:t>Naylor et al. (2018) occupant-centric control; Labeodan et al. (2015)</a:t>
            </a:r>
            <a:endParaRPr lang="en-US" sz="1300" dirty="0"/>
          </a:p>
        </p:txBody>
      </p:sp>
      <p:sp>
        <p:nvSpPr>
          <p:cNvPr id="31" name="Text 25"/>
          <p:cNvSpPr txBox="1"/>
          <p:nvPr/>
        </p:nvSpPr>
        <p:spPr>
          <a:xfrm>
            <a:off x="6629400" y="3493008"/>
            <a:ext cx="1463040" cy="685800"/>
          </a:xfrm>
          <a:prstGeom prst="rect">
            <a:avLst/>
          </a:prstGeom>
          <a:noFill/>
          <a:ln/>
        </p:spPr>
        <p:txBody>
          <a:bodyPr wrap="square" lIns="0" tIns="0" rIns="0" bIns="0" rtlCol="0" anchor="t"/>
          <a:lstStyle/>
          <a:p>
            <a:pPr indent="0" marL="0">
              <a:buNone/>
            </a:pPr>
            <a:r>
              <a:rPr lang="en-US" sz="1300" b="1" dirty="0">
                <a:solidFill>
                  <a:schemeClr val="accent1"/>
                </a:solidFill>
              </a:rPr>
              <a:t>Digital twin</a:t>
            </a:r>
            <a:endParaRPr lang="en-US" sz="1300" dirty="0"/>
          </a:p>
        </p:txBody>
      </p:sp>
      <p:sp>
        <p:nvSpPr>
          <p:cNvPr id="32" name="Text 26"/>
          <p:cNvSpPr txBox="1"/>
          <p:nvPr/>
        </p:nvSpPr>
        <p:spPr>
          <a:xfrm>
            <a:off x="8138160" y="3493008"/>
            <a:ext cx="3520440" cy="685800"/>
          </a:xfrm>
          <a:prstGeom prst="rect">
            <a:avLst/>
          </a:prstGeom>
          <a:noFill/>
          <a:ln/>
        </p:spPr>
        <p:txBody>
          <a:bodyPr wrap="square" lIns="0" tIns="0" rIns="0" bIns="0" rtlCol="0" anchor="t"/>
          <a:lstStyle/>
          <a:p>
            <a:pPr indent="0" marL="0">
              <a:buNone/>
            </a:pPr>
            <a:r>
              <a:rPr lang="en-US" sz="1300" dirty="0">
                <a:solidFill>
                  <a:schemeClr val="tx1"/>
                </a:solidFill>
              </a:rPr>
              <a:t>Lu et al. (2020) Cambridge campus twin; Ghansah &amp; Lu (2023)</a:t>
            </a:r>
            <a:endParaRPr lang="en-US" sz="1300" dirty="0"/>
          </a:p>
        </p:txBody>
      </p:sp>
      <p:sp>
        <p:nvSpPr>
          <p:cNvPr id="33" name="Text 27"/>
          <p:cNvSpPr txBox="1"/>
          <p:nvPr/>
        </p:nvSpPr>
        <p:spPr>
          <a:xfrm>
            <a:off x="6629400" y="4279392"/>
            <a:ext cx="1463040" cy="685800"/>
          </a:xfrm>
          <a:prstGeom prst="rect">
            <a:avLst/>
          </a:prstGeom>
          <a:noFill/>
          <a:ln/>
        </p:spPr>
        <p:txBody>
          <a:bodyPr wrap="square" lIns="0" tIns="0" rIns="0" bIns="0" rtlCol="0" anchor="t"/>
          <a:lstStyle/>
          <a:p>
            <a:pPr indent="0" marL="0">
              <a:buNone/>
            </a:pPr>
            <a:r>
              <a:rPr lang="en-US" sz="1300" b="1" dirty="0">
                <a:solidFill>
                  <a:schemeClr val="accent1"/>
                </a:solidFill>
              </a:rPr>
              <a:t>Smart campus</a:t>
            </a:r>
            <a:endParaRPr lang="en-US" sz="1300" dirty="0"/>
          </a:p>
        </p:txBody>
      </p:sp>
      <p:sp>
        <p:nvSpPr>
          <p:cNvPr id="34" name="Text 28"/>
          <p:cNvSpPr txBox="1"/>
          <p:nvPr/>
        </p:nvSpPr>
        <p:spPr>
          <a:xfrm>
            <a:off x="8138160" y="4279392"/>
            <a:ext cx="3520440" cy="685800"/>
          </a:xfrm>
          <a:prstGeom prst="rect">
            <a:avLst/>
          </a:prstGeom>
          <a:noFill/>
          <a:ln/>
        </p:spPr>
        <p:txBody>
          <a:bodyPr wrap="square" lIns="0" tIns="0" rIns="0" bIns="0" rtlCol="0" anchor="t"/>
          <a:lstStyle/>
          <a:p>
            <a:pPr indent="0" marL="0">
              <a:buNone/>
            </a:pPr>
            <a:r>
              <a:rPr lang="en-US" sz="1300" dirty="0">
                <a:solidFill>
                  <a:schemeClr val="tx1"/>
                </a:solidFill>
              </a:rPr>
              <a:t>Cavus et al. (2022) IoT systematic review</a:t>
            </a:r>
            <a:endParaRPr lang="en-US" sz="1300" dirty="0"/>
          </a:p>
        </p:txBody>
      </p:sp>
      <p:sp>
        <p:nvSpPr>
          <p:cNvPr id="35" name="Text 29"/>
          <p:cNvSpPr txBox="1"/>
          <p:nvPr/>
        </p:nvSpPr>
        <p:spPr>
          <a:xfrm>
            <a:off x="6629400" y="5065776"/>
            <a:ext cx="1463040" cy="685800"/>
          </a:xfrm>
          <a:prstGeom prst="rect">
            <a:avLst/>
          </a:prstGeom>
          <a:noFill/>
          <a:ln/>
        </p:spPr>
        <p:txBody>
          <a:bodyPr wrap="square" lIns="0" tIns="0" rIns="0" bIns="0" rtlCol="0" anchor="t"/>
          <a:lstStyle/>
          <a:p>
            <a:pPr indent="0" marL="0">
              <a:buNone/>
            </a:pPr>
            <a:r>
              <a:rPr lang="en-US" sz="1300" b="1" dirty="0">
                <a:solidFill>
                  <a:schemeClr val="accent1"/>
                </a:solidFill>
              </a:rPr>
              <a:t>No-shows</a:t>
            </a:r>
            <a:endParaRPr lang="en-US" sz="1300" dirty="0"/>
          </a:p>
        </p:txBody>
      </p:sp>
      <p:sp>
        <p:nvSpPr>
          <p:cNvPr id="36" name="Text 30"/>
          <p:cNvSpPr txBox="1"/>
          <p:nvPr/>
        </p:nvSpPr>
        <p:spPr>
          <a:xfrm>
            <a:off x="8138160" y="5065776"/>
            <a:ext cx="3520440" cy="685800"/>
          </a:xfrm>
          <a:prstGeom prst="rect">
            <a:avLst/>
          </a:prstGeom>
          <a:noFill/>
          <a:ln/>
        </p:spPr>
        <p:txBody>
          <a:bodyPr wrap="square" lIns="0" tIns="0" rIns="0" bIns="0" rtlCol="0" anchor="t"/>
          <a:lstStyle/>
          <a:p>
            <a:pPr indent="0" marL="0">
              <a:buNone/>
            </a:pPr>
            <a:r>
              <a:rPr lang="en-US" sz="1300" dirty="0">
                <a:solidFill>
                  <a:schemeClr val="tx1"/>
                </a:solidFill>
              </a:rPr>
              <a:t>Topuz et al. (2024) no-show-aware scheduling</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PENDING GAPS</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What is not finished yet, and how each gets closed</a:t>
            </a:r>
            <a:endParaRPr lang="en-US" sz="3000" dirty="0"/>
          </a:p>
        </p:txBody>
      </p:sp>
      <p:graphicFrame>
        <p:nvGraphicFramePr>
          <p:cNvPr id="8" name="gaps-table"/>
          <p:cNvGraphicFramePr>
            <a:graphicFrameLocks noGrp="1"/>
          </p:cNvGraphicFramePr>
          <p:nvPr>
            <p:extLst>
              <p:ext uri="{D42A27DB-BD31-4B8C-83A1-F6EECF244321}">
                <p14:modId xmlns:p14="http://schemas.microsoft.com/office/powerpoint/2010/main" val="1579011935"/>
              </p:ext>
            </p:extLst>
          </p:nvPr>
        </p:nvGraphicFramePr>
        <p:xfrm>
          <a:off x="548640" y="1417320"/>
          <a:ext cx="11109960" cy="914400"/>
        </p:xfrm>
        <a:graphic>
          <a:graphicData uri="http://schemas.openxmlformats.org/drawingml/2006/table">
            <a:tbl>
              <a:tblPr/>
              <a:tblGrid>
                <a:gridCol w="2514600"/>
                <a:gridCol w="4480560"/>
                <a:gridCol w="4114800"/>
              </a:tblGrid>
              <a:tr h="566928">
                <a:tc>
                  <a:txBody>
                    <a:bodyPr/>
                    <a:lstStyle/>
                    <a:p>
                      <a:pPr indent="0" marL="0">
                        <a:buNone/>
                      </a:pPr>
                      <a:r>
                        <a:rPr lang="en-US" sz="1300" b="1" dirty="0">
                          <a:solidFill>
                            <a:srgbClr val="FFFFFF"/>
                          </a:solidFill>
                        </a:rPr>
                        <a:t>Gap</a:t>
                      </a:r>
                      <a:endParaRPr lang="en-US" sz="13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E1B24"/>
                    </a:solidFill>
                  </a:tcPr>
                </a:tc>
                <a:tc>
                  <a:txBody>
                    <a:bodyPr/>
                    <a:lstStyle/>
                    <a:p>
                      <a:pPr indent="0" marL="0">
                        <a:buNone/>
                      </a:pPr>
                      <a:r>
                        <a:rPr lang="en-US" sz="1300" b="1" dirty="0">
                          <a:solidFill>
                            <a:srgbClr val="FFFFFF"/>
                          </a:solidFill>
                        </a:rPr>
                        <a:t>Why it matters</a:t>
                      </a:r>
                      <a:endParaRPr lang="en-US" sz="13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E1B24"/>
                    </a:solidFill>
                  </a:tcPr>
                </a:tc>
                <a:tc>
                  <a:txBody>
                    <a:bodyPr/>
                    <a:lstStyle/>
                    <a:p>
                      <a:pPr indent="0" marL="0">
                        <a:buNone/>
                      </a:pPr>
                      <a:r>
                        <a:rPr lang="en-US" sz="1300" b="1" dirty="0">
                          <a:solidFill>
                            <a:srgbClr val="FFFFFF"/>
                          </a:solidFill>
                        </a:rPr>
                        <a:t>How it gets closed</a:t>
                      </a:r>
                      <a:endParaRPr lang="en-US" sz="13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9E1B24"/>
                    </a:solidFill>
                  </a:tcPr>
                </a:tc>
              </a:tr>
              <a:tr h="566928">
                <a:tc>
                  <a:txBody>
                    <a:bodyPr/>
                    <a:lstStyle/>
                    <a:p>
                      <a:pPr indent="0" marL="0">
                        <a:buNone/>
                      </a:pPr>
                      <a:r>
                        <a:rPr lang="en-US" sz="1200" b="1" dirty="0">
                          <a:solidFill>
                            <a:srgbClr val="1F2633"/>
                          </a:solidFill>
                        </a:rPr>
                        <a:t>Booking rules in the app only</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Opening hours, length, advance window and cancel notice are checked by the app, not the database</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Database trigger that rejects any booking breaking the rules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633"/>
                          </a:solidFill>
                        </a:rPr>
                        <a:t>Bookings readable by all users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Any signed-in user could read every booking through the API</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Students see only their own rows; others get a free/busy view</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r>
              <a:tr h="566928">
                <a:tc>
                  <a:txBody>
                    <a:bodyPr/>
                    <a:lstStyle/>
                    <a:p>
                      <a:pPr indent="0" marL="0">
                        <a:buNone/>
                      </a:pPr>
                      <a:r>
                        <a:rPr lang="en-US" sz="1200" b="1" dirty="0">
                          <a:solidFill>
                            <a:srgbClr val="1F2633"/>
                          </a:solidFill>
                        </a:rPr>
                        <a:t>Direct booking edits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A student could change their own end time without the extension rules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Changes only through checked database functions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633"/>
                          </a:solidFill>
                        </a:rPr>
                        <a:t>New firmware not yet run</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Countdown, keypad extend and overstay code has not been compiled</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Build in VS Code, then run the end-of-booking test steps</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r>
              <a:tr h="566928">
                <a:tc>
                  <a:txBody>
                    <a:bodyPr/>
                    <a:lstStyle/>
                    <a:p>
                      <a:pPr indent="0" marL="0">
                        <a:buNone/>
                      </a:pPr>
                      <a:r>
                        <a:rPr lang="en-US" sz="1200" b="1" dirty="0">
                          <a:solidFill>
                            <a:srgbClr val="1F2633"/>
                          </a:solidFill>
                        </a:rPr>
                        <a:t>Live twin and energy untested</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3D twin and energy chart not yet seen with live Wokwi data</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End-to-end run with Wokwi; seeded week for the chart</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633"/>
                          </a:solidFill>
                        </a:rPr>
                        <a:t>Formal evaluation pending</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Concurrent booking, speed and chatbot accuracy tests not yet run</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c>
                  <a:txBody>
                    <a:bodyPr/>
                    <a:lstStyle/>
                    <a:p>
                      <a:pPr indent="0" marL="0">
                        <a:buNone/>
                      </a:pPr>
                      <a:r>
                        <a:rPr lang="en-US" sz="1200" dirty="0">
                          <a:solidFill>
                            <a:srgbClr val="1F2633"/>
                          </a:solidFill>
                        </a:rPr>
                        <a:t>Scripts for DS1, DS4 and a fixed question set</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5"/>
                    </a:solidFill>
                  </a:tcPr>
                </a:tc>
              </a:tr>
              <a:tr h="566928">
                <a:tc>
                  <a:txBody>
                    <a:bodyPr/>
                    <a:lstStyle/>
                    <a:p>
                      <a:pPr indent="0" marL="0">
                        <a:buNone/>
                      </a:pPr>
                      <a:r>
                        <a:rPr lang="en-US" sz="1200" b="1" dirty="0">
                          <a:solidFill>
                            <a:srgbClr val="1F2633"/>
                          </a:solidFill>
                        </a:rPr>
                        <a:t>Demo housekeeping</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Device key was shared during development; test data in the database</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rPr>
                        <a:t>Re-key the device; remove the seed before the user study</a:t>
                      </a:r>
                      <a:endParaRPr lang="en-US" sz="1200" dirty="0"/>
                    </a:p>
                  </a:txBody>
                  <a:tcPr marL="109728" marR="109728"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080760"/>
            <a:ext cx="11064240" cy="320040"/>
          </a:xfrm>
          <a:prstGeom prst="rect">
            <a:avLst/>
          </a:prstGeom>
          <a:noFill/>
          <a:ln/>
        </p:spPr>
        <p:txBody>
          <a:bodyPr wrap="square" lIns="0" tIns="0" rIns="0" bIns="0" rtlCol="0" anchor="ctr"/>
          <a:lstStyle/>
          <a:p>
            <a:pPr indent="0" marL="0">
              <a:buNone/>
            </a:pPr>
            <a:r>
              <a:rPr lang="en-US" sz="1200" i="1" dirty="0">
                <a:solidFill>
                  <a:schemeClr val="tx2"/>
                </a:solidFill>
              </a:rPr>
              <a:t>The first three are the hardening step: they make the Phase 1 promise of rules held in the database fully true.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IN PROGRESS: REMOTE CONTROL OVER MQTT</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Operate the room from the app, in under a second</a:t>
            </a:r>
            <a:endParaRPr lang="en-US" sz="3000" dirty="0"/>
          </a:p>
        </p:txBody>
      </p:sp>
      <p:sp>
        <p:nvSpPr>
          <p:cNvPr id="6" name="Shape 4"/>
          <p:cNvSpPr/>
          <p:nvPr/>
        </p:nvSpPr>
        <p:spPr>
          <a:xfrm>
            <a:off x="1234440" y="1463040"/>
            <a:ext cx="640080" cy="640080"/>
          </a:xfrm>
          <a:prstGeom prst="ellipse">
            <a:avLst/>
          </a:prstGeom>
          <a:solidFill>
            <a:srgbClr val="9E1B24"/>
          </a:solidFill>
          <a:ln w="12700">
            <a:solidFill>
              <a:srgbClr val="9E1B24"/>
            </a:solidFill>
            <a:prstDash val="solid"/>
          </a:ln>
        </p:spPr>
      </p:sp>
      <p:pic>
        <p:nvPicPr>
          <p:cNvPr id="7" name="Image 0" descr="preencoded.png">    </p:cNvPr>
          <p:cNvPicPr>
            <a:picLocks noChangeAspect="1"/>
          </p:cNvPicPr>
          <p:nvPr/>
        </p:nvPicPr>
        <p:blipFill>
          <a:blip r:embed="rId1"/>
          <a:stretch>
            <a:fillRect/>
          </a:stretch>
        </p:blipFill>
        <p:spPr>
          <a:xfrm>
            <a:off x="1388059" y="1616659"/>
            <a:ext cx="332842" cy="332842"/>
          </a:xfrm>
          <a:prstGeom prst="rect">
            <a:avLst/>
          </a:prstGeom>
        </p:spPr>
      </p:pic>
      <p:sp>
        <p:nvSpPr>
          <p:cNvPr id="8" name="Shape 5"/>
          <p:cNvSpPr/>
          <p:nvPr/>
        </p:nvSpPr>
        <p:spPr>
          <a:xfrm>
            <a:off x="2011680" y="1783080"/>
            <a:ext cx="1417320" cy="0"/>
          </a:xfrm>
          <a:prstGeom prst="line">
            <a:avLst/>
          </a:prstGeom>
          <a:noFill/>
          <a:ln w="25400">
            <a:solidFill>
              <a:srgbClr val="E5E7EB"/>
            </a:solidFill>
            <a:prstDash val="solid"/>
            <a:tailEnd type="triangle"/>
          </a:ln>
        </p:spPr>
      </p:sp>
      <p:sp>
        <p:nvSpPr>
          <p:cNvPr id="9" name="Text 6"/>
          <p:cNvSpPr txBox="1"/>
          <p:nvPr/>
        </p:nvSpPr>
        <p:spPr>
          <a:xfrm>
            <a:off x="548640" y="2194560"/>
            <a:ext cx="2011680" cy="320040"/>
          </a:xfrm>
          <a:prstGeom prst="rect">
            <a:avLst/>
          </a:prstGeom>
          <a:noFill/>
          <a:ln/>
        </p:spPr>
        <p:txBody>
          <a:bodyPr wrap="square" lIns="0" tIns="0" rIns="0" bIns="0" rtlCol="0" anchor="ctr"/>
          <a:lstStyle/>
          <a:p>
            <a:pPr algn="ctr" indent="0" marL="0">
              <a:buNone/>
            </a:pPr>
            <a:r>
              <a:rPr lang="en-US" sz="1500" b="1" dirty="0">
                <a:solidFill>
                  <a:schemeClr val="tx1"/>
                </a:solidFill>
              </a:rPr>
              <a:t>Admin taps</a:t>
            </a:r>
            <a:endParaRPr lang="en-US" sz="1500" dirty="0"/>
          </a:p>
        </p:txBody>
      </p:sp>
      <p:sp>
        <p:nvSpPr>
          <p:cNvPr id="10" name="Text 7"/>
          <p:cNvSpPr txBox="1"/>
          <p:nvPr/>
        </p:nvSpPr>
        <p:spPr>
          <a:xfrm>
            <a:off x="548640" y="2514600"/>
            <a:ext cx="2011680" cy="822960"/>
          </a:xfrm>
          <a:prstGeom prst="rect">
            <a:avLst/>
          </a:prstGeom>
          <a:noFill/>
          <a:ln/>
        </p:spPr>
        <p:txBody>
          <a:bodyPr wrap="square" lIns="0" tIns="0" rIns="0" bIns="0" rtlCol="0" anchor="t"/>
          <a:lstStyle/>
          <a:p>
            <a:pPr algn="ctr" indent="0" marL="0">
              <a:buNone/>
            </a:pPr>
            <a:r>
              <a:rPr lang="en-US" sz="1200" dirty="0">
                <a:solidFill>
                  <a:schemeClr val="tx2"/>
                </a:solidFill>
              </a:rPr>
              <a:t>Unlock / lights / air-con / message, next to the 3D twin</a:t>
            </a:r>
            <a:endParaRPr lang="en-US" sz="1200" dirty="0"/>
          </a:p>
        </p:txBody>
      </p:sp>
      <p:sp>
        <p:nvSpPr>
          <p:cNvPr id="11" name="Shape 8"/>
          <p:cNvSpPr/>
          <p:nvPr/>
        </p:nvSpPr>
        <p:spPr>
          <a:xfrm>
            <a:off x="3493008" y="1463040"/>
            <a:ext cx="640080" cy="640080"/>
          </a:xfrm>
          <a:prstGeom prst="ellipse">
            <a:avLst/>
          </a:prstGeom>
          <a:solidFill>
            <a:srgbClr val="9E1B24"/>
          </a:solidFill>
          <a:ln w="12700">
            <a:solidFill>
              <a:srgbClr val="9E1B24"/>
            </a:solidFill>
            <a:prstDash val="solid"/>
          </a:ln>
        </p:spPr>
      </p:sp>
      <p:pic>
        <p:nvPicPr>
          <p:cNvPr id="12" name="Image 1" descr="preencoded.png">    </p:cNvPr>
          <p:cNvPicPr>
            <a:picLocks noChangeAspect="1"/>
          </p:cNvPicPr>
          <p:nvPr/>
        </p:nvPicPr>
        <p:blipFill>
          <a:blip r:embed="rId2"/>
          <a:stretch>
            <a:fillRect/>
          </a:stretch>
        </p:blipFill>
        <p:spPr>
          <a:xfrm>
            <a:off x="3646627" y="1616659"/>
            <a:ext cx="332842" cy="332842"/>
          </a:xfrm>
          <a:prstGeom prst="rect">
            <a:avLst/>
          </a:prstGeom>
        </p:spPr>
      </p:pic>
      <p:sp>
        <p:nvSpPr>
          <p:cNvPr id="13" name="Shape 9"/>
          <p:cNvSpPr/>
          <p:nvPr/>
        </p:nvSpPr>
        <p:spPr>
          <a:xfrm>
            <a:off x="4270248" y="1783080"/>
            <a:ext cx="1417320" cy="0"/>
          </a:xfrm>
          <a:prstGeom prst="line">
            <a:avLst/>
          </a:prstGeom>
          <a:noFill/>
          <a:ln w="25400">
            <a:solidFill>
              <a:srgbClr val="E5E7EB"/>
            </a:solidFill>
            <a:prstDash val="solid"/>
            <a:tailEnd type="triangle"/>
          </a:ln>
        </p:spPr>
      </p:sp>
      <p:sp>
        <p:nvSpPr>
          <p:cNvPr id="14" name="Text 10"/>
          <p:cNvSpPr txBox="1"/>
          <p:nvPr/>
        </p:nvSpPr>
        <p:spPr>
          <a:xfrm>
            <a:off x="2807208" y="2194560"/>
            <a:ext cx="2011680" cy="320040"/>
          </a:xfrm>
          <a:prstGeom prst="rect">
            <a:avLst/>
          </a:prstGeom>
          <a:noFill/>
          <a:ln/>
        </p:spPr>
        <p:txBody>
          <a:bodyPr wrap="square" lIns="0" tIns="0" rIns="0" bIns="0" rtlCol="0" anchor="ctr"/>
          <a:lstStyle/>
          <a:p>
            <a:pPr algn="ctr" indent="0" marL="0">
              <a:buNone/>
            </a:pPr>
            <a:r>
              <a:rPr lang="en-US" sz="1500" b="1" dirty="0">
                <a:solidFill>
                  <a:schemeClr val="tx1"/>
                </a:solidFill>
              </a:rPr>
              <a:t>API checks</a:t>
            </a:r>
            <a:endParaRPr lang="en-US" sz="1500" dirty="0"/>
          </a:p>
        </p:txBody>
      </p:sp>
      <p:sp>
        <p:nvSpPr>
          <p:cNvPr id="15" name="Text 11"/>
          <p:cNvSpPr txBox="1"/>
          <p:nvPr/>
        </p:nvSpPr>
        <p:spPr>
          <a:xfrm>
            <a:off x="2807208" y="2514600"/>
            <a:ext cx="2011680" cy="822960"/>
          </a:xfrm>
          <a:prstGeom prst="rect">
            <a:avLst/>
          </a:prstGeom>
          <a:noFill/>
          <a:ln/>
        </p:spPr>
        <p:txBody>
          <a:bodyPr wrap="square" lIns="0" tIns="0" rIns="0" bIns="0" rtlCol="0" anchor="t"/>
          <a:lstStyle/>
          <a:p>
            <a:pPr algn="ctr" indent="0" marL="0">
              <a:buNone/>
            </a:pPr>
            <a:r>
              <a:rPr lang="en-US" sz="1200" dirty="0">
                <a:solidFill>
                  <a:schemeClr val="tx2"/>
                </a:solidFill>
              </a:rPr>
              <a:t>Admin or that room's manager only; command saved and logged</a:t>
            </a:r>
            <a:endParaRPr lang="en-US" sz="1200" dirty="0"/>
          </a:p>
        </p:txBody>
      </p:sp>
      <p:sp>
        <p:nvSpPr>
          <p:cNvPr id="16" name="Shape 12"/>
          <p:cNvSpPr/>
          <p:nvPr/>
        </p:nvSpPr>
        <p:spPr>
          <a:xfrm>
            <a:off x="5751576" y="1463040"/>
            <a:ext cx="640080" cy="640080"/>
          </a:xfrm>
          <a:prstGeom prst="ellipse">
            <a:avLst/>
          </a:prstGeom>
          <a:solidFill>
            <a:srgbClr val="9E1B24"/>
          </a:solidFill>
          <a:ln w="12700">
            <a:solidFill>
              <a:srgbClr val="9E1B24"/>
            </a:solidFill>
            <a:prstDash val="solid"/>
          </a:ln>
        </p:spPr>
      </p:sp>
      <p:pic>
        <p:nvPicPr>
          <p:cNvPr id="17" name="Image 2" descr="preencoded.png">    </p:cNvPr>
          <p:cNvPicPr>
            <a:picLocks noChangeAspect="1"/>
          </p:cNvPicPr>
          <p:nvPr/>
        </p:nvPicPr>
        <p:blipFill>
          <a:blip r:embed="rId3"/>
          <a:stretch>
            <a:fillRect/>
          </a:stretch>
        </p:blipFill>
        <p:spPr>
          <a:xfrm>
            <a:off x="5905195" y="1616659"/>
            <a:ext cx="332842" cy="332842"/>
          </a:xfrm>
          <a:prstGeom prst="rect">
            <a:avLst/>
          </a:prstGeom>
        </p:spPr>
      </p:pic>
      <p:sp>
        <p:nvSpPr>
          <p:cNvPr id="18" name="Shape 13"/>
          <p:cNvSpPr/>
          <p:nvPr/>
        </p:nvSpPr>
        <p:spPr>
          <a:xfrm>
            <a:off x="6528816" y="1783080"/>
            <a:ext cx="1417320" cy="0"/>
          </a:xfrm>
          <a:prstGeom prst="line">
            <a:avLst/>
          </a:prstGeom>
          <a:noFill/>
          <a:ln w="25400">
            <a:solidFill>
              <a:srgbClr val="E5E7EB"/>
            </a:solidFill>
            <a:prstDash val="solid"/>
            <a:tailEnd type="triangle"/>
          </a:ln>
        </p:spPr>
      </p:sp>
      <p:sp>
        <p:nvSpPr>
          <p:cNvPr id="19" name="Text 14"/>
          <p:cNvSpPr txBox="1"/>
          <p:nvPr/>
        </p:nvSpPr>
        <p:spPr>
          <a:xfrm>
            <a:off x="5065776" y="2194560"/>
            <a:ext cx="2011680" cy="320040"/>
          </a:xfrm>
          <a:prstGeom prst="rect">
            <a:avLst/>
          </a:prstGeom>
          <a:noFill/>
          <a:ln/>
        </p:spPr>
        <p:txBody>
          <a:bodyPr wrap="square" lIns="0" tIns="0" rIns="0" bIns="0" rtlCol="0" anchor="ctr"/>
          <a:lstStyle/>
          <a:p>
            <a:pPr algn="ctr" indent="0" marL="0">
              <a:buNone/>
            </a:pPr>
            <a:r>
              <a:rPr lang="en-US" sz="1500" b="1" dirty="0">
                <a:solidFill>
                  <a:schemeClr val="tx1"/>
                </a:solidFill>
              </a:rPr>
              <a:t>Publish</a:t>
            </a:r>
            <a:endParaRPr lang="en-US" sz="1500" dirty="0"/>
          </a:p>
        </p:txBody>
      </p:sp>
      <p:sp>
        <p:nvSpPr>
          <p:cNvPr id="20" name="Text 15"/>
          <p:cNvSpPr txBox="1"/>
          <p:nvPr/>
        </p:nvSpPr>
        <p:spPr>
          <a:xfrm>
            <a:off x="5065776" y="2514600"/>
            <a:ext cx="2011680" cy="822960"/>
          </a:xfrm>
          <a:prstGeom prst="rect">
            <a:avLst/>
          </a:prstGeom>
          <a:noFill/>
          <a:ln/>
        </p:spPr>
        <p:txBody>
          <a:bodyPr wrap="square" lIns="0" tIns="0" rIns="0" bIns="0" rtlCol="0" anchor="t"/>
          <a:lstStyle/>
          <a:p>
            <a:pPr algn="ctr" indent="0" marL="0">
              <a:buNone/>
            </a:pPr>
            <a:r>
              <a:rPr lang="en-US" sz="1200" dirty="0">
                <a:solidFill>
                  <a:schemeClr val="tx2"/>
                </a:solidFill>
              </a:rPr>
              <a:t>MQTT over TLS to rooms/&lt;device&gt;/cmd, signed and expiring</a:t>
            </a:r>
            <a:endParaRPr lang="en-US" sz="1200" dirty="0"/>
          </a:p>
        </p:txBody>
      </p:sp>
      <p:sp>
        <p:nvSpPr>
          <p:cNvPr id="21" name="Shape 16"/>
          <p:cNvSpPr/>
          <p:nvPr/>
        </p:nvSpPr>
        <p:spPr>
          <a:xfrm>
            <a:off x="8010144" y="1463040"/>
            <a:ext cx="640080" cy="640080"/>
          </a:xfrm>
          <a:prstGeom prst="ellipse">
            <a:avLst/>
          </a:prstGeom>
          <a:solidFill>
            <a:srgbClr val="9E1B24"/>
          </a:solidFill>
          <a:ln w="12700">
            <a:solidFill>
              <a:srgbClr val="9E1B24"/>
            </a:solidFill>
            <a:prstDash val="solid"/>
          </a:ln>
        </p:spPr>
      </p:sp>
      <p:pic>
        <p:nvPicPr>
          <p:cNvPr id="22" name="Image 3" descr="preencoded.png">    </p:cNvPr>
          <p:cNvPicPr>
            <a:picLocks noChangeAspect="1"/>
          </p:cNvPicPr>
          <p:nvPr/>
        </p:nvPicPr>
        <p:blipFill>
          <a:blip r:embed="rId4"/>
          <a:stretch>
            <a:fillRect/>
          </a:stretch>
        </p:blipFill>
        <p:spPr>
          <a:xfrm>
            <a:off x="8163763" y="1616659"/>
            <a:ext cx="332842" cy="332842"/>
          </a:xfrm>
          <a:prstGeom prst="rect">
            <a:avLst/>
          </a:prstGeom>
        </p:spPr>
      </p:pic>
      <p:sp>
        <p:nvSpPr>
          <p:cNvPr id="23" name="Shape 17"/>
          <p:cNvSpPr/>
          <p:nvPr/>
        </p:nvSpPr>
        <p:spPr>
          <a:xfrm>
            <a:off x="8787384" y="1783080"/>
            <a:ext cx="1417320" cy="0"/>
          </a:xfrm>
          <a:prstGeom prst="line">
            <a:avLst/>
          </a:prstGeom>
          <a:noFill/>
          <a:ln w="25400">
            <a:solidFill>
              <a:srgbClr val="E5E7EB"/>
            </a:solidFill>
            <a:prstDash val="solid"/>
            <a:tailEnd type="triangle"/>
          </a:ln>
        </p:spPr>
      </p:sp>
      <p:sp>
        <p:nvSpPr>
          <p:cNvPr id="24" name="Text 18"/>
          <p:cNvSpPr txBox="1"/>
          <p:nvPr/>
        </p:nvSpPr>
        <p:spPr>
          <a:xfrm>
            <a:off x="7324344" y="2194560"/>
            <a:ext cx="2011680" cy="320040"/>
          </a:xfrm>
          <a:prstGeom prst="rect">
            <a:avLst/>
          </a:prstGeom>
          <a:noFill/>
          <a:ln/>
        </p:spPr>
        <p:txBody>
          <a:bodyPr wrap="square" lIns="0" tIns="0" rIns="0" bIns="0" rtlCol="0" anchor="ctr"/>
          <a:lstStyle/>
          <a:p>
            <a:pPr algn="ctr" indent="0" marL="0">
              <a:buNone/>
            </a:pPr>
            <a:r>
              <a:rPr lang="en-US" sz="1500" b="1" dirty="0">
                <a:solidFill>
                  <a:schemeClr val="tx1"/>
                </a:solidFill>
              </a:rPr>
              <a:t>ESP32 acts</a:t>
            </a:r>
            <a:endParaRPr lang="en-US" sz="1500" dirty="0"/>
          </a:p>
        </p:txBody>
      </p:sp>
      <p:sp>
        <p:nvSpPr>
          <p:cNvPr id="25" name="Text 19"/>
          <p:cNvSpPr txBox="1"/>
          <p:nvPr/>
        </p:nvSpPr>
        <p:spPr>
          <a:xfrm>
            <a:off x="7324344" y="2514600"/>
            <a:ext cx="2011680" cy="822960"/>
          </a:xfrm>
          <a:prstGeom prst="rect">
            <a:avLst/>
          </a:prstGeom>
          <a:noFill/>
          <a:ln/>
        </p:spPr>
        <p:txBody>
          <a:bodyPr wrap="square" lIns="0" tIns="0" rIns="0" bIns="0" rtlCol="0" anchor="t"/>
          <a:lstStyle/>
          <a:p>
            <a:pPr algn="ctr" indent="0" marL="0">
              <a:buNone/>
            </a:pPr>
            <a:r>
              <a:rPr lang="en-US" sz="1200" dirty="0">
                <a:solidFill>
                  <a:schemeClr val="tx2"/>
                </a:solidFill>
              </a:rPr>
              <a:t>Subscribed in Wokwi; verifies the signature, applies safety rules</a:t>
            </a:r>
            <a:endParaRPr lang="en-US" sz="1200" dirty="0"/>
          </a:p>
        </p:txBody>
      </p:sp>
      <p:sp>
        <p:nvSpPr>
          <p:cNvPr id="26" name="Shape 20"/>
          <p:cNvSpPr/>
          <p:nvPr/>
        </p:nvSpPr>
        <p:spPr>
          <a:xfrm>
            <a:off x="10268712" y="1463040"/>
            <a:ext cx="640080" cy="640080"/>
          </a:xfrm>
          <a:prstGeom prst="ellipse">
            <a:avLst/>
          </a:prstGeom>
          <a:solidFill>
            <a:srgbClr val="9E1B24"/>
          </a:solidFill>
          <a:ln w="12700">
            <a:solidFill>
              <a:srgbClr val="9E1B24"/>
            </a:solidFill>
            <a:prstDash val="solid"/>
          </a:ln>
        </p:spPr>
      </p:sp>
      <p:pic>
        <p:nvPicPr>
          <p:cNvPr id="27" name="Image 4" descr="preencoded.png">    </p:cNvPr>
          <p:cNvPicPr>
            <a:picLocks noChangeAspect="1"/>
          </p:cNvPicPr>
          <p:nvPr/>
        </p:nvPicPr>
        <p:blipFill>
          <a:blip r:embed="rId5"/>
          <a:stretch>
            <a:fillRect/>
          </a:stretch>
        </p:blipFill>
        <p:spPr>
          <a:xfrm>
            <a:off x="10422331" y="1616659"/>
            <a:ext cx="332842" cy="332842"/>
          </a:xfrm>
          <a:prstGeom prst="rect">
            <a:avLst/>
          </a:prstGeom>
        </p:spPr>
      </p:pic>
      <p:sp>
        <p:nvSpPr>
          <p:cNvPr id="28" name="Text 21"/>
          <p:cNvSpPr txBox="1"/>
          <p:nvPr/>
        </p:nvSpPr>
        <p:spPr>
          <a:xfrm>
            <a:off x="9582912" y="2194560"/>
            <a:ext cx="2011680" cy="320040"/>
          </a:xfrm>
          <a:prstGeom prst="rect">
            <a:avLst/>
          </a:prstGeom>
          <a:noFill/>
          <a:ln/>
        </p:spPr>
        <p:txBody>
          <a:bodyPr wrap="square" lIns="0" tIns="0" rIns="0" bIns="0" rtlCol="0" anchor="ctr"/>
          <a:lstStyle/>
          <a:p>
            <a:pPr algn="ctr" indent="0" marL="0">
              <a:buNone/>
            </a:pPr>
            <a:r>
              <a:rPr lang="en-US" sz="1500" b="1" dirty="0">
                <a:solidFill>
                  <a:schemeClr val="tx1"/>
                </a:solidFill>
              </a:rPr>
              <a:t>Confirms</a:t>
            </a:r>
            <a:endParaRPr lang="en-US" sz="1500" dirty="0"/>
          </a:p>
        </p:txBody>
      </p:sp>
      <p:sp>
        <p:nvSpPr>
          <p:cNvPr id="29" name="Text 22"/>
          <p:cNvSpPr txBox="1"/>
          <p:nvPr/>
        </p:nvSpPr>
        <p:spPr>
          <a:xfrm>
            <a:off x="9582912" y="2514600"/>
            <a:ext cx="2011680" cy="822960"/>
          </a:xfrm>
          <a:prstGeom prst="rect">
            <a:avLst/>
          </a:prstGeom>
          <a:noFill/>
          <a:ln/>
        </p:spPr>
        <p:txBody>
          <a:bodyPr wrap="square" lIns="0" tIns="0" rIns="0" bIns="0" rtlCol="0" anchor="t"/>
          <a:lstStyle/>
          <a:p>
            <a:pPr algn="ctr" indent="0" marL="0">
              <a:buNone/>
            </a:pPr>
            <a:r>
              <a:rPr lang="en-US" sz="1200" dirty="0">
                <a:solidFill>
                  <a:schemeClr val="tx2"/>
                </a:solidFill>
              </a:rPr>
              <a:t>Reports back; room log and 3D twin update</a:t>
            </a:r>
            <a:endParaRPr lang="en-US" sz="1200" dirty="0"/>
          </a:p>
        </p:txBody>
      </p:sp>
      <p:sp>
        <p:nvSpPr>
          <p:cNvPr id="30" name="why-mqtt"/>
          <p:cNvSpPr/>
          <p:nvPr/>
        </p:nvSpPr>
        <p:spPr>
          <a:xfrm>
            <a:off x="548640" y="3611880"/>
            <a:ext cx="3566160" cy="2377440"/>
          </a:xfrm>
          <a:prstGeom prst="roundRect">
            <a:avLst>
              <a:gd name="adj" fmla="val 3077"/>
            </a:avLst>
          </a:prstGeom>
          <a:solidFill>
            <a:srgbClr val="F6E3E3"/>
          </a:solidFill>
          <a:ln w="12700">
            <a:solidFill>
              <a:srgbClr val="F6E3E3"/>
            </a:solidFill>
            <a:prstDash val="solid"/>
          </a:ln>
        </p:spPr>
      </p:sp>
      <p:sp>
        <p:nvSpPr>
          <p:cNvPr id="31" name="Text 24"/>
          <p:cNvSpPr txBox="1"/>
          <p:nvPr/>
        </p:nvSpPr>
        <p:spPr>
          <a:xfrm>
            <a:off x="777240" y="3749040"/>
            <a:ext cx="3108960" cy="365760"/>
          </a:xfrm>
          <a:prstGeom prst="rect">
            <a:avLst/>
          </a:prstGeom>
          <a:noFill/>
          <a:ln/>
        </p:spPr>
        <p:txBody>
          <a:bodyPr wrap="square" lIns="0" tIns="0" rIns="0" bIns="0" rtlCol="0" anchor="ctr"/>
          <a:lstStyle/>
          <a:p>
            <a:pPr indent="0" marL="0">
              <a:buNone/>
            </a:pPr>
            <a:r>
              <a:rPr lang="en-US" sz="1600" b="1" dirty="0">
                <a:solidFill>
                  <a:schemeClr val="accent1"/>
                </a:solidFill>
              </a:rPr>
              <a:t>Why MQTT</a:t>
            </a:r>
            <a:endParaRPr lang="en-US" sz="1600" dirty="0"/>
          </a:p>
        </p:txBody>
      </p:sp>
      <p:sp>
        <p:nvSpPr>
          <p:cNvPr id="32" name="Text 25"/>
          <p:cNvSpPr txBox="1"/>
          <p:nvPr/>
        </p:nvSpPr>
        <p:spPr>
          <a:xfrm>
            <a:off x="777240" y="4160520"/>
            <a:ext cx="315468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Push: the device gets commands at once, no polling</a:t>
            </a:r>
            <a:endParaRPr lang="en-US" sz="1300" dirty="0"/>
          </a:p>
          <a:p>
            <a:pPr marL="342900" indent="-342900">
              <a:spcAft>
                <a:spcPts val="500"/>
              </a:spcAft>
              <a:buSzPct val="100000"/>
              <a:buChar char="•"/>
            </a:pPr>
            <a:r>
              <a:rPr lang="en-US" sz="1300" dirty="0">
                <a:solidFill>
                  <a:schemeClr val="tx1"/>
                </a:solidFill>
              </a:rPr>
              <a:t>Light protocol made for IoT devices</a:t>
            </a:r>
            <a:endParaRPr lang="en-US" sz="1300" dirty="0"/>
          </a:p>
          <a:p>
            <a:pPr marL="342900" indent="-342900">
              <a:spcAft>
                <a:spcPts val="500"/>
              </a:spcAft>
              <a:buSzPct val="100000"/>
              <a:buChar char="•"/>
            </a:pPr>
            <a:r>
              <a:rPr lang="en-US" sz="1300" dirty="0">
                <a:solidFill>
                  <a:schemeClr val="tx1"/>
                </a:solidFill>
              </a:rPr>
              <a:t>A simulated ESP32 has no public address, so it subscribes outwards to a broker</a:t>
            </a:r>
            <a:endParaRPr lang="en-US" sz="1300" dirty="0"/>
          </a:p>
        </p:txBody>
      </p:sp>
      <p:sp>
        <p:nvSpPr>
          <p:cNvPr id="33" name="security"/>
          <p:cNvSpPr/>
          <p:nvPr/>
        </p:nvSpPr>
        <p:spPr>
          <a:xfrm>
            <a:off x="4297680" y="3611880"/>
            <a:ext cx="3657600" cy="2377440"/>
          </a:xfrm>
          <a:prstGeom prst="roundRect">
            <a:avLst>
              <a:gd name="adj" fmla="val 3077"/>
            </a:avLst>
          </a:prstGeom>
          <a:solidFill>
            <a:srgbClr val="F4F4F5"/>
          </a:solidFill>
          <a:ln w="12700">
            <a:solidFill>
              <a:srgbClr val="F4F4F5"/>
            </a:solidFill>
            <a:prstDash val="solid"/>
          </a:ln>
        </p:spPr>
      </p:sp>
      <p:sp>
        <p:nvSpPr>
          <p:cNvPr id="34" name="Text 27"/>
          <p:cNvSpPr txBox="1"/>
          <p:nvPr/>
        </p:nvSpPr>
        <p:spPr>
          <a:xfrm>
            <a:off x="4526280" y="3749040"/>
            <a:ext cx="3200400" cy="365760"/>
          </a:xfrm>
          <a:prstGeom prst="rect">
            <a:avLst/>
          </a:prstGeom>
          <a:noFill/>
          <a:ln/>
        </p:spPr>
        <p:txBody>
          <a:bodyPr wrap="square" lIns="0" tIns="0" rIns="0" bIns="0" rtlCol="0" anchor="ctr"/>
          <a:lstStyle/>
          <a:p>
            <a:pPr indent="0" marL="0">
              <a:buNone/>
            </a:pPr>
            <a:r>
              <a:rPr lang="en-US" sz="1600" b="1" dirty="0">
                <a:solidFill>
                  <a:schemeClr val="tx1"/>
                </a:solidFill>
              </a:rPr>
              <a:t>Security</a:t>
            </a:r>
            <a:endParaRPr lang="en-US" sz="1600" dirty="0"/>
          </a:p>
        </p:txBody>
      </p:sp>
      <p:sp>
        <p:nvSpPr>
          <p:cNvPr id="35" name="Text 28"/>
          <p:cNvSpPr txBox="1"/>
          <p:nvPr/>
        </p:nvSpPr>
        <p:spPr>
          <a:xfrm>
            <a:off x="4526280" y="4160520"/>
            <a:ext cx="324612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TLS broker login; topic per device</a:t>
            </a:r>
            <a:endParaRPr lang="en-US" sz="1300" dirty="0"/>
          </a:p>
          <a:p>
            <a:pPr marL="342900" indent="-342900">
              <a:spcAft>
                <a:spcPts val="500"/>
              </a:spcAft>
              <a:buSzPct val="100000"/>
              <a:buChar char="•"/>
            </a:pPr>
            <a:r>
              <a:rPr lang="en-US" sz="1300" dirty="0">
                <a:solidFill>
                  <a:schemeClr val="tx1"/>
                </a:solidFill>
              </a:rPr>
              <a:t>Each command signed with the device key (HMAC), with an expiry and a one-time id, so a copied message cannot be replayed</a:t>
            </a:r>
            <a:endParaRPr lang="en-US" sz="1300" dirty="0"/>
          </a:p>
          <a:p>
            <a:pPr marL="342900" indent="-342900">
              <a:spcAft>
                <a:spcPts val="500"/>
              </a:spcAft>
              <a:buSzPct val="100000"/>
              <a:buChar char="•"/>
            </a:pPr>
            <a:r>
              <a:rPr lang="en-US" sz="1300" dirty="0">
                <a:solidFill>
                  <a:schemeClr val="tx1"/>
                </a:solidFill>
              </a:rPr>
              <a:t>Every command logged with who sent it</a:t>
            </a:r>
            <a:endParaRPr lang="en-US" sz="1300" dirty="0"/>
          </a:p>
        </p:txBody>
      </p:sp>
      <p:sp>
        <p:nvSpPr>
          <p:cNvPr id="36" name="safety"/>
          <p:cNvSpPr/>
          <p:nvPr/>
        </p:nvSpPr>
        <p:spPr>
          <a:xfrm>
            <a:off x="8138160" y="3611880"/>
            <a:ext cx="3520440" cy="2377440"/>
          </a:xfrm>
          <a:prstGeom prst="roundRect">
            <a:avLst>
              <a:gd name="adj" fmla="val 3077"/>
            </a:avLst>
          </a:prstGeom>
          <a:solidFill>
            <a:srgbClr val="F4F4F5"/>
          </a:solidFill>
          <a:ln w="12700">
            <a:solidFill>
              <a:srgbClr val="F4F4F5"/>
            </a:solidFill>
            <a:prstDash val="solid"/>
          </a:ln>
        </p:spPr>
      </p:sp>
      <p:sp>
        <p:nvSpPr>
          <p:cNvPr id="37" name="Text 30"/>
          <p:cNvSpPr txBox="1"/>
          <p:nvPr/>
        </p:nvSpPr>
        <p:spPr>
          <a:xfrm>
            <a:off x="8366760" y="374904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Safety and fallback</a:t>
            </a:r>
            <a:endParaRPr lang="en-US" sz="1600" dirty="0"/>
          </a:p>
        </p:txBody>
      </p:sp>
      <p:sp>
        <p:nvSpPr>
          <p:cNvPr id="38" name="Text 31"/>
          <p:cNvSpPr txBox="1"/>
          <p:nvPr/>
        </p:nvSpPr>
        <p:spPr>
          <a:xfrm>
            <a:off x="8366760" y="4160520"/>
            <a:ext cx="315468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Overrides expire (e.g. 30 min), then the room returns to automatic</a:t>
            </a:r>
            <a:endParaRPr lang="en-US" sz="1300" dirty="0"/>
          </a:p>
          <a:p>
            <a:pPr marL="342900" indent="-342900">
              <a:spcAft>
                <a:spcPts val="500"/>
              </a:spcAft>
              <a:buSzPct val="100000"/>
              <a:buChar char="•"/>
            </a:pPr>
            <a:r>
              <a:rPr lang="en-US" sz="1300" dirty="0">
                <a:solidFill>
                  <a:schemeClr val="tx1"/>
                </a:solidFill>
              </a:rPr>
              <a:t>Lights are never cut while people are inside without a warning</a:t>
            </a:r>
            <a:endParaRPr lang="en-US" sz="1300" dirty="0"/>
          </a:p>
          <a:p>
            <a:pPr marL="342900" indent="-342900">
              <a:spcAft>
                <a:spcPts val="500"/>
              </a:spcAft>
              <a:buSzPct val="100000"/>
              <a:buChar char="•"/>
            </a:pPr>
            <a:r>
              <a:rPr lang="en-US" sz="1300" dirty="0">
                <a:solidFill>
                  <a:schemeClr val="tx1"/>
                </a:solidFill>
              </a:rPr>
              <a:t>If the broker is down, the device picks commands up over HTTP</a:t>
            </a:r>
            <a:endParaRPr lang="en-US" sz="1300" dirty="0"/>
          </a:p>
        </p:txBody>
      </p:sp>
      <p:sp>
        <p:nvSpPr>
          <p:cNvPr id="39" name="Text 32"/>
          <p:cNvSpPr txBox="1"/>
          <p:nvPr/>
        </p:nvSpPr>
        <p:spPr>
          <a:xfrm>
            <a:off x="548640" y="6126480"/>
            <a:ext cx="11064240" cy="320040"/>
          </a:xfrm>
          <a:prstGeom prst="rect">
            <a:avLst/>
          </a:prstGeom>
          <a:noFill/>
          <a:ln/>
        </p:spPr>
        <p:txBody>
          <a:bodyPr wrap="square" lIns="0" tIns="0" rIns="0" bIns="0" rtlCol="0" anchor="ctr"/>
          <a:lstStyle/>
          <a:p>
            <a:pPr indent="0" marL="0">
              <a:buNone/>
            </a:pPr>
            <a:r>
              <a:rPr lang="en-US" sz="1200" i="1" dirty="0">
                <a:solidFill>
                  <a:schemeClr val="tx2"/>
                </a:solidFill>
              </a:rPr>
              <a:t>Turns the 3D twin from a viewer into a two-way digital twin: the model shows the room and also operates it.</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umber-badge"/>
          <p:cNvSpPr/>
          <p:nvPr/>
        </p:nvSpPr>
        <p:spPr>
          <a:xfrm>
            <a:off x="548640" y="384048"/>
            <a:ext cx="512064" cy="512064"/>
          </a:xfrm>
          <a:prstGeom prst="ellipse">
            <a:avLst/>
          </a:prstGeom>
          <a:solidFill>
            <a:schemeClr val="accent1"/>
          </a:solidFill>
          <a:ln w="12700">
            <a:solidFill>
              <a:schemeClr val="accent1"/>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8</a:t>
            </a:r>
            <a:endParaRPr lang="en-US" sz="1600" dirty="0"/>
          </a:p>
        </p:txBody>
      </p:sp>
      <p:sp>
        <p:nvSpPr>
          <p:cNvPr id="4" name="Text 0"/>
          <p:cNvSpPr/>
          <p:nvPr>
            <p:ph idx="100" type="body" hasCustomPrompt="1"/>
          </p:nvPr>
        </p:nvSpPr>
        <p:spPr>
          <a:xfrm>
            <a:off x="1207008" y="347472"/>
            <a:ext cx="8229600" cy="274320"/>
          </a:xfrm>
          <a:prstGeom prst="rect">
            <a:avLst/>
          </a:prstGeom>
          <a:noFill/>
          <a:ln/>
        </p:spPr>
        <p:txBody>
          <a:bodyPr wrap="square" lIns="0" tIns="0" rIns="0" bIns="0" rtlCol="0"/>
          <a:lstStyle/>
          <a:p>
            <a:pPr indent="0" marL="0">
              <a:buNone/>
            </a:pPr>
            <a:r>
              <a:rPr lang="en-US" sz="1000" b="1" spc="200" kern="0" dirty="0">
                <a:solidFill>
                  <a:schemeClr val="accent1"/>
                </a:solidFill>
              </a:rPr>
              <a:t>PLAN TO FINISH</a:t>
            </a:r>
            <a:endParaRPr lang="en-US" sz="1000" dirty="0"/>
          </a:p>
        </p:txBody>
      </p:sp>
      <p:sp>
        <p:nvSpPr>
          <p:cNvPr id="5" name="Text 0"/>
          <p:cNvSpPr/>
          <p:nvPr>
            <p:ph idx="101" type="title" hasCustomPrompt="1"/>
          </p:nvPr>
        </p:nvSpPr>
        <p:spPr>
          <a:xfrm>
            <a:off x="1207008" y="603504"/>
            <a:ext cx="10424160" cy="56692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From working system to measured results</a:t>
            </a:r>
            <a:endParaRPr lang="en-US" sz="3000" dirty="0"/>
          </a:p>
        </p:txBody>
      </p:sp>
      <p:sp>
        <p:nvSpPr>
          <p:cNvPr id="6" name="plan-0"/>
          <p:cNvSpPr/>
          <p:nvPr/>
        </p:nvSpPr>
        <p:spPr>
          <a:xfrm>
            <a:off x="548640" y="1508760"/>
            <a:ext cx="2633472" cy="3429000"/>
          </a:xfrm>
          <a:prstGeom prst="roundRect">
            <a:avLst>
              <a:gd name="adj" fmla="val 2778"/>
            </a:avLst>
          </a:prstGeom>
          <a:solidFill>
            <a:srgbClr val="F4F4F5"/>
          </a:solidFill>
          <a:ln w="12700">
            <a:solidFill>
              <a:srgbClr val="F4F4F5"/>
            </a:solidFill>
            <a:prstDash val="solid"/>
          </a:ln>
        </p:spPr>
      </p:sp>
      <p:sp>
        <p:nvSpPr>
          <p:cNvPr id="7" name="Shape 5"/>
          <p:cNvSpPr/>
          <p:nvPr/>
        </p:nvSpPr>
        <p:spPr>
          <a:xfrm>
            <a:off x="777240" y="1719072"/>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777240" y="171907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463040" y="1828800"/>
            <a:ext cx="1554480" cy="320040"/>
          </a:xfrm>
          <a:prstGeom prst="rect">
            <a:avLst/>
          </a:prstGeom>
          <a:noFill/>
          <a:ln/>
        </p:spPr>
        <p:txBody>
          <a:bodyPr wrap="square" lIns="0" tIns="0" rIns="0" bIns="0" rtlCol="0" anchor="ctr"/>
          <a:lstStyle/>
          <a:p>
            <a:pPr indent="0" marL="0">
              <a:buNone/>
            </a:pPr>
            <a:r>
              <a:rPr lang="en-US" sz="1000" b="1" spc="100" kern="0" dirty="0">
                <a:solidFill>
                  <a:srgbClr val="6B7280"/>
                </a:solidFill>
              </a:rPr>
              <a:t>NEXT, FIRST</a:t>
            </a:r>
            <a:endParaRPr lang="en-US" sz="1000" dirty="0"/>
          </a:p>
        </p:txBody>
      </p:sp>
      <p:sp>
        <p:nvSpPr>
          <p:cNvPr id="10" name="Text 8"/>
          <p:cNvSpPr txBox="1"/>
          <p:nvPr/>
        </p:nvSpPr>
        <p:spPr>
          <a:xfrm>
            <a:off x="777240" y="242316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Hardening</a:t>
            </a:r>
            <a:endParaRPr lang="en-US" sz="1700" dirty="0"/>
          </a:p>
        </p:txBody>
      </p:sp>
      <p:sp>
        <p:nvSpPr>
          <p:cNvPr id="11" name="Text 9"/>
          <p:cNvSpPr txBox="1"/>
          <p:nvPr/>
        </p:nvSpPr>
        <p:spPr>
          <a:xfrm>
            <a:off x="777240" y="2926080"/>
            <a:ext cx="224028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All booking rules enforced in the database</a:t>
            </a:r>
            <a:endParaRPr lang="en-US" sz="1300" dirty="0"/>
          </a:p>
          <a:p>
            <a:pPr marL="342900" indent="-342900">
              <a:spcAft>
                <a:spcPts val="800"/>
              </a:spcAft>
              <a:buSzPct val="100000"/>
              <a:buChar char="•"/>
            </a:pPr>
            <a:r>
              <a:rPr lang="en-US" sz="1300" dirty="0">
                <a:solidFill>
                  <a:schemeClr val="tx1"/>
                </a:solidFill>
              </a:rPr>
              <a:t>Students see only their own bookings</a:t>
            </a:r>
            <a:endParaRPr lang="en-US" sz="1300" dirty="0"/>
          </a:p>
          <a:p>
            <a:pPr marL="342900" indent="-342900">
              <a:spcAft>
                <a:spcPts val="800"/>
              </a:spcAft>
              <a:buSzPct val="100000"/>
              <a:buChar char="•"/>
            </a:pPr>
            <a:r>
              <a:rPr lang="en-US" sz="1300" dirty="0">
                <a:solidFill>
                  <a:schemeClr val="tx1"/>
                </a:solidFill>
              </a:rPr>
              <a:t>Booking changes only through checked functions</a:t>
            </a:r>
            <a:endParaRPr lang="en-US" sz="1300" dirty="0"/>
          </a:p>
        </p:txBody>
      </p:sp>
      <p:sp>
        <p:nvSpPr>
          <p:cNvPr id="12" name="plan-1"/>
          <p:cNvSpPr/>
          <p:nvPr/>
        </p:nvSpPr>
        <p:spPr>
          <a:xfrm>
            <a:off x="3364992" y="1508760"/>
            <a:ext cx="2633472" cy="3429000"/>
          </a:xfrm>
          <a:prstGeom prst="roundRect">
            <a:avLst>
              <a:gd name="adj" fmla="val 2778"/>
            </a:avLst>
          </a:prstGeom>
          <a:solidFill>
            <a:srgbClr val="F6E3E3"/>
          </a:solidFill>
          <a:ln w="12700">
            <a:solidFill>
              <a:srgbClr val="F6E3E3"/>
            </a:solidFill>
            <a:prstDash val="solid"/>
          </a:ln>
        </p:spPr>
      </p:sp>
      <p:sp>
        <p:nvSpPr>
          <p:cNvPr id="13" name="Shape 11"/>
          <p:cNvSpPr/>
          <p:nvPr/>
        </p:nvSpPr>
        <p:spPr>
          <a:xfrm>
            <a:off x="3593592" y="1719072"/>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3593592" y="171907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4279392" y="1828800"/>
            <a:ext cx="1554480" cy="320040"/>
          </a:xfrm>
          <a:prstGeom prst="rect">
            <a:avLst/>
          </a:prstGeom>
          <a:noFill/>
          <a:ln/>
        </p:spPr>
        <p:txBody>
          <a:bodyPr wrap="square" lIns="0" tIns="0" rIns="0" bIns="0" rtlCol="0" anchor="ctr"/>
          <a:lstStyle/>
          <a:p>
            <a:pPr indent="0" marL="0">
              <a:buNone/>
            </a:pPr>
            <a:r>
              <a:rPr lang="en-US" sz="1000" b="1" spc="100" kern="0" dirty="0">
                <a:solidFill>
                  <a:srgbClr val="9E1B24"/>
                </a:solidFill>
              </a:rPr>
              <a:t>IN PROGRESS</a:t>
            </a:r>
            <a:endParaRPr lang="en-US" sz="1000" dirty="0"/>
          </a:p>
        </p:txBody>
      </p:sp>
      <p:sp>
        <p:nvSpPr>
          <p:cNvPr id="16" name="Text 14"/>
          <p:cNvSpPr txBox="1"/>
          <p:nvPr/>
        </p:nvSpPr>
        <p:spPr>
          <a:xfrm>
            <a:off x="3593592" y="242316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Remote control</a:t>
            </a:r>
            <a:endParaRPr lang="en-US" sz="1700" dirty="0"/>
          </a:p>
        </p:txBody>
      </p:sp>
      <p:sp>
        <p:nvSpPr>
          <p:cNvPr id="17" name="Text 15"/>
          <p:cNvSpPr txBox="1"/>
          <p:nvPr/>
        </p:nvSpPr>
        <p:spPr>
          <a:xfrm>
            <a:off x="3593592" y="2926080"/>
            <a:ext cx="224028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MQTT push to the ESP32, HTTP fallback</a:t>
            </a:r>
            <a:endParaRPr lang="en-US" sz="1300" dirty="0"/>
          </a:p>
          <a:p>
            <a:pPr marL="342900" indent="-342900">
              <a:spcAft>
                <a:spcPts val="800"/>
              </a:spcAft>
              <a:buSzPct val="100000"/>
              <a:buChar char="•"/>
            </a:pPr>
            <a:r>
              <a:rPr lang="en-US" sz="1300" dirty="0">
                <a:solidFill>
                  <a:schemeClr val="tx1"/>
                </a:solidFill>
              </a:rPr>
              <a:t>Unlock, lights, air-con, door message</a:t>
            </a:r>
            <a:endParaRPr lang="en-US" sz="1300" dirty="0"/>
          </a:p>
          <a:p>
            <a:pPr marL="342900" indent="-342900">
              <a:spcAft>
                <a:spcPts val="800"/>
              </a:spcAft>
              <a:buSzPct val="100000"/>
              <a:buChar char="•"/>
            </a:pPr>
            <a:r>
              <a:rPr lang="en-US" sz="1300" dirty="0">
                <a:solidFill>
                  <a:schemeClr val="tx1"/>
                </a:solidFill>
              </a:rPr>
              <a:t>Signed, expiring, logged commands</a:t>
            </a:r>
            <a:endParaRPr lang="en-US" sz="1300" dirty="0"/>
          </a:p>
        </p:txBody>
      </p:sp>
      <p:sp>
        <p:nvSpPr>
          <p:cNvPr id="18" name="plan-2"/>
          <p:cNvSpPr/>
          <p:nvPr/>
        </p:nvSpPr>
        <p:spPr>
          <a:xfrm>
            <a:off x="6181344" y="1508760"/>
            <a:ext cx="2633472" cy="3429000"/>
          </a:xfrm>
          <a:prstGeom prst="roundRect">
            <a:avLst>
              <a:gd name="adj" fmla="val 2778"/>
            </a:avLst>
          </a:prstGeom>
          <a:solidFill>
            <a:srgbClr val="F4F4F5"/>
          </a:solidFill>
          <a:ln w="12700">
            <a:solidFill>
              <a:srgbClr val="F4F4F5"/>
            </a:solidFill>
            <a:prstDash val="solid"/>
          </a:ln>
        </p:spPr>
      </p:sp>
      <p:sp>
        <p:nvSpPr>
          <p:cNvPr id="19" name="Shape 17"/>
          <p:cNvSpPr/>
          <p:nvPr/>
        </p:nvSpPr>
        <p:spPr>
          <a:xfrm>
            <a:off x="6409944" y="1719072"/>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409944" y="171907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7095744" y="1828800"/>
            <a:ext cx="1554480" cy="320040"/>
          </a:xfrm>
          <a:prstGeom prst="rect">
            <a:avLst/>
          </a:prstGeom>
          <a:noFill/>
          <a:ln/>
        </p:spPr>
        <p:txBody>
          <a:bodyPr wrap="square" lIns="0" tIns="0" rIns="0" bIns="0" rtlCol="0" anchor="ctr"/>
          <a:lstStyle/>
          <a:p>
            <a:pPr indent="0" marL="0">
              <a:buNone/>
            </a:pPr>
            <a:r>
              <a:rPr lang="en-US" sz="1000" b="1" spc="100" kern="0" dirty="0">
                <a:solidFill>
                  <a:srgbClr val="6B7280"/>
                </a:solidFill>
              </a:rPr>
              <a:t>NEXT</a:t>
            </a:r>
            <a:endParaRPr lang="en-US" sz="1000" dirty="0"/>
          </a:p>
        </p:txBody>
      </p:sp>
      <p:sp>
        <p:nvSpPr>
          <p:cNvPr id="22" name="Text 20"/>
          <p:cNvSpPr txBox="1"/>
          <p:nvPr/>
        </p:nvSpPr>
        <p:spPr>
          <a:xfrm>
            <a:off x="6409944" y="242316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Evaluation</a:t>
            </a:r>
            <a:endParaRPr lang="en-US" sz="1700" dirty="0"/>
          </a:p>
        </p:txBody>
      </p:sp>
      <p:sp>
        <p:nvSpPr>
          <p:cNvPr id="23" name="Text 21"/>
          <p:cNvSpPr txBox="1"/>
          <p:nvPr/>
        </p:nvSpPr>
        <p:spPr>
          <a:xfrm>
            <a:off x="6409944" y="2926080"/>
            <a:ext cx="224028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Two bookings at the same instant: only one succeeds</a:t>
            </a:r>
            <a:endParaRPr lang="en-US" sz="1300" dirty="0"/>
          </a:p>
          <a:p>
            <a:pPr marL="342900" indent="-342900">
              <a:spcAft>
                <a:spcPts val="800"/>
              </a:spcAft>
              <a:buSzPct val="100000"/>
              <a:buChar char="•"/>
            </a:pPr>
            <a:r>
              <a:rPr lang="en-US" sz="1300" dirty="0">
                <a:solidFill>
                  <a:schemeClr val="tx1"/>
                </a:solidFill>
              </a:rPr>
              <a:t>Recommender under 1 s; chatbot question set</a:t>
            </a:r>
            <a:endParaRPr lang="en-US" sz="1300" dirty="0"/>
          </a:p>
          <a:p>
            <a:pPr marL="342900" indent="-342900">
              <a:spcAft>
                <a:spcPts val="800"/>
              </a:spcAft>
              <a:buSzPct val="100000"/>
              <a:buChar char="•"/>
            </a:pPr>
            <a:r>
              <a:rPr lang="en-US" sz="1300" dirty="0">
                <a:solidFill>
                  <a:schemeClr val="tx1"/>
                </a:solidFill>
              </a:rPr>
              <a:t>User study: acceptance, no-shows, SUS above 68</a:t>
            </a:r>
            <a:endParaRPr lang="en-US" sz="1300" dirty="0"/>
          </a:p>
        </p:txBody>
      </p:sp>
      <p:sp>
        <p:nvSpPr>
          <p:cNvPr id="24" name="plan-3"/>
          <p:cNvSpPr/>
          <p:nvPr/>
        </p:nvSpPr>
        <p:spPr>
          <a:xfrm>
            <a:off x="8997696" y="1508760"/>
            <a:ext cx="2633472" cy="3429000"/>
          </a:xfrm>
          <a:prstGeom prst="roundRect">
            <a:avLst>
              <a:gd name="adj" fmla="val 2778"/>
            </a:avLst>
          </a:prstGeom>
          <a:solidFill>
            <a:srgbClr val="F4F4F5"/>
          </a:solidFill>
          <a:ln w="12700">
            <a:solidFill>
              <a:srgbClr val="F4F4F5"/>
            </a:solidFill>
            <a:prstDash val="solid"/>
          </a:ln>
        </p:spPr>
      </p:sp>
      <p:sp>
        <p:nvSpPr>
          <p:cNvPr id="25" name="Shape 23"/>
          <p:cNvSpPr/>
          <p:nvPr/>
        </p:nvSpPr>
        <p:spPr>
          <a:xfrm>
            <a:off x="9226296" y="1719072"/>
            <a:ext cx="548640" cy="548640"/>
          </a:xfrm>
          <a:prstGeom prst="ellipse">
            <a:avLst/>
          </a:prstGeom>
          <a:solidFill>
            <a:schemeClr val="accent1"/>
          </a:solidFill>
          <a:ln w="12700">
            <a:solidFill>
              <a:schemeClr val="accent1"/>
            </a:solidFill>
            <a:prstDash val="solid"/>
          </a:ln>
        </p:spPr>
      </p:sp>
      <p:sp>
        <p:nvSpPr>
          <p:cNvPr id="26" name="Text 24"/>
          <p:cNvSpPr txBox="1"/>
          <p:nvPr/>
        </p:nvSpPr>
        <p:spPr>
          <a:xfrm>
            <a:off x="9226296" y="171907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9912096" y="1828800"/>
            <a:ext cx="1554480" cy="320040"/>
          </a:xfrm>
          <a:prstGeom prst="rect">
            <a:avLst/>
          </a:prstGeom>
          <a:noFill/>
          <a:ln/>
        </p:spPr>
        <p:txBody>
          <a:bodyPr wrap="square" lIns="0" tIns="0" rIns="0" bIns="0" rtlCol="0" anchor="ctr"/>
          <a:lstStyle/>
          <a:p>
            <a:pPr indent="0" marL="0">
              <a:buNone/>
            </a:pPr>
            <a:r>
              <a:rPr lang="en-US" sz="1000" b="1" spc="100" kern="0" dirty="0">
                <a:solidFill>
                  <a:srgbClr val="6B7280"/>
                </a:solidFill>
              </a:rPr>
              <a:t>NEXT</a:t>
            </a:r>
            <a:endParaRPr lang="en-US" sz="1000" dirty="0"/>
          </a:p>
        </p:txBody>
      </p:sp>
      <p:sp>
        <p:nvSpPr>
          <p:cNvPr id="28" name="Text 26"/>
          <p:cNvSpPr txBox="1"/>
          <p:nvPr/>
        </p:nvSpPr>
        <p:spPr>
          <a:xfrm>
            <a:off x="9226296" y="242316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Extensions and report</a:t>
            </a:r>
            <a:endParaRPr lang="en-US" sz="1700" dirty="0"/>
          </a:p>
        </p:txBody>
      </p:sp>
      <p:sp>
        <p:nvSpPr>
          <p:cNvPr id="29" name="Text 27"/>
          <p:cNvSpPr txBox="1"/>
          <p:nvPr/>
        </p:nvSpPr>
        <p:spPr>
          <a:xfrm>
            <a:off x="9226296" y="2926080"/>
            <a:ext cx="224028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No-show prediction model</a:t>
            </a:r>
            <a:endParaRPr lang="en-US" sz="1300" dirty="0"/>
          </a:p>
          <a:p>
            <a:pPr marL="342900" indent="-342900">
              <a:spcAft>
                <a:spcPts val="800"/>
              </a:spcAft>
              <a:buSzPct val="100000"/>
              <a:buChar char="•"/>
            </a:pPr>
            <a:r>
              <a:rPr lang="en-US" sz="1300" dirty="0">
                <a:solidFill>
                  <a:schemeClr val="tx1"/>
                </a:solidFill>
              </a:rPr>
              <a:t>Batch allocation for busy periods</a:t>
            </a:r>
            <a:endParaRPr lang="en-US" sz="1300" dirty="0"/>
          </a:p>
          <a:p>
            <a:pPr marL="342900" indent="-342900">
              <a:spcAft>
                <a:spcPts val="800"/>
              </a:spcAft>
              <a:buSzPct val="100000"/>
              <a:buChar char="•"/>
            </a:pPr>
            <a:r>
              <a:rPr lang="en-US" sz="1300" dirty="0">
                <a:solidFill>
                  <a:schemeClr val="tx1"/>
                </a:solidFill>
              </a:rPr>
              <a:t>Phase 2 report and final demo</a:t>
            </a:r>
            <a:endParaRPr lang="en-US" sz="1300" dirty="0"/>
          </a:p>
        </p:txBody>
      </p:sp>
      <p:sp>
        <p:nvSpPr>
          <p:cNvPr id="30" name="Text 28"/>
          <p:cNvSpPr txBox="1"/>
          <p:nvPr/>
        </p:nvSpPr>
        <p:spPr>
          <a:xfrm>
            <a:off x="548640" y="5120640"/>
            <a:ext cx="11064240" cy="320040"/>
          </a:xfrm>
          <a:prstGeom prst="rect">
            <a:avLst/>
          </a:prstGeom>
          <a:noFill/>
          <a:ln/>
        </p:spPr>
        <p:txBody>
          <a:bodyPr wrap="square" lIns="0" tIns="0" rIns="0" bIns="0" rtlCol="0" anchor="ctr"/>
          <a:lstStyle/>
          <a:p>
            <a:pPr indent="0" marL="0">
              <a:buNone/>
            </a:pPr>
            <a:r>
              <a:rPr lang="en-US" sz="1200" i="1" dirty="0">
                <a:solidFill>
                  <a:schemeClr val="tx2"/>
                </a:solidFill>
              </a:rPr>
              <a:t>Hardening comes first, so the user study runs on the final, secure system with the test data removed.</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10515600" cy="365760"/>
          </a:xfrm>
          <a:prstGeom prst="rect">
            <a:avLst/>
          </a:prstGeom>
          <a:noFill/>
          <a:ln/>
        </p:spPr>
        <p:txBody>
          <a:bodyPr wrap="square" rtlCol="0"/>
          <a:lstStyle/>
          <a:p>
            <a:pPr indent="0" marL="0">
              <a:buNone/>
            </a:pPr>
            <a:r>
              <a:rPr lang="en-US" sz="1200" b="1" spc="300" kern="0" dirty="0">
                <a:solidFill>
                  <a:schemeClr val="bg1"/>
                </a:solidFill>
              </a:rPr>
              <a:t>THANK YOU</a:t>
            </a:r>
            <a:endParaRPr lang="en-US" sz="1200" dirty="0"/>
          </a:p>
        </p:txBody>
      </p:sp>
      <p:sp>
        <p:nvSpPr>
          <p:cNvPr id="3" name="Text 0"/>
          <p:cNvSpPr/>
          <p:nvPr>
            <p:ph idx="101" type="title" hasCustomPrompt="1"/>
          </p:nvPr>
        </p:nvSpPr>
        <p:spPr>
          <a:xfrm>
            <a:off x="822960" y="2011680"/>
            <a:ext cx="10515600" cy="164592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Questions, then a live demo</a:t>
            </a:r>
            <a:endParaRPr lang="en-US" sz="4000" dirty="0"/>
          </a:p>
        </p:txBody>
      </p:sp>
      <p:sp>
        <p:nvSpPr>
          <p:cNvPr id="4" name="Text 0"/>
          <p:cNvSpPr/>
          <p:nvPr>
            <p:ph idx="102" type="body" hasCustomPrompt="1"/>
          </p:nvPr>
        </p:nvSpPr>
        <p:spPr>
          <a:xfrm>
            <a:off x="822960" y="4206240"/>
            <a:ext cx="10515600" cy="1280160"/>
          </a:xfrm>
          <a:prstGeom prst="rect">
            <a:avLst/>
          </a:prstGeom>
          <a:noFill/>
          <a:ln/>
        </p:spPr>
        <p:txBody>
          <a:bodyPr wrap="square" rtlCol="0" anchor="t"/>
          <a:lstStyle/>
          <a:p>
            <a:pPr indent="0" marL="0">
              <a:buNone/>
            </a:pPr>
            <a:r>
              <a:rPr lang="en-US" sz="1600" dirty="0">
                <a:solidFill>
                  <a:schemeClr val="bg1"/>
                </a:solidFill>
              </a:rPr>
              <a:t>Booking with suggestions, chatbot, manager and admin views, Wokwi smart room and 3D twin</a:t>
            </a:r>
            <a:endParaRPr lang="en-US" sz="1600" dirty="0"/>
          </a:p>
        </p:txBody>
      </p:sp>
    </p:spTree>
  </p:cSld>
  <p:clrMapOvr>
    <a:masterClrMapping/>
  </p:clrMapOvr>
</p:sld>
</file>

<file path=ppt/theme/theme1.xml><?xml version="1.0" encoding="utf-8"?>
<a:theme xmlns:a="http://schemas.openxmlformats.org/drawingml/2006/main" name="Campus Reserve">
  <a:themeElements>
    <a:clrScheme name="Campus Reserve">
      <a:dk1>
        <a:srgbClr val="1F2633"/>
      </a:dk1>
      <a:lt1>
        <a:srgbClr val="FFFFFF"/>
      </a:lt1>
      <a:dk2>
        <a:srgbClr val="6B7280"/>
      </a:dk2>
      <a:lt2>
        <a:srgbClr val="F4F4F5"/>
      </a:lt2>
      <a:accent1>
        <a:srgbClr val="9E1B24"/>
      </a:accent1>
      <a:accent2>
        <a:srgbClr val="F6E3E3"/>
      </a:accent2>
      <a:accent3>
        <a:srgbClr val="2F4B7C"/>
      </a:accent3>
      <a:accent4>
        <a:srgbClr val="2F7A59"/>
      </a:accent4>
      <a:accent5>
        <a:srgbClr val="D99A1E"/>
      </a:accent5>
      <a:accent6>
        <a:srgbClr val="B9BEC7"/>
      </a:accent6>
      <a:hlink>
        <a:srgbClr val="9E1B24"/>
      </a:hlink>
      <a:folHlink>
        <a:srgbClr val="6D2E46"/>
      </a:folHlink>
    </a:clrScheme>
    <a:fontScheme name="Campus Reser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Facility Reservation System - Progress</dc:title>
  <dc:subject>PptxGenJS Presentation</dc:subject>
  <dc:creator>Amaan Rashid</dc:creator>
  <cp:lastModifiedBy>Amaan Rashid</cp:lastModifiedBy>
  <cp:revision>1</cp:revision>
  <dcterms:created xsi:type="dcterms:W3CDTF">2026-10-15T06:37:00Z</dcterms:created>
  <dcterms:modified xsi:type="dcterms:W3CDTF">2026-10-15T06:37:00Z</dcterms:modified>
</cp:coreProperties>
</file>