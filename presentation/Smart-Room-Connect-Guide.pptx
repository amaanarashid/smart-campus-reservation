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uide" id="{06554aa7-3d2c-1e71-9b1e-352f2dccafa5}">
          <p14:sldIdLst>
            <p14:sldId id="256"/>
          </p14:sldIdLst>
        </p14:section>
        <p14:section name="Steps" id="{b6ea0d2b-d9fb-43af-c9c3-6974a3ab6b1d}">
          <p14:sldIdLst>
            <p14:sldId id="257"/>
            <p14:sldId id="258"/>
            <p14:sldId id="259"/>
            <p14:sldId id="260"/>
            <p14:sldId id="261"/>
          </p14:sldIdLst>
        </p14:section>
        <p14:section name="How it works" id="{8cd603e7-10b1-0fe4-a890-4f4fb822457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shows how an administrator adds a new smart room. Everything on the web side is in the admin console; the only device work is pasting two lines into the firmware.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Smart room tab lists only rooms that already have a device. Each card shows the device type and whether it is online. The Connect a room button starts the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room and say whether the device is simulated in Wokwi or a physical ESP32. The label only affects how it is shown; both run the same firmware and use HTTPS for status and MQTT for commands. On Connect, the key is generated in the browser and only its hash reaches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window walks through the device steps. The key is shown only once because the database keeps just its SHA-256. The two sketch lines and the server address each have a copy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device side you copy the firmware folder, paste the two lines, and check that API_BASE points at the live site. For a physical board you also set the Wi-Fi. After building, the serial monitor shows Wi-Fi and MQTT connecting.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about ten seconds the new room shows Online. If not, the table maps what you see to the usual cause. Remote commands fall back to the five-second status poll if MQTT is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saves only the key's hash. The device proves itself on every request with the key, which the server hashes and compares. Status and events go over HTTPS; remote commands go through the MQTT broker, signed with a key derived from the device key, and expire after 60 seconds. If MQTT is unavailable the same commands are picked up by the status poll.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</a:rPr>
              <a:t>Campus Reserve · Connecting a smart room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7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C6CF"/>
                </a:solidFill>
              </a:rPr>
              <a:t>ADMIN GUIDE</a:t>
            </a:r>
            <a:endParaRPr lang="en-US" sz="1100" dirty="0"/>
          </a:p>
        </p:txBody>
      </p:sp>
      <p:sp>
        <p:nvSpPr>
          <p:cNvPr id="3" name="Text 2"/>
          <p:cNvSpPr txBox="1"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a smart room</a:t>
            </a:r>
            <a:endParaRPr lang="en-US" sz="3800" dirty="0"/>
          </a:p>
        </p:txBody>
      </p:sp>
      <p:sp>
        <p:nvSpPr>
          <p:cNvPr id="4" name="Text 3"/>
          <p:cNvSpPr txBox="1"/>
          <p:nvPr/>
        </p:nvSpPr>
        <p:spPr>
          <a:xfrm>
            <a:off x="548640" y="1600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E7EA"/>
                </a:solidFill>
              </a:rPr>
              <a:t>Turn any existing room into a smart room with a Wokwi simulation or a real ESP32: five steps, about six minutes, no SQL and no redeploy.</a:t>
            </a:r>
            <a:endParaRPr lang="en-US" sz="1400" dirty="0"/>
          </a:p>
        </p:txBody>
      </p:sp>
      <p:sp>
        <p:nvSpPr>
          <p:cNvPr id="5" name="Flow card 1"/>
          <p:cNvSpPr/>
          <p:nvPr/>
        </p:nvSpPr>
        <p:spPr>
          <a:xfrm>
            <a:off x="548640" y="251460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Flow badge 1"/>
          <p:cNvSpPr/>
          <p:nvPr/>
        </p:nvSpPr>
        <p:spPr>
          <a:xfrm>
            <a:off x="685800" y="2651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Flow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752344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C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Smart room</a:t>
            </a:r>
            <a:endParaRPr lang="en-US" sz="1200" dirty="0"/>
          </a:p>
        </p:txBody>
      </p:sp>
      <p:sp>
        <p:nvSpPr>
          <p:cNvPr id="10" name="Flow card 2"/>
          <p:cNvSpPr/>
          <p:nvPr/>
        </p:nvSpPr>
        <p:spPr>
          <a:xfrm>
            <a:off x="2176272" y="251460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Flow badge 2"/>
          <p:cNvSpPr/>
          <p:nvPr/>
        </p:nvSpPr>
        <p:spPr>
          <a:xfrm>
            <a:off x="2313432" y="2651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Flow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2752344"/>
            <a:ext cx="219456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136392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C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7"/>
          <p:cNvSpPr txBox="1"/>
          <p:nvPr/>
        </p:nvSpPr>
        <p:spPr>
          <a:xfrm>
            <a:off x="2313432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Choose room + device</a:t>
            </a:r>
            <a:endParaRPr lang="en-US" sz="1200" dirty="0"/>
          </a:p>
        </p:txBody>
      </p:sp>
      <p:sp>
        <p:nvSpPr>
          <p:cNvPr id="15" name="Flow card 3"/>
          <p:cNvSpPr/>
          <p:nvPr/>
        </p:nvSpPr>
        <p:spPr>
          <a:xfrm>
            <a:off x="3803904" y="251460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Flow badge 3"/>
          <p:cNvSpPr/>
          <p:nvPr/>
        </p:nvSpPr>
        <p:spPr>
          <a:xfrm>
            <a:off x="3941064" y="2651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Flow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2752344"/>
            <a:ext cx="219456" cy="219456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4764024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C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9"/>
          <p:cNvSpPr txBox="1"/>
          <p:nvPr/>
        </p:nvSpPr>
        <p:spPr>
          <a:xfrm>
            <a:off x="3941064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Copy ID + key</a:t>
            </a:r>
            <a:endParaRPr lang="en-US" sz="1200" dirty="0"/>
          </a:p>
        </p:txBody>
      </p:sp>
      <p:sp>
        <p:nvSpPr>
          <p:cNvPr id="20" name="Flow card 4"/>
          <p:cNvSpPr/>
          <p:nvPr/>
        </p:nvSpPr>
        <p:spPr>
          <a:xfrm>
            <a:off x="5431536" y="251460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Flow badge 4"/>
          <p:cNvSpPr/>
          <p:nvPr/>
        </p:nvSpPr>
        <p:spPr>
          <a:xfrm>
            <a:off x="5568696" y="2651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Flow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752344"/>
            <a:ext cx="219456" cy="219456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6391656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C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11"/>
          <p:cNvSpPr txBox="1"/>
          <p:nvPr/>
        </p:nvSpPr>
        <p:spPr>
          <a:xfrm>
            <a:off x="5568696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Paste into sketch</a:t>
            </a:r>
            <a:endParaRPr lang="en-US" sz="1200" dirty="0"/>
          </a:p>
        </p:txBody>
      </p:sp>
      <p:sp>
        <p:nvSpPr>
          <p:cNvPr id="25" name="Flow card 5"/>
          <p:cNvSpPr/>
          <p:nvPr/>
        </p:nvSpPr>
        <p:spPr>
          <a:xfrm>
            <a:off x="7059168" y="251460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Flow badge 5"/>
          <p:cNvSpPr/>
          <p:nvPr/>
        </p:nvSpPr>
        <p:spPr>
          <a:xfrm>
            <a:off x="7196328" y="2651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Flow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752344"/>
            <a:ext cx="219456" cy="219456"/>
          </a:xfrm>
          <a:prstGeom prst="rect">
            <a:avLst/>
          </a:prstGeom>
        </p:spPr>
      </p:pic>
      <p:sp>
        <p:nvSpPr>
          <p:cNvPr id="28" name="Text 12"/>
          <p:cNvSpPr txBox="1"/>
          <p:nvPr/>
        </p:nvSpPr>
        <p:spPr>
          <a:xfrm>
            <a:off x="801928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C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13"/>
          <p:cNvSpPr txBox="1"/>
          <p:nvPr/>
        </p:nvSpPr>
        <p:spPr>
          <a:xfrm>
            <a:off x="7196328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it's live</a:t>
            </a:r>
            <a:endParaRPr lang="en-US" sz="1200" dirty="0"/>
          </a:p>
        </p:txBody>
      </p:sp>
      <p:sp>
        <p:nvSpPr>
          <p:cNvPr id="30" name="Text 14"/>
          <p:cNvSpPr txBox="1"/>
          <p:nvPr/>
        </p:nvSpPr>
        <p:spPr>
          <a:xfrm>
            <a:off x="54864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min</a:t>
            </a:r>
            <a:endParaRPr lang="en-US" sz="2600" dirty="0"/>
          </a:p>
        </p:txBody>
      </p:sp>
      <p:sp>
        <p:nvSpPr>
          <p:cNvPr id="31" name="Text 15"/>
          <p:cNvSpPr txBox="1"/>
          <p:nvPr/>
        </p:nvSpPr>
        <p:spPr>
          <a:xfrm>
            <a:off x="169164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6CF"/>
                </a:solidFill>
              </a:rPr>
              <a:t>in the web app</a:t>
            </a:r>
            <a:endParaRPr lang="en-US" sz="1100" dirty="0"/>
          </a:p>
        </p:txBody>
      </p:sp>
      <p:sp>
        <p:nvSpPr>
          <p:cNvPr id="32" name="Text 16"/>
          <p:cNvSpPr txBox="1"/>
          <p:nvPr/>
        </p:nvSpPr>
        <p:spPr>
          <a:xfrm>
            <a:off x="292608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min</a:t>
            </a:r>
            <a:endParaRPr lang="en-US" sz="2600" dirty="0"/>
          </a:p>
        </p:txBody>
      </p:sp>
      <p:sp>
        <p:nvSpPr>
          <p:cNvPr id="33" name="Text 17"/>
          <p:cNvSpPr txBox="1"/>
          <p:nvPr/>
        </p:nvSpPr>
        <p:spPr>
          <a:xfrm>
            <a:off x="406908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6CF"/>
                </a:solidFill>
              </a:rPr>
              <a:t>on the device</a:t>
            </a:r>
            <a:endParaRPr lang="en-US" sz="1100" dirty="0"/>
          </a:p>
        </p:txBody>
      </p:sp>
      <p:sp>
        <p:nvSpPr>
          <p:cNvPr id="34" name="Text 18"/>
          <p:cNvSpPr txBox="1"/>
          <p:nvPr/>
        </p:nvSpPr>
        <p:spPr>
          <a:xfrm>
            <a:off x="530352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35" name="Text 19"/>
          <p:cNvSpPr txBox="1"/>
          <p:nvPr/>
        </p:nvSpPr>
        <p:spPr>
          <a:xfrm>
            <a:off x="571500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6CF"/>
                </a:solidFill>
              </a:rPr>
              <a:t>SQL scripts or redeploys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203A"/>
                </a:solidFill>
              </a:rPr>
              <a:t>STEP 1 OF 5 · WEB APP</a:t>
            </a:r>
            <a:endParaRPr lang="en-US" sz="1050" dirty="0"/>
          </a:p>
        </p:txBody>
      </p:sp>
      <p:sp>
        <p:nvSpPr>
          <p:cNvPr id="3" name="Text 2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Admin → Smart room</a:t>
            </a:r>
            <a:endParaRPr lang="en-US" sz="2400" dirty="0"/>
          </a:p>
        </p:txBody>
      </p:sp>
      <p:sp>
        <p:nvSpPr>
          <p:cNvPr id="4" name="Smart room tab screenshot frame"/>
          <p:cNvSpPr/>
          <p:nvPr/>
        </p:nvSpPr>
        <p:spPr>
          <a:xfrm>
            <a:off x="420624" y="1060704"/>
            <a:ext cx="8302752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4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Smart room tab screenshot" descr="Smart room ta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286000"/>
          </a:xfrm>
          <a:prstGeom prst="rect">
            <a:avLst/>
          </a:prstGeom>
        </p:spPr>
      </p:pic>
      <p:sp>
        <p:nvSpPr>
          <p:cNvPr id="6" name="Callout 1 (21)"/>
          <p:cNvSpPr/>
          <p:nvPr/>
        </p:nvSpPr>
        <p:spPr>
          <a:xfrm>
            <a:off x="2066544" y="987552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7" name="Text 23"/>
          <p:cNvSpPr txBox="1"/>
          <p:nvPr/>
        </p:nvSpPr>
        <p:spPr>
          <a:xfrm>
            <a:off x="2066544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Callout 2 (23)"/>
          <p:cNvSpPr/>
          <p:nvPr/>
        </p:nvSpPr>
        <p:spPr>
          <a:xfrm>
            <a:off x="7370064" y="1225296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25"/>
          <p:cNvSpPr txBox="1"/>
          <p:nvPr/>
        </p:nvSpPr>
        <p:spPr>
          <a:xfrm>
            <a:off x="7370064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Callout 3 (25)"/>
          <p:cNvSpPr/>
          <p:nvPr/>
        </p:nvSpPr>
        <p:spPr>
          <a:xfrm>
            <a:off x="2139696" y="1801368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27"/>
          <p:cNvSpPr txBox="1"/>
          <p:nvPr/>
        </p:nvSpPr>
        <p:spPr>
          <a:xfrm>
            <a:off x="213969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Callout 4 (27)"/>
          <p:cNvSpPr/>
          <p:nvPr/>
        </p:nvSpPr>
        <p:spPr>
          <a:xfrm>
            <a:off x="1152144" y="2898648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29"/>
          <p:cNvSpPr txBox="1"/>
          <p:nvPr/>
        </p:nvSpPr>
        <p:spPr>
          <a:xfrm>
            <a:off x="1152144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Callout 1 (29)"/>
          <p:cNvSpPr/>
          <p:nvPr/>
        </p:nvSpPr>
        <p:spPr>
          <a:xfrm>
            <a:off x="466344" y="362102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31"/>
          <p:cNvSpPr txBox="1"/>
          <p:nvPr/>
        </p:nvSpPr>
        <p:spPr>
          <a:xfrm>
            <a:off x="466344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32"/>
          <p:cNvSpPr txBox="1"/>
          <p:nvPr/>
        </p:nvSpPr>
        <p:spPr>
          <a:xfrm>
            <a:off x="841248" y="3611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Smart room tab</a:t>
            </a:r>
            <a:endParaRPr lang="en-US" sz="1250" dirty="0"/>
          </a:p>
        </p:txBody>
      </p:sp>
      <p:sp>
        <p:nvSpPr>
          <p:cNvPr id="17" name="Text 33"/>
          <p:cNvSpPr txBox="1"/>
          <p:nvPr/>
        </p:nvSpPr>
        <p:spPr>
          <a:xfrm>
            <a:off x="841248" y="3895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Admin console, third tab.</a:t>
            </a:r>
            <a:endParaRPr lang="en-US" sz="1050" dirty="0"/>
          </a:p>
        </p:txBody>
      </p:sp>
      <p:sp>
        <p:nvSpPr>
          <p:cNvPr id="18" name="Callout 2 (33)"/>
          <p:cNvSpPr/>
          <p:nvPr/>
        </p:nvSpPr>
        <p:spPr>
          <a:xfrm>
            <a:off x="2523744" y="362102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35"/>
          <p:cNvSpPr txBox="1"/>
          <p:nvPr/>
        </p:nvSpPr>
        <p:spPr>
          <a:xfrm>
            <a:off x="2523744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36"/>
          <p:cNvSpPr txBox="1"/>
          <p:nvPr/>
        </p:nvSpPr>
        <p:spPr>
          <a:xfrm>
            <a:off x="2898648" y="36118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Connect a room</a:t>
            </a:r>
            <a:endParaRPr lang="en-US" sz="1250" dirty="0"/>
          </a:p>
        </p:txBody>
      </p:sp>
      <p:sp>
        <p:nvSpPr>
          <p:cNvPr id="21" name="Text 37"/>
          <p:cNvSpPr txBox="1"/>
          <p:nvPr/>
        </p:nvSpPr>
        <p:spPr>
          <a:xfrm>
            <a:off x="2898648" y="3895344"/>
            <a:ext cx="1673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Opens the setup window (next step).</a:t>
            </a:r>
            <a:endParaRPr lang="en-US" sz="1050" dirty="0"/>
          </a:p>
        </p:txBody>
      </p:sp>
      <p:sp>
        <p:nvSpPr>
          <p:cNvPr id="22" name="Callout 3 (37)"/>
          <p:cNvSpPr/>
          <p:nvPr/>
        </p:nvSpPr>
        <p:spPr>
          <a:xfrm>
            <a:off x="4626864" y="362102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39"/>
          <p:cNvSpPr txBox="1"/>
          <p:nvPr/>
        </p:nvSpPr>
        <p:spPr>
          <a:xfrm>
            <a:off x="4626864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40"/>
          <p:cNvSpPr txBox="1"/>
          <p:nvPr/>
        </p:nvSpPr>
        <p:spPr>
          <a:xfrm>
            <a:off x="5001768" y="3611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Device type</a:t>
            </a:r>
            <a:endParaRPr lang="en-US" sz="1250" dirty="0"/>
          </a:p>
        </p:txBody>
      </p:sp>
      <p:sp>
        <p:nvSpPr>
          <p:cNvPr id="25" name="Text 41"/>
          <p:cNvSpPr txBox="1"/>
          <p:nvPr/>
        </p:nvSpPr>
        <p:spPr>
          <a:xfrm>
            <a:off x="5001768" y="3895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Badge shows Simulated (Wokwi) or Physical (ESP32).</a:t>
            </a:r>
            <a:endParaRPr lang="en-US" sz="1050" dirty="0"/>
          </a:p>
        </p:txBody>
      </p:sp>
      <p:sp>
        <p:nvSpPr>
          <p:cNvPr id="26" name="Callout 4 (41)"/>
          <p:cNvSpPr/>
          <p:nvPr/>
        </p:nvSpPr>
        <p:spPr>
          <a:xfrm>
            <a:off x="6684264" y="362102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43"/>
          <p:cNvSpPr txBox="1"/>
          <p:nvPr/>
        </p:nvSpPr>
        <p:spPr>
          <a:xfrm>
            <a:off x="6684264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44"/>
          <p:cNvSpPr txBox="1"/>
          <p:nvPr/>
        </p:nvSpPr>
        <p:spPr>
          <a:xfrm>
            <a:off x="7059168" y="3611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Live status</a:t>
            </a:r>
            <a:endParaRPr lang="en-US" sz="1250" dirty="0"/>
          </a:p>
        </p:txBody>
      </p:sp>
      <p:sp>
        <p:nvSpPr>
          <p:cNvPr id="29" name="Text 45"/>
          <p:cNvSpPr txBox="1"/>
          <p:nvPr/>
        </p:nvSpPr>
        <p:spPr>
          <a:xfrm>
            <a:off x="7059168" y="3895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Online = device reported in the last 30 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6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203A"/>
                </a:solidFill>
              </a:rPr>
              <a:t>STEP 2 OF 5 · WEB APP</a:t>
            </a:r>
            <a:endParaRPr lang="en-US" sz="1050" dirty="0"/>
          </a:p>
        </p:txBody>
      </p:sp>
      <p:sp>
        <p:nvSpPr>
          <p:cNvPr id="3" name="Text 47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room and the device</a:t>
            </a:r>
            <a:endParaRPr lang="en-US" sz="2400" dirty="0"/>
          </a:p>
        </p:txBody>
      </p:sp>
      <p:sp>
        <p:nvSpPr>
          <p:cNvPr id="4" name="Connect a room dialog screenshot frame"/>
          <p:cNvSpPr/>
          <p:nvPr/>
        </p:nvSpPr>
        <p:spPr>
          <a:xfrm>
            <a:off x="420624" y="1060704"/>
            <a:ext cx="4919472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9525">
            <a:solidFill>
              <a:srgbClr val="E4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Connect a room dialog screenshot" descr="Connect a room dialog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846320" cy="2871216"/>
          </a:xfrm>
          <a:prstGeom prst="rect">
            <a:avLst/>
          </a:prstGeom>
        </p:spPr>
      </p:pic>
      <p:sp>
        <p:nvSpPr>
          <p:cNvPr id="6" name="Callout 1 (47)"/>
          <p:cNvSpPr/>
          <p:nvPr/>
        </p:nvSpPr>
        <p:spPr>
          <a:xfrm>
            <a:off x="5202936" y="1920240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7" name="Text 49"/>
          <p:cNvSpPr txBox="1"/>
          <p:nvPr/>
        </p:nvSpPr>
        <p:spPr>
          <a:xfrm>
            <a:off x="520293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Callout 2 (49)"/>
          <p:cNvSpPr/>
          <p:nvPr/>
        </p:nvSpPr>
        <p:spPr>
          <a:xfrm>
            <a:off x="5202936" y="2770632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51"/>
          <p:cNvSpPr txBox="1"/>
          <p:nvPr/>
        </p:nvSpPr>
        <p:spPr>
          <a:xfrm>
            <a:off x="5202936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Callout 3 (51)"/>
          <p:cNvSpPr/>
          <p:nvPr/>
        </p:nvSpPr>
        <p:spPr>
          <a:xfrm>
            <a:off x="5202936" y="3447288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53"/>
          <p:cNvSpPr txBox="1"/>
          <p:nvPr/>
        </p:nvSpPr>
        <p:spPr>
          <a:xfrm>
            <a:off x="5202936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Callout 1 (53)"/>
          <p:cNvSpPr/>
          <p:nvPr/>
        </p:nvSpPr>
        <p:spPr>
          <a:xfrm>
            <a:off x="5724144" y="179222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55"/>
          <p:cNvSpPr txBox="1"/>
          <p:nvPr/>
        </p:nvSpPr>
        <p:spPr>
          <a:xfrm>
            <a:off x="5724144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56"/>
          <p:cNvSpPr txBox="1"/>
          <p:nvPr/>
        </p:nvSpPr>
        <p:spPr>
          <a:xfrm>
            <a:off x="6099048" y="178308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Room</a:t>
            </a:r>
            <a:endParaRPr lang="en-US" sz="1250" dirty="0"/>
          </a:p>
        </p:txBody>
      </p:sp>
      <p:sp>
        <p:nvSpPr>
          <p:cNvPr id="15" name="Text 57"/>
          <p:cNvSpPr txBox="1"/>
          <p:nvPr/>
        </p:nvSpPr>
        <p:spPr>
          <a:xfrm>
            <a:off x="6099048" y="206654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Any existing room that has no device yet. Rooms are created in the Facilities tab.</a:t>
            </a:r>
            <a:endParaRPr lang="en-US" sz="1050" dirty="0"/>
          </a:p>
        </p:txBody>
      </p:sp>
      <p:sp>
        <p:nvSpPr>
          <p:cNvPr id="16" name="Callout 2 (57)"/>
          <p:cNvSpPr/>
          <p:nvPr/>
        </p:nvSpPr>
        <p:spPr>
          <a:xfrm>
            <a:off x="5724144" y="2642616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59"/>
          <p:cNvSpPr txBox="1"/>
          <p:nvPr/>
        </p:nvSpPr>
        <p:spPr>
          <a:xfrm>
            <a:off x="5724144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60"/>
          <p:cNvSpPr txBox="1"/>
          <p:nvPr/>
        </p:nvSpPr>
        <p:spPr>
          <a:xfrm>
            <a:off x="6099048" y="263347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Device</a:t>
            </a:r>
            <a:endParaRPr lang="en-US" sz="1250" dirty="0"/>
          </a:p>
        </p:txBody>
      </p:sp>
      <p:sp>
        <p:nvSpPr>
          <p:cNvPr id="19" name="Text 61"/>
          <p:cNvSpPr txBox="1"/>
          <p:nvPr/>
        </p:nvSpPr>
        <p:spPr>
          <a:xfrm>
            <a:off x="6099048" y="291693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Simulated (Wokwi) or Physical (ESP32). Same firmware; both talk HTTPS + MQTT.</a:t>
            </a:r>
            <a:endParaRPr lang="en-US" sz="1050" dirty="0"/>
          </a:p>
        </p:txBody>
      </p:sp>
      <p:sp>
        <p:nvSpPr>
          <p:cNvPr id="20" name="Callout 3 (61)"/>
          <p:cNvSpPr/>
          <p:nvPr/>
        </p:nvSpPr>
        <p:spPr>
          <a:xfrm>
            <a:off x="5724144" y="348386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63"/>
          <p:cNvSpPr txBox="1"/>
          <p:nvPr/>
        </p:nvSpPr>
        <p:spPr>
          <a:xfrm>
            <a:off x="5724144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64"/>
          <p:cNvSpPr txBox="1"/>
          <p:nvPr/>
        </p:nvSpPr>
        <p:spPr>
          <a:xfrm>
            <a:off x="6099048" y="34747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Connect</a:t>
            </a:r>
            <a:endParaRPr lang="en-US" sz="1250" dirty="0"/>
          </a:p>
        </p:txBody>
      </p:sp>
      <p:sp>
        <p:nvSpPr>
          <p:cNvPr id="23" name="Text 65"/>
          <p:cNvSpPr txBox="1"/>
          <p:nvPr/>
        </p:nvSpPr>
        <p:spPr>
          <a:xfrm>
            <a:off x="6099048" y="375818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The browser makes a random 32-character key and saves only its SHA-256 hash.</a:t>
            </a:r>
            <a:endParaRPr lang="en-US" sz="1050" dirty="0"/>
          </a:p>
        </p:txBody>
      </p:sp>
      <p:sp>
        <p:nvSpPr>
          <p:cNvPr id="24" name="Text 6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70"/>
                </a:solidFill>
              </a:rPr>
              <a:t>Only admins can write device records (row-level security on room_devices).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7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203A"/>
                </a:solidFill>
              </a:rPr>
              <a:t>STEP 3 OF 5 · WEB APP</a:t>
            </a:r>
            <a:endParaRPr lang="en-US" sz="1050" dirty="0"/>
          </a:p>
        </p:txBody>
      </p:sp>
      <p:sp>
        <p:nvSpPr>
          <p:cNvPr id="3" name="Text 68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device ID and key</a:t>
            </a:r>
            <a:endParaRPr lang="en-US" sz="2400" dirty="0"/>
          </a:p>
        </p:txBody>
      </p:sp>
      <p:sp>
        <p:nvSpPr>
          <p:cNvPr id="4" name="Setup steps dialog screenshot frame"/>
          <p:cNvSpPr/>
          <p:nvPr/>
        </p:nvSpPr>
        <p:spPr>
          <a:xfrm>
            <a:off x="420624" y="1014984"/>
            <a:ext cx="3625596" cy="3730752"/>
          </a:xfrm>
          <a:prstGeom prst="roundRect">
            <a:avLst>
              <a:gd name="adj" fmla="val 1513"/>
            </a:avLst>
          </a:prstGeom>
          <a:solidFill>
            <a:srgbClr val="FFFFFF"/>
          </a:solidFill>
          <a:ln w="9525">
            <a:solidFill>
              <a:srgbClr val="E4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Setup steps dialog screenshot" descr="Setup steps dialog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552444" cy="3657600"/>
          </a:xfrm>
          <a:prstGeom prst="rect">
            <a:avLst/>
          </a:prstGeom>
        </p:spPr>
      </p:pic>
      <p:sp>
        <p:nvSpPr>
          <p:cNvPr id="6" name="Callout 1 (68)"/>
          <p:cNvSpPr/>
          <p:nvPr/>
        </p:nvSpPr>
        <p:spPr>
          <a:xfrm>
            <a:off x="3904488" y="1527048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7" name="Text 70"/>
          <p:cNvSpPr txBox="1"/>
          <p:nvPr/>
        </p:nvSpPr>
        <p:spPr>
          <a:xfrm>
            <a:off x="3904488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Callout 2 (70)"/>
          <p:cNvSpPr/>
          <p:nvPr/>
        </p:nvSpPr>
        <p:spPr>
          <a:xfrm>
            <a:off x="3904488" y="2542032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72"/>
          <p:cNvSpPr txBox="1"/>
          <p:nvPr/>
        </p:nvSpPr>
        <p:spPr>
          <a:xfrm>
            <a:off x="390448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Callout 3 (72)"/>
          <p:cNvSpPr/>
          <p:nvPr/>
        </p:nvSpPr>
        <p:spPr>
          <a:xfrm>
            <a:off x="3904488" y="3227832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74"/>
          <p:cNvSpPr txBox="1"/>
          <p:nvPr/>
        </p:nvSpPr>
        <p:spPr>
          <a:xfrm>
            <a:off x="3904488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Callout 4 (74)"/>
          <p:cNvSpPr/>
          <p:nvPr/>
        </p:nvSpPr>
        <p:spPr>
          <a:xfrm>
            <a:off x="3904488" y="4023360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76"/>
          <p:cNvSpPr txBox="1"/>
          <p:nvPr/>
        </p:nvSpPr>
        <p:spPr>
          <a:xfrm>
            <a:off x="3904488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Callout 1 (76)"/>
          <p:cNvSpPr/>
          <p:nvPr/>
        </p:nvSpPr>
        <p:spPr>
          <a:xfrm>
            <a:off x="4443984" y="147218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78"/>
          <p:cNvSpPr txBox="1"/>
          <p:nvPr/>
        </p:nvSpPr>
        <p:spPr>
          <a:xfrm>
            <a:off x="4443984" y="1472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79"/>
          <p:cNvSpPr txBox="1"/>
          <p:nvPr/>
        </p:nvSpPr>
        <p:spPr>
          <a:xfrm>
            <a:off x="4818888" y="146304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Shown once</a:t>
            </a:r>
            <a:endParaRPr lang="en-US" sz="1250" dirty="0"/>
          </a:p>
        </p:txBody>
      </p:sp>
      <p:sp>
        <p:nvSpPr>
          <p:cNvPr id="17" name="Text 80"/>
          <p:cNvSpPr txBox="1"/>
          <p:nvPr/>
        </p:nvSpPr>
        <p:spPr>
          <a:xfrm>
            <a:off x="4818888" y="1746504"/>
            <a:ext cx="3867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Only the hash is stored, so copy it now. Lost it? Generate a new key later.</a:t>
            </a:r>
            <a:endParaRPr lang="en-US" sz="1050" dirty="0"/>
          </a:p>
        </p:txBody>
      </p:sp>
      <p:sp>
        <p:nvSpPr>
          <p:cNvPr id="18" name="Callout 2 (80)"/>
          <p:cNvSpPr/>
          <p:nvPr/>
        </p:nvSpPr>
        <p:spPr>
          <a:xfrm>
            <a:off x="4443984" y="234086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82"/>
          <p:cNvSpPr txBox="1"/>
          <p:nvPr/>
        </p:nvSpPr>
        <p:spPr>
          <a:xfrm>
            <a:off x="4443984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83"/>
          <p:cNvSpPr txBox="1"/>
          <p:nvPr/>
        </p:nvSpPr>
        <p:spPr>
          <a:xfrm>
            <a:off x="4818888" y="23317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Two lines for sketch.ino</a:t>
            </a:r>
            <a:endParaRPr lang="en-US" sz="1250" dirty="0"/>
          </a:p>
        </p:txBody>
      </p:sp>
      <p:sp>
        <p:nvSpPr>
          <p:cNvPr id="21" name="Text 84"/>
          <p:cNvSpPr txBox="1"/>
          <p:nvPr/>
        </p:nvSpPr>
        <p:spPr>
          <a:xfrm>
            <a:off x="4818888" y="2615184"/>
            <a:ext cx="3867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DEVICE_ID and DEVICE_KEY, ready to paste. The copy button copies both.</a:t>
            </a:r>
            <a:endParaRPr lang="en-US" sz="1050" dirty="0"/>
          </a:p>
        </p:txBody>
      </p:sp>
      <p:sp>
        <p:nvSpPr>
          <p:cNvPr id="22" name="Callout 3 (84)"/>
          <p:cNvSpPr/>
          <p:nvPr/>
        </p:nvSpPr>
        <p:spPr>
          <a:xfrm>
            <a:off x="4443984" y="311810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86"/>
          <p:cNvSpPr txBox="1"/>
          <p:nvPr/>
        </p:nvSpPr>
        <p:spPr>
          <a:xfrm>
            <a:off x="4443984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87"/>
          <p:cNvSpPr txBox="1"/>
          <p:nvPr/>
        </p:nvSpPr>
        <p:spPr>
          <a:xfrm>
            <a:off x="4818888" y="31089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Live server address</a:t>
            </a:r>
            <a:endParaRPr lang="en-US" sz="1250" dirty="0"/>
          </a:p>
        </p:txBody>
      </p:sp>
      <p:sp>
        <p:nvSpPr>
          <p:cNvPr id="25" name="Text 88"/>
          <p:cNvSpPr txBox="1"/>
          <p:nvPr/>
        </p:nvSpPr>
        <p:spPr>
          <a:xfrm>
            <a:off x="4818888" y="3392424"/>
            <a:ext cx="3867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API_BASE is always the deployed site, never localhost, so Wokwi can reach it.</a:t>
            </a:r>
            <a:endParaRPr lang="en-US" sz="1050" dirty="0"/>
          </a:p>
        </p:txBody>
      </p:sp>
      <p:sp>
        <p:nvSpPr>
          <p:cNvPr id="26" name="Callout 4 (88)"/>
          <p:cNvSpPr/>
          <p:nvPr/>
        </p:nvSpPr>
        <p:spPr>
          <a:xfrm>
            <a:off x="4443984" y="389534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90"/>
          <p:cNvSpPr txBox="1"/>
          <p:nvPr/>
        </p:nvSpPr>
        <p:spPr>
          <a:xfrm>
            <a:off x="4443984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91"/>
          <p:cNvSpPr txBox="1"/>
          <p:nvPr/>
        </p:nvSpPr>
        <p:spPr>
          <a:xfrm>
            <a:off x="4818888" y="38862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Technical details</a:t>
            </a:r>
            <a:endParaRPr lang="en-US" sz="1250" dirty="0"/>
          </a:p>
        </p:txBody>
      </p:sp>
      <p:sp>
        <p:nvSpPr>
          <p:cNvPr id="29" name="Text 92"/>
          <p:cNvSpPr txBox="1"/>
          <p:nvPr/>
        </p:nvSpPr>
        <p:spPr>
          <a:xfrm>
            <a:off x="4818888" y="4169664"/>
            <a:ext cx="3867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Status URL and MQTT topic, for anyone writing their own firmware.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3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203A"/>
                </a:solidFill>
              </a:rPr>
              <a:t>STEP 4 OF 5 · DEVICE</a:t>
            </a:r>
            <a:endParaRPr lang="en-US" sz="1050" dirty="0"/>
          </a:p>
        </p:txBody>
      </p:sp>
      <p:sp>
        <p:nvSpPr>
          <p:cNvPr id="3" name="Text 9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into the firmware and run it</a:t>
            </a:r>
            <a:endParaRPr lang="en-US" sz="2400" dirty="0"/>
          </a:p>
        </p:txBody>
      </p:sp>
      <p:sp>
        <p:nvSpPr>
          <p:cNvPr id="4" name="VS Code with sketch.ino illustration frame"/>
          <p:cNvSpPr/>
          <p:nvPr/>
        </p:nvSpPr>
        <p:spPr>
          <a:xfrm>
            <a:off x="420624" y="1060704"/>
            <a:ext cx="5468112" cy="3145536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9525">
            <a:solidFill>
              <a:srgbClr val="E4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VS Code with sketch.ino illustration" descr="VS Code with sketch.ino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072384"/>
          </a:xfrm>
          <a:prstGeom prst="rect">
            <a:avLst/>
          </a:prstGeom>
        </p:spPr>
      </p:pic>
      <p:sp>
        <p:nvSpPr>
          <p:cNvPr id="6" name="Callout 1 (94)"/>
          <p:cNvSpPr/>
          <p:nvPr/>
        </p:nvSpPr>
        <p:spPr>
          <a:xfrm>
            <a:off x="1024128" y="1152144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7" name="Text 96"/>
          <p:cNvSpPr txBox="1"/>
          <p:nvPr/>
        </p:nvSpPr>
        <p:spPr>
          <a:xfrm>
            <a:off x="1024128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Callout 2 (96)"/>
          <p:cNvSpPr/>
          <p:nvPr/>
        </p:nvSpPr>
        <p:spPr>
          <a:xfrm>
            <a:off x="3922776" y="1536192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98"/>
          <p:cNvSpPr txBox="1"/>
          <p:nvPr/>
        </p:nvSpPr>
        <p:spPr>
          <a:xfrm>
            <a:off x="3922776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Callout 3 (98)"/>
          <p:cNvSpPr/>
          <p:nvPr/>
        </p:nvSpPr>
        <p:spPr>
          <a:xfrm>
            <a:off x="4562856" y="2377440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100"/>
          <p:cNvSpPr txBox="1"/>
          <p:nvPr/>
        </p:nvSpPr>
        <p:spPr>
          <a:xfrm>
            <a:off x="4562856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Callout 4 (100)"/>
          <p:cNvSpPr/>
          <p:nvPr/>
        </p:nvSpPr>
        <p:spPr>
          <a:xfrm>
            <a:off x="4288536" y="3429000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2"/>
          <p:cNvSpPr txBox="1"/>
          <p:nvPr/>
        </p:nvSpPr>
        <p:spPr>
          <a:xfrm>
            <a:off x="4288536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Callout 5 (102)"/>
          <p:cNvSpPr/>
          <p:nvPr/>
        </p:nvSpPr>
        <p:spPr>
          <a:xfrm>
            <a:off x="1956816" y="3886200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04"/>
          <p:cNvSpPr txBox="1"/>
          <p:nvPr/>
        </p:nvSpPr>
        <p:spPr>
          <a:xfrm>
            <a:off x="1956816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Callout 1 (104)"/>
          <p:cNvSpPr/>
          <p:nvPr/>
        </p:nvSpPr>
        <p:spPr>
          <a:xfrm>
            <a:off x="6135624" y="106070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06"/>
          <p:cNvSpPr txBox="1"/>
          <p:nvPr/>
        </p:nvSpPr>
        <p:spPr>
          <a:xfrm>
            <a:off x="6135624" y="1060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07"/>
          <p:cNvSpPr txBox="1"/>
          <p:nvPr/>
        </p:nvSpPr>
        <p:spPr>
          <a:xfrm>
            <a:off x="6510528" y="105156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Copy the project</a:t>
            </a:r>
            <a:endParaRPr lang="en-US" sz="1250" dirty="0"/>
          </a:p>
        </p:txBody>
      </p:sp>
      <p:sp>
        <p:nvSpPr>
          <p:cNvPr id="19" name="Text 108"/>
          <p:cNvSpPr txBox="1"/>
          <p:nvPr/>
        </p:nvSpPr>
        <p:spPr>
          <a:xfrm>
            <a:off x="6510528" y="1335024"/>
            <a:ext cx="2221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Duplicate firmware/door-wokwi, one copy per room.</a:t>
            </a:r>
            <a:endParaRPr lang="en-US" sz="1050" dirty="0"/>
          </a:p>
        </p:txBody>
      </p:sp>
      <p:sp>
        <p:nvSpPr>
          <p:cNvPr id="20" name="Callout 2 (108)"/>
          <p:cNvSpPr/>
          <p:nvPr/>
        </p:nvSpPr>
        <p:spPr>
          <a:xfrm>
            <a:off x="6135624" y="170078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10"/>
          <p:cNvSpPr txBox="1"/>
          <p:nvPr/>
        </p:nvSpPr>
        <p:spPr>
          <a:xfrm>
            <a:off x="6135624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11"/>
          <p:cNvSpPr txBox="1"/>
          <p:nvPr/>
        </p:nvSpPr>
        <p:spPr>
          <a:xfrm>
            <a:off x="6510528" y="169164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Paste lines 80–81</a:t>
            </a:r>
            <a:endParaRPr lang="en-US" sz="1250" dirty="0"/>
          </a:p>
        </p:txBody>
      </p:sp>
      <p:sp>
        <p:nvSpPr>
          <p:cNvPr id="23" name="Text 112"/>
          <p:cNvSpPr txBox="1"/>
          <p:nvPr/>
        </p:nvSpPr>
        <p:spPr>
          <a:xfrm>
            <a:off x="6510528" y="1975104"/>
            <a:ext cx="2221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Replace DEVICE_ID and DEVICE_KEY (green).</a:t>
            </a:r>
            <a:endParaRPr lang="en-US" sz="1050" dirty="0"/>
          </a:p>
        </p:txBody>
      </p:sp>
      <p:sp>
        <p:nvSpPr>
          <p:cNvPr id="24" name="Callout 3 (112)"/>
          <p:cNvSpPr/>
          <p:nvPr/>
        </p:nvSpPr>
        <p:spPr>
          <a:xfrm>
            <a:off x="6135624" y="234086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114"/>
          <p:cNvSpPr txBox="1"/>
          <p:nvPr/>
        </p:nvSpPr>
        <p:spPr>
          <a:xfrm>
            <a:off x="6135624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115"/>
          <p:cNvSpPr txBox="1"/>
          <p:nvPr/>
        </p:nvSpPr>
        <p:spPr>
          <a:xfrm>
            <a:off x="6510528" y="233172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Check the amber lines</a:t>
            </a:r>
            <a:endParaRPr lang="en-US" sz="1250" dirty="0"/>
          </a:p>
        </p:txBody>
      </p:sp>
      <p:sp>
        <p:nvSpPr>
          <p:cNvPr id="27" name="Text 116"/>
          <p:cNvSpPr txBox="1"/>
          <p:nvPr/>
        </p:nvSpPr>
        <p:spPr>
          <a:xfrm>
            <a:off x="6510528" y="2615184"/>
            <a:ext cx="2221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API_BASE = live site. Real ESP32: set WIFI_SSID / WIFI_PASS.</a:t>
            </a:r>
            <a:endParaRPr lang="en-US" sz="1050" dirty="0"/>
          </a:p>
        </p:txBody>
      </p:sp>
      <p:sp>
        <p:nvSpPr>
          <p:cNvPr id="28" name="Callout 4 (116)"/>
          <p:cNvSpPr/>
          <p:nvPr/>
        </p:nvSpPr>
        <p:spPr>
          <a:xfrm>
            <a:off x="6135624" y="298094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118"/>
          <p:cNvSpPr txBox="1"/>
          <p:nvPr/>
        </p:nvSpPr>
        <p:spPr>
          <a:xfrm>
            <a:off x="6135624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119"/>
          <p:cNvSpPr txBox="1"/>
          <p:nvPr/>
        </p:nvSpPr>
        <p:spPr>
          <a:xfrm>
            <a:off x="6510528" y="29718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Watch the Serial Monitor</a:t>
            </a:r>
            <a:endParaRPr lang="en-US" sz="1250" dirty="0"/>
          </a:p>
        </p:txBody>
      </p:sp>
      <p:sp>
        <p:nvSpPr>
          <p:cNvPr id="31" name="Text 120"/>
          <p:cNvSpPr txBox="1"/>
          <p:nvPr/>
        </p:nvSpPr>
        <p:spPr>
          <a:xfrm>
            <a:off x="6510528" y="3255264"/>
            <a:ext cx="2221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"MQTT connected, listening on campus/rooms/…/cmd"</a:t>
            </a:r>
            <a:endParaRPr lang="en-US" sz="1050" dirty="0"/>
          </a:p>
        </p:txBody>
      </p:sp>
      <p:sp>
        <p:nvSpPr>
          <p:cNvPr id="32" name="Callout 5 (120)"/>
          <p:cNvSpPr/>
          <p:nvPr/>
        </p:nvSpPr>
        <p:spPr>
          <a:xfrm>
            <a:off x="6135624" y="3621024"/>
            <a:ext cx="274320" cy="274320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122"/>
          <p:cNvSpPr txBox="1"/>
          <p:nvPr/>
        </p:nvSpPr>
        <p:spPr>
          <a:xfrm>
            <a:off x="6135624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123"/>
          <p:cNvSpPr txBox="1"/>
          <p:nvPr/>
        </p:nvSpPr>
        <p:spPr>
          <a:xfrm>
            <a:off x="6510528" y="361188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Build and start</a:t>
            </a:r>
            <a:endParaRPr lang="en-US" sz="1250" dirty="0"/>
          </a:p>
        </p:txBody>
      </p:sp>
      <p:sp>
        <p:nvSpPr>
          <p:cNvPr id="35" name="Text 124"/>
          <p:cNvSpPr txBox="1"/>
          <p:nvPr/>
        </p:nvSpPr>
        <p:spPr>
          <a:xfrm>
            <a:off x="6510528" y="3895344"/>
            <a:ext cx="2221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PlatformIO build, then start the Wokwi simulation (or flash the board).</a:t>
            </a:r>
            <a:endParaRPr lang="en-US" sz="1050" dirty="0"/>
          </a:p>
        </p:txBody>
      </p:sp>
      <p:sp>
        <p:nvSpPr>
          <p:cNvPr id="36" name="Text 125"/>
          <p:cNvSpPr txBox="1"/>
          <p:nvPr/>
        </p:nvSpPr>
        <p:spPr>
          <a:xfrm>
            <a:off x="457200" y="4315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</a:rPr>
              <a:t>Illustration of the VS Code + Wokwi workspace. The serial lines are the firmware's real messages; MQTT settings stay unchanged.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6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203A"/>
                </a:solidFill>
              </a:rPr>
              <a:t>STEP 5 OF 5 · CHECK</a:t>
            </a:r>
            <a:endParaRPr lang="en-US" sz="1050" dirty="0"/>
          </a:p>
        </p:txBody>
      </p:sp>
      <p:sp>
        <p:nvSpPr>
          <p:cNvPr id="3" name="Text 127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it's live, and fix it if not</a:t>
            </a:r>
            <a:endParaRPr lang="en-US" sz="2400" dirty="0"/>
          </a:p>
        </p:txBody>
      </p:sp>
      <p:sp>
        <p:nvSpPr>
          <p:cNvPr id="4" name="Smart room grid with the new room online frame"/>
          <p:cNvSpPr/>
          <p:nvPr/>
        </p:nvSpPr>
        <p:spPr>
          <a:xfrm>
            <a:off x="420624" y="1060704"/>
            <a:ext cx="501091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Smart room grid with the new room online" descr="Smart room grid with the new room on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1709928"/>
          </a:xfrm>
          <a:prstGeom prst="rect">
            <a:avLst/>
          </a:prstGeom>
        </p:spPr>
      </p:pic>
      <p:sp>
        <p:nvSpPr>
          <p:cNvPr id="6" name="Device menu screenshot frame"/>
          <p:cNvSpPr/>
          <p:nvPr/>
        </p:nvSpPr>
        <p:spPr>
          <a:xfrm>
            <a:off x="5815584" y="1060704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Device menu screenshot" descr="Device menu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468880" cy="1709928"/>
          </a:xfrm>
          <a:prstGeom prst="rect">
            <a:avLst/>
          </a:prstGeom>
        </p:spPr>
      </p:pic>
      <p:sp>
        <p:nvSpPr>
          <p:cNvPr id="8" name="Callout 1 (127)"/>
          <p:cNvSpPr/>
          <p:nvPr/>
        </p:nvSpPr>
        <p:spPr>
          <a:xfrm>
            <a:off x="3282696" y="2276856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129"/>
          <p:cNvSpPr txBox="1"/>
          <p:nvPr/>
        </p:nvSpPr>
        <p:spPr>
          <a:xfrm>
            <a:off x="3282696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Callout 2 (129)"/>
          <p:cNvSpPr/>
          <p:nvPr/>
        </p:nvSpPr>
        <p:spPr>
          <a:xfrm>
            <a:off x="8174736" y="2551176"/>
            <a:ext cx="292608" cy="292608"/>
          </a:xfrm>
          <a:prstGeom prst="ellipse">
            <a:avLst/>
          </a:prstGeom>
          <a:solidFill>
            <a:srgbClr val="A320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131"/>
          <p:cNvSpPr txBox="1"/>
          <p:nvPr/>
        </p:nvSpPr>
        <p:spPr>
          <a:xfrm>
            <a:off x="8174736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32"/>
          <p:cNvSpPr txBox="1"/>
          <p:nvPr/>
        </p:nvSpPr>
        <p:spPr>
          <a:xfrm>
            <a:off x="457200" y="2898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203A"/>
                </a:solidFill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New room shows Online within ~10 s. Book it as a student and try the door code.</a:t>
            </a:r>
            <a:endParaRPr lang="en-US" sz="1050" dirty="0"/>
          </a:p>
        </p:txBody>
      </p:sp>
      <p:sp>
        <p:nvSpPr>
          <p:cNvPr id="13" name="Text 133"/>
          <p:cNvSpPr txBox="1"/>
          <p:nvPr/>
        </p:nvSpPr>
        <p:spPr>
          <a:xfrm>
            <a:off x="5852160" y="2898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203A"/>
                </a:solidFill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</a:rPr>
              <a:t>⋯ menu: new key, or disconnect (history kept).</a:t>
            </a:r>
            <a:endParaRPr lang="en-US" sz="1050" dirty="0"/>
          </a:p>
        </p:txBody>
      </p:sp>
      <p:graphicFrame>
        <p:nvGraphicFramePr>
          <p:cNvPr id="7" name="Troubleshoo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33832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says "Never connected"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can't reach the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API_BASE and Wi-Fi; read the Serial Monitor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OLED: "Device not registered"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or key pasted wrong, or an old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again, or ⋯ → New device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OLED: "Server unreachable"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URL or site 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the live site; check API_BASE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Serial: "MQTT connect failed"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settings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 still arrive via the 5 s status poll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34"/>
          <p:cNvSpPr txBox="1"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3203A"/>
                </a:solidFill>
              </a:rPr>
              <a:t>BEHIND THE SCENES</a:t>
            </a:r>
            <a:endParaRPr lang="en-US" sz="1050" dirty="0"/>
          </a:p>
        </p:txBody>
      </p:sp>
      <p:sp>
        <p:nvSpPr>
          <p:cNvPr id="3" name="Text 135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you click Connect</a:t>
            </a:r>
            <a:endParaRPr lang="en-US" sz="2400" dirty="0"/>
          </a:p>
        </p:txBody>
      </p:sp>
      <p:sp>
        <p:nvSpPr>
          <p:cNvPr id="4" name="Admin browser box"/>
          <p:cNvSpPr/>
          <p:nvPr/>
        </p:nvSpPr>
        <p:spPr>
          <a:xfrm>
            <a:off x="411480" y="105156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6F4F2"/>
          </a:solidFill>
          <a:ln/>
        </p:spPr>
      </p:sp>
      <p:pic>
        <p:nvPicPr>
          <p:cNvPr id="5" name="Admin brows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07008"/>
            <a:ext cx="237744" cy="237744"/>
          </a:xfrm>
          <a:prstGeom prst="rect">
            <a:avLst/>
          </a:prstGeom>
        </p:spPr>
      </p:pic>
      <p:sp>
        <p:nvSpPr>
          <p:cNvPr id="6" name="Text 136"/>
          <p:cNvSpPr txBox="1"/>
          <p:nvPr/>
        </p:nvSpPr>
        <p:spPr>
          <a:xfrm>
            <a:off x="813816" y="1051560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Admin browser</a:t>
            </a:r>
            <a:endParaRPr lang="en-US" sz="1000" dirty="0"/>
          </a:p>
        </p:txBody>
      </p:sp>
      <p:sp>
        <p:nvSpPr>
          <p:cNvPr id="7" name="Admin browser lifeline"/>
          <p:cNvSpPr/>
          <p:nvPr/>
        </p:nvSpPr>
        <p:spPr>
          <a:xfrm>
            <a:off x="1143000" y="1645920"/>
            <a:ext cx="0" cy="3017520"/>
          </a:xfrm>
          <a:prstGeom prst="line">
            <a:avLst/>
          </a:prstGeom>
          <a:noFill/>
          <a:ln w="12700">
            <a:solidFill>
              <a:srgbClr val="C9C4C0"/>
            </a:solidFill>
            <a:prstDash val="dash"/>
          </a:ln>
        </p:spPr>
      </p:sp>
      <p:sp>
        <p:nvSpPr>
          <p:cNvPr id="8" name="Campus Reserve (Vercel + Supabase) box"/>
          <p:cNvSpPr/>
          <p:nvPr/>
        </p:nvSpPr>
        <p:spPr>
          <a:xfrm>
            <a:off x="2788920" y="105156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6F4F2"/>
          </a:solidFill>
          <a:ln/>
        </p:spPr>
      </p:sp>
      <p:pic>
        <p:nvPicPr>
          <p:cNvPr id="9" name="Campus Reserve (Vercel + Supabase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207008"/>
            <a:ext cx="237744" cy="237744"/>
          </a:xfrm>
          <a:prstGeom prst="rect">
            <a:avLst/>
          </a:prstGeom>
        </p:spPr>
      </p:pic>
      <p:sp>
        <p:nvSpPr>
          <p:cNvPr id="10" name="Text 137"/>
          <p:cNvSpPr txBox="1"/>
          <p:nvPr/>
        </p:nvSpPr>
        <p:spPr>
          <a:xfrm>
            <a:off x="3191256" y="1051560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Campus Reserve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(Vercel + Supabase)</a:t>
            </a:r>
            <a:endParaRPr lang="en-US" sz="1000" dirty="0"/>
          </a:p>
        </p:txBody>
      </p:sp>
      <p:sp>
        <p:nvSpPr>
          <p:cNvPr id="11" name="Campus Reserve (Vercel + Supabase) lifeline"/>
          <p:cNvSpPr/>
          <p:nvPr/>
        </p:nvSpPr>
        <p:spPr>
          <a:xfrm>
            <a:off x="3520440" y="1645920"/>
            <a:ext cx="0" cy="3017520"/>
          </a:xfrm>
          <a:prstGeom prst="line">
            <a:avLst/>
          </a:prstGeom>
          <a:noFill/>
          <a:ln w="12700">
            <a:solidFill>
              <a:srgbClr val="C9C4C0"/>
            </a:solidFill>
            <a:prstDash val="dash"/>
          </a:ln>
        </p:spPr>
      </p:sp>
      <p:sp>
        <p:nvSpPr>
          <p:cNvPr id="12" name="MQTT broker (EMQX, TLS) box"/>
          <p:cNvSpPr/>
          <p:nvPr/>
        </p:nvSpPr>
        <p:spPr>
          <a:xfrm>
            <a:off x="4937760" y="105156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6F4F2"/>
          </a:solidFill>
          <a:ln/>
        </p:spPr>
      </p:sp>
      <p:pic>
        <p:nvPicPr>
          <p:cNvPr id="13" name="MQTT broker (EMQX, TLS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207008"/>
            <a:ext cx="237744" cy="237744"/>
          </a:xfrm>
          <a:prstGeom prst="rect">
            <a:avLst/>
          </a:prstGeom>
        </p:spPr>
      </p:pic>
      <p:sp>
        <p:nvSpPr>
          <p:cNvPr id="14" name="Text 138"/>
          <p:cNvSpPr txBox="1"/>
          <p:nvPr/>
        </p:nvSpPr>
        <p:spPr>
          <a:xfrm>
            <a:off x="5340096" y="1051560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MQTT broker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(EMQX, TLS)</a:t>
            </a:r>
            <a:endParaRPr lang="en-US" sz="1000" dirty="0"/>
          </a:p>
        </p:txBody>
      </p:sp>
      <p:sp>
        <p:nvSpPr>
          <p:cNvPr id="15" name="MQTT broker (EMQX, TLS) lifeline"/>
          <p:cNvSpPr/>
          <p:nvPr/>
        </p:nvSpPr>
        <p:spPr>
          <a:xfrm>
            <a:off x="5669280" y="1645920"/>
            <a:ext cx="0" cy="3017520"/>
          </a:xfrm>
          <a:prstGeom prst="line">
            <a:avLst/>
          </a:prstGeom>
          <a:noFill/>
          <a:ln w="12700">
            <a:solidFill>
              <a:srgbClr val="C9C4C0"/>
            </a:solidFill>
            <a:prstDash val="dash"/>
          </a:ln>
        </p:spPr>
      </p:sp>
      <p:sp>
        <p:nvSpPr>
          <p:cNvPr id="16" name="Device (Wokwi / ESP32) box"/>
          <p:cNvSpPr/>
          <p:nvPr/>
        </p:nvSpPr>
        <p:spPr>
          <a:xfrm>
            <a:off x="7132320" y="105156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6F4F2"/>
          </a:solidFill>
          <a:ln/>
        </p:spPr>
      </p:sp>
      <p:pic>
        <p:nvPicPr>
          <p:cNvPr id="17" name="Device (Wokwi / ESP32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207008"/>
            <a:ext cx="237744" cy="237744"/>
          </a:xfrm>
          <a:prstGeom prst="rect">
            <a:avLst/>
          </a:prstGeom>
        </p:spPr>
      </p:pic>
      <p:sp>
        <p:nvSpPr>
          <p:cNvPr id="18" name="Text 139"/>
          <p:cNvSpPr txBox="1"/>
          <p:nvPr/>
        </p:nvSpPr>
        <p:spPr>
          <a:xfrm>
            <a:off x="7534656" y="1051560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Device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(Wokwi / ESP32)</a:t>
            </a:r>
            <a:endParaRPr lang="en-US" sz="1000" dirty="0"/>
          </a:p>
        </p:txBody>
      </p:sp>
      <p:sp>
        <p:nvSpPr>
          <p:cNvPr id="19" name="Device (Wokwi / ESP32) lifeline"/>
          <p:cNvSpPr/>
          <p:nvPr/>
        </p:nvSpPr>
        <p:spPr>
          <a:xfrm>
            <a:off x="7863840" y="1645920"/>
            <a:ext cx="0" cy="3017520"/>
          </a:xfrm>
          <a:prstGeom prst="line">
            <a:avLst/>
          </a:prstGeom>
          <a:noFill/>
          <a:ln w="12700">
            <a:solidFill>
              <a:srgbClr val="C9C4C0"/>
            </a:solidFill>
            <a:prstDash val="dash"/>
          </a:ln>
        </p:spPr>
      </p:sp>
      <p:sp>
        <p:nvSpPr>
          <p:cNvPr id="20" name="Arrow Connect: save SHA-256(key) only"/>
          <p:cNvSpPr/>
          <p:nvPr/>
        </p:nvSpPr>
        <p:spPr>
          <a:xfrm>
            <a:off x="1143000" y="2011680"/>
            <a:ext cx="2377440" cy="0"/>
          </a:xfrm>
          <a:prstGeom prst="line">
            <a:avLst/>
          </a:prstGeom>
          <a:noFill/>
          <a:ln w="19050">
            <a:solidFill>
              <a:srgbClr val="A3203A"/>
            </a:solidFill>
            <a:prstDash val="solid"/>
            <a:tailEnd type="triangle"/>
          </a:ln>
        </p:spPr>
      </p:sp>
      <p:sp>
        <p:nvSpPr>
          <p:cNvPr id="21" name="Text 140"/>
          <p:cNvSpPr txBox="1"/>
          <p:nvPr/>
        </p:nvSpPr>
        <p:spPr>
          <a:xfrm>
            <a:off x="1188720" y="17647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</a:rPr>
              <a:t>Connect: save SHA-256(key) only</a:t>
            </a:r>
            <a:endParaRPr lang="en-US" sz="950" dirty="0"/>
          </a:p>
        </p:txBody>
      </p:sp>
      <p:sp>
        <p:nvSpPr>
          <p:cNvPr id="22" name="Arrow HTTPS GET /api/room/status every 5 s (x-device-key)"/>
          <p:cNvSpPr/>
          <p:nvPr/>
        </p:nvSpPr>
        <p:spPr>
          <a:xfrm>
            <a:off x="3520440" y="2468880"/>
            <a:ext cx="4343400" cy="0"/>
          </a:xfrm>
          <a:prstGeom prst="line">
            <a:avLst/>
          </a:prstGeom>
          <a:noFill/>
          <a:ln w="19050">
            <a:solidFill>
              <a:srgbClr val="A3203A"/>
            </a:solidFill>
            <a:prstDash val="solid"/>
            <a:headEnd type="triangle"/>
          </a:ln>
        </p:spPr>
      </p:sp>
      <p:sp>
        <p:nvSpPr>
          <p:cNvPr id="23" name="Text 141"/>
          <p:cNvSpPr txBox="1"/>
          <p:nvPr/>
        </p:nvSpPr>
        <p:spPr>
          <a:xfrm>
            <a:off x="3566160" y="22219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</a:rPr>
              <a:t>HTTPS GET /api/room/status every 5 s (x-device-key)</a:t>
            </a:r>
            <a:endParaRPr lang="en-US" sz="950" dirty="0"/>
          </a:p>
        </p:txBody>
      </p:sp>
      <p:sp>
        <p:nvSpPr>
          <p:cNvPr id="24" name="Arrow booking, lock state, display text, pending commands"/>
          <p:cNvSpPr/>
          <p:nvPr/>
        </p:nvSpPr>
        <p:spPr>
          <a:xfrm>
            <a:off x="3520440" y="2880360"/>
            <a:ext cx="4343400" cy="0"/>
          </a:xfrm>
          <a:prstGeom prst="line">
            <a:avLst/>
          </a:prstGeom>
          <a:noFill/>
          <a:ln w="19050">
            <a:solidFill>
              <a:srgbClr val="8B93A7"/>
            </a:solidFill>
            <a:prstDash val="dash"/>
            <a:tailEnd type="triangle"/>
          </a:ln>
        </p:spPr>
      </p:sp>
      <p:sp>
        <p:nvSpPr>
          <p:cNvPr id="25" name="Text 142"/>
          <p:cNvSpPr txBox="1"/>
          <p:nvPr/>
        </p:nvSpPr>
        <p:spPr>
          <a:xfrm>
            <a:off x="3566160" y="263347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270"/>
                </a:solidFill>
              </a:rPr>
              <a:t>booking, lock state, display text, pending commands</a:t>
            </a:r>
            <a:endParaRPr lang="en-US" sz="950" dirty="0"/>
          </a:p>
        </p:txBody>
      </p:sp>
      <p:sp>
        <p:nvSpPr>
          <p:cNvPr id="26" name="Arrow POST /api/room/event: door, presence, lights, AC"/>
          <p:cNvSpPr/>
          <p:nvPr/>
        </p:nvSpPr>
        <p:spPr>
          <a:xfrm>
            <a:off x="3520440" y="3291840"/>
            <a:ext cx="4343400" cy="0"/>
          </a:xfrm>
          <a:prstGeom prst="line">
            <a:avLst/>
          </a:prstGeom>
          <a:noFill/>
          <a:ln w="19050">
            <a:solidFill>
              <a:srgbClr val="A3203A"/>
            </a:solidFill>
            <a:prstDash val="solid"/>
            <a:headEnd type="triangle"/>
          </a:ln>
        </p:spPr>
      </p:sp>
      <p:sp>
        <p:nvSpPr>
          <p:cNvPr id="27" name="Text 143"/>
          <p:cNvSpPr txBox="1"/>
          <p:nvPr/>
        </p:nvSpPr>
        <p:spPr>
          <a:xfrm>
            <a:off x="3566160" y="30449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</a:rPr>
              <a:t>POST /api/room/event: door, presence, lights, AC</a:t>
            </a:r>
            <a:endParaRPr lang="en-US" sz="950" dirty="0"/>
          </a:p>
        </p:txBody>
      </p:sp>
      <p:sp>
        <p:nvSpPr>
          <p:cNvPr id="28" name="Arrow Remote command"/>
          <p:cNvSpPr/>
          <p:nvPr/>
        </p:nvSpPr>
        <p:spPr>
          <a:xfrm>
            <a:off x="1143000" y="3703320"/>
            <a:ext cx="2377440" cy="0"/>
          </a:xfrm>
          <a:prstGeom prst="line">
            <a:avLst/>
          </a:prstGeom>
          <a:noFill/>
          <a:ln w="19050">
            <a:solidFill>
              <a:srgbClr val="A3203A"/>
            </a:solidFill>
            <a:prstDash val="solid"/>
            <a:tailEnd type="triangle"/>
          </a:ln>
        </p:spPr>
      </p:sp>
      <p:sp>
        <p:nvSpPr>
          <p:cNvPr id="29" name="Text 144"/>
          <p:cNvSpPr txBox="1"/>
          <p:nvPr/>
        </p:nvSpPr>
        <p:spPr>
          <a:xfrm>
            <a:off x="1188720" y="3456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</a:rPr>
              <a:t>Remote command</a:t>
            </a:r>
            <a:endParaRPr lang="en-US" sz="950" dirty="0"/>
          </a:p>
        </p:txBody>
      </p:sp>
      <p:sp>
        <p:nvSpPr>
          <p:cNvPr id="30" name="Arrow publish, HMAC-signed"/>
          <p:cNvSpPr/>
          <p:nvPr/>
        </p:nvSpPr>
        <p:spPr>
          <a:xfrm>
            <a:off x="3520440" y="4114800"/>
            <a:ext cx="2148840" cy="0"/>
          </a:xfrm>
          <a:prstGeom prst="line">
            <a:avLst/>
          </a:prstGeom>
          <a:noFill/>
          <a:ln w="19050">
            <a:solidFill>
              <a:srgbClr val="A3203A"/>
            </a:solidFill>
            <a:prstDash val="solid"/>
            <a:tailEnd type="triangle"/>
          </a:ln>
        </p:spPr>
      </p:sp>
      <p:sp>
        <p:nvSpPr>
          <p:cNvPr id="31" name="Text 145"/>
          <p:cNvSpPr txBox="1"/>
          <p:nvPr/>
        </p:nvSpPr>
        <p:spPr>
          <a:xfrm>
            <a:off x="3566160" y="38679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</a:rPr>
              <a:t>publish, HMAC-signed</a:t>
            </a:r>
            <a:endParaRPr lang="en-US" sz="950" dirty="0"/>
          </a:p>
        </p:txBody>
      </p:sp>
      <p:sp>
        <p:nvSpPr>
          <p:cNvPr id="32" name="Arrow check signature + 60 s expiry"/>
          <p:cNvSpPr/>
          <p:nvPr/>
        </p:nvSpPr>
        <p:spPr>
          <a:xfrm>
            <a:off x="5669280" y="4526280"/>
            <a:ext cx="2194560" cy="0"/>
          </a:xfrm>
          <a:prstGeom prst="line">
            <a:avLst/>
          </a:prstGeom>
          <a:noFill/>
          <a:ln w="19050">
            <a:solidFill>
              <a:srgbClr val="A3203A"/>
            </a:solidFill>
            <a:prstDash val="solid"/>
            <a:tailEnd type="triangle"/>
          </a:ln>
        </p:spPr>
      </p:sp>
      <p:sp>
        <p:nvSpPr>
          <p:cNvPr id="33" name="Text 146"/>
          <p:cNvSpPr txBox="1"/>
          <p:nvPr/>
        </p:nvSpPr>
        <p:spPr>
          <a:xfrm>
            <a:off x="5715000" y="42793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</a:rPr>
              <a:t>check signature + 60 s expiry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3A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Reserve">
  <a:themeElements>
    <a:clrScheme name="Campus Reserve">
      <a:dk1>
        <a:srgbClr val="1F2430"/>
      </a:dk1>
      <a:lt1>
        <a:srgbClr val="FFFFFF"/>
      </a:lt1>
      <a:dk2>
        <a:srgbClr val="8E1B2E"/>
      </a:dk2>
      <a:lt2>
        <a:srgbClr val="F6F4F2"/>
      </a:lt2>
      <a:accent1>
        <a:srgbClr val="A3203A"/>
      </a:accent1>
      <a:accent2>
        <a:srgbClr val="2E3A59"/>
      </a:accent2>
      <a:accent3>
        <a:srgbClr val="D9A441"/>
      </a:accent3>
      <a:accent4>
        <a:srgbClr val="2F8F6B"/>
      </a:accent4>
      <a:accent5>
        <a:srgbClr val="6B7280"/>
      </a:accent5>
      <a:accent6>
        <a:srgbClr val="E8D9DC"/>
      </a:accent6>
      <a:hlink>
        <a:srgbClr val="A3203A"/>
      </a:hlink>
      <a:folHlink>
        <a:srgbClr val="6B7280"/>
      </a:folHlink>
    </a:clrScheme>
    <a:fontScheme name="Campus Reser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a smart room - admin guide</dc:title>
  <dc:subject>PptxGenJS Presentation</dc:subject>
  <dc:creator>Amaan Rashid</dc:creator>
  <cp:lastModifiedBy>Amaan Rashid</cp:lastModifiedBy>
  <cp:revision>1</cp:revision>
  <dcterms:created xsi:type="dcterms:W3CDTF">2026-10-22T09:28:27Z</dcterms:created>
  <dcterms:modified xsi:type="dcterms:W3CDTF">2026-10-22T09:28:27Z</dcterms:modified>
</cp:coreProperties>
</file>